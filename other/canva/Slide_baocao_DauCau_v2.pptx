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Canva Sans Bold" charset="1" panose="020B0803030501040103"/>
      <p:regular r:id="rId19"/>
    </p:embeddedFont>
    <p:embeddedFont>
      <p:font typeface="Canva Sans" charset="1" panose="020B0503030501040103"/>
      <p:regular r:id="rId20"/>
    </p:embeddedFont>
    <p:embeddedFont>
      <p:font typeface="Times New Roman" charset="1" panose="02020603050405020304"/>
      <p:regular r:id="rId21"/>
    </p:embeddedFont>
    <p:embeddedFont>
      <p:font typeface="Open Sans Bold" charset="1" panose="00000000000000000000"/>
      <p:regular r:id="rId22"/>
    </p:embeddedFont>
    <p:embeddedFont>
      <p:font typeface="Open Sans" charset="1" panose="00000000000000000000"/>
      <p:regular r:id="rId23"/>
    </p:embeddedFont>
    <p:embeddedFont>
      <p:font typeface="Open Sans Bold Italics"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font" Target="fonts/font19.fntdata"/><Relationship Id="rId20" Type="http://schemas.openxmlformats.org/officeDocument/2006/relationships/font" Target="fonts/font20.fntdata"/><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hyperlink" Target="https://github.com/hienpro0123/predict_customer_churn"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2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2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3.jpe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id="3" name="TextBox 2"/>
          <p:cNvSpPr txBox="1"/>
          <p:nvPr/>
        </p:nvSpPr>
        <p:spPr>
          <a:xfrm>
            <a:off x="1371600" y="1600200"/>
            <a:ext cx="13979347" cy="457200"/>
          </a:xfrm>
          <a:prstGeom prst="rect">
            <a:avLst/>
          </a:prstGeom>
          <a:noFill/>
        </p:spPr>
        <p:txBody>
          <a:bodyPr wrap="none">
            <a:spAutoFit/>
          </a:bodyPr>
          <a:lstStyle/>
          <a:p>
            <a:pPr algn="ctr"/>
            <a:r>
              <a:rPr sz="1700" b="1" i="0">
                <a:solidFill>
                  <a:srgbClr val="0F4C81"/>
                </a:solidFill>
                <a:latin typeface="Canva Sans Bold"/>
              </a:rPr>
              <a:t>TIỂU LUẬN HỌC PHẦN: TIẾNG VIỆT THỰC HÀNH</a:t>
            </a:r>
          </a:p>
        </p:txBody>
      </p:sp>
      <p:sp>
        <p:nvSpPr>
          <p:cNvPr id="4" name="TextBox 3"/>
          <p:cNvSpPr txBox="1"/>
          <p:nvPr/>
        </p:nvSpPr>
        <p:spPr>
          <a:xfrm>
            <a:off x="1097280" y="2148840"/>
            <a:ext cx="14527987" cy="1645920"/>
          </a:xfrm>
          <a:prstGeom prst="rect">
            <a:avLst/>
          </a:prstGeom>
          <a:noFill/>
        </p:spPr>
        <p:txBody>
          <a:bodyPr wrap="none">
            <a:spAutoFit/>
          </a:bodyPr>
          <a:lstStyle/>
          <a:p>
            <a:pPr algn="ctr"/>
            <a:r>
              <a:rPr sz="4000" b="1" i="0">
                <a:solidFill>
                  <a:srgbClr val="1E3A8A"/>
                </a:solidFill>
                <a:latin typeface="Canva Sans Bold"/>
              </a:rPr>
              <a:t>TÌM HIỂU VỀ HỆ THỐNG DẤU CÂU
TRONG TIẾNG VIỆT</a:t>
            </a:r>
          </a:p>
        </p:txBody>
      </p:sp>
      <p:sp>
        <p:nvSpPr>
          <p:cNvPr id="5" name="Rounded Rectangle 4"/>
          <p:cNvSpPr/>
          <p:nvPr/>
        </p:nvSpPr>
        <p:spPr>
          <a:xfrm>
            <a:off x="2011680" y="3977639"/>
            <a:ext cx="12699187" cy="3611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bIns="320040"/>
          <a:lstStyle/>
          <a:p>
            <a:pPr algn="ctr"/>
            <a:r>
              <a:rPr sz="1900" b="1" i="0">
                <a:solidFill>
                  <a:srgbClr val="0F4C81"/>
                </a:solidFill>
                <a:latin typeface="Canva Sans Bold"/>
              </a:rPr>
              <a:t>ĐỀ TÀI: TÌM HIỂU VAI TRÒ, TÁC DỤNG, VỊ TRÍ VÀ VÍ DỤ CỦA CÁC DẤU CÂU THÔNG DỤNG</a:t>
            </a:r>
          </a:p>
          <a:p>
            <a:pPr algn="ctr">
              <a:spcBef>
                <a:spcPts val="800"/>
              </a:spcBef>
            </a:pPr>
            <a:r>
              <a:rPr sz="1700" b="1" i="0">
                <a:solidFill>
                  <a:srgbClr val="1E3A8A"/>
                </a:solidFill>
                <a:latin typeface="Canva Sans Bold"/>
              </a:rPr>
              <a:t>Lớp: DHCNTP21A — Nhóm thực hiện: Nhóm 5</a:t>
            </a:r>
          </a:p>
          <a:p>
            <a:pPr algn="ctr">
              <a:spcBef>
                <a:spcPts val="1200"/>
              </a:spcBef>
            </a:pPr>
            <a:r>
              <a:rPr sz="1600" b="0" i="0">
                <a:solidFill>
                  <a:srgbClr val="1E293B"/>
                </a:solidFill>
                <a:latin typeface="Canva Sans"/>
              </a:rPr>
              <a:t>Nội dung tìm hiểu gồm 5 dấu câu cơ bản:
• Phần 1: Dấu Phẩy (,) — Dấu Chấm (.) — Dấu Hỏi (?)
• Phần 2: Dấu Chấm Than (!) — Dấu Hai Chấm (:)</a:t>
            </a:r>
          </a:p>
          <a:p>
            <a:pPr algn="ctr">
              <a:spcBef>
                <a:spcPts val="1200"/>
              </a:spcBef>
            </a:pPr>
            <a:r>
              <a:rPr sz="1500" b="0" i="1">
                <a:solidFill>
                  <a:srgbClr val="64748B"/>
                </a:solidFill>
                <a:latin typeface="Canva Sans Italic"/>
              </a:rPr>
              <a:t>Giảng viên hướng dẫn: Bộ môn Tiếng Việt thực hành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id="3" name="TextBox 2"/>
          <p:cNvSpPr txBox="1"/>
          <p:nvPr/>
        </p:nvSpPr>
        <p:spPr>
          <a:xfrm>
            <a:off x="1188720" y="1691640"/>
            <a:ext cx="13990320" cy="731520"/>
          </a:xfrm>
          <a:prstGeom prst="rect">
            <a:avLst/>
          </a:prstGeom>
          <a:noFill/>
        </p:spPr>
        <p:txBody>
          <a:bodyPr wrap="none">
            <a:spAutoFit/>
          </a:bodyPr>
          <a:lstStyle/>
          <a:p>
            <a:pPr algn="l"/>
            <a:r>
              <a:rPr sz="2600" b="1" i="0">
                <a:solidFill>
                  <a:srgbClr val="1E3A8A"/>
                </a:solidFill>
                <a:latin typeface="Canva Sans Bold"/>
              </a:rPr>
              <a:t>Danh sách thành viên Nhóm 5 — Lớp: DHCNTP21A</a:t>
            </a:r>
          </a:p>
        </p:txBody>
      </p:sp>
      <p:graphicFrame>
        <p:nvGraphicFramePr>
          <p:cNvPr id="4" name="Table 3"/>
          <p:cNvGraphicFramePr>
            <a:graphicFrameLocks noGrp="1"/>
          </p:cNvGraphicFramePr>
          <p:nvPr/>
        </p:nvGraphicFramePr>
        <p:xfrm>
          <a:off x="1188720" y="2560320"/>
          <a:ext cx="13990320" cy="5257800"/>
        </p:xfrm>
        <a:graphic>
          <a:graphicData uri="http://schemas.openxmlformats.org/drawingml/2006/table">
            <a:tbl>
              <a:tblPr firstRow="1" bandRow="1">
                <a:tableStyleId>{5C22544A-7EE6-4342-B048-85BDC9FD1C3A}</a:tableStyleId>
              </a:tblPr>
              <a:tblGrid>
                <a:gridCol w="1097280"/>
                <a:gridCol w="4389120"/>
                <a:gridCol w="3017520"/>
                <a:gridCol w="5486400"/>
              </a:tblGrid>
              <a:tr h="584200">
                <a:tc>
                  <a:txBody>
                    <a:bodyPr/>
                    <a:lstStyle/>
                    <a:p>
                      <a:pPr algn="ctr"/>
                      <a:r>
                        <a:rPr sz="1800" b="1" i="0">
                          <a:solidFill>
                            <a:srgbClr val="FFFFFF"/>
                          </a:solidFill>
                          <a:latin typeface="Canva Sans Bold"/>
                        </a:rPr>
                        <a:t>STT</a:t>
                      </a:r>
                    </a:p>
                  </a:txBody>
                  <a:tcPr anchor="ctr">
                    <a:solidFill>
                      <a:srgbClr val="1E3A8A"/>
                    </a:solidFill>
                  </a:tcPr>
                </a:tc>
                <a:tc>
                  <a:txBody>
                    <a:bodyPr/>
                    <a:lstStyle/>
                    <a:p>
                      <a:pPr algn="ctr"/>
                      <a:r>
                        <a:rPr sz="1800" b="1" i="0">
                          <a:solidFill>
                            <a:srgbClr val="FFFFFF"/>
                          </a:solidFill>
                          <a:latin typeface="Canva Sans Bold"/>
                        </a:rPr>
                        <a:t>Họ và tên</a:t>
                      </a:r>
                    </a:p>
                  </a:txBody>
                  <a:tcPr anchor="ctr">
                    <a:solidFill>
                      <a:srgbClr val="1E3A8A"/>
                    </a:solidFill>
                  </a:tcPr>
                </a:tc>
                <a:tc>
                  <a:txBody>
                    <a:bodyPr/>
                    <a:lstStyle/>
                    <a:p>
                      <a:pPr algn="ctr"/>
                      <a:r>
                        <a:rPr sz="1800" b="1" i="0">
                          <a:solidFill>
                            <a:srgbClr val="FFFFFF"/>
                          </a:solidFill>
                          <a:latin typeface="Canva Sans Bold"/>
                        </a:rPr>
                        <a:t>MSSV</a:t>
                      </a:r>
                    </a:p>
                  </a:txBody>
                  <a:tcPr anchor="ctr">
                    <a:solidFill>
                      <a:srgbClr val="1E3A8A"/>
                    </a:solidFill>
                  </a:tcPr>
                </a:tc>
                <a:tc>
                  <a:txBody>
                    <a:bodyPr/>
                    <a:lstStyle/>
                    <a:p>
                      <a:pPr algn="ctr"/>
                      <a:r>
                        <a:rPr sz="1800" b="1" i="0">
                          <a:solidFill>
                            <a:srgbClr val="FFFFFF"/>
                          </a:solidFill>
                          <a:latin typeface="Canva Sans Bold"/>
                        </a:rPr>
                        <a:t>Nhiệm vụ phân công trong bài</a:t>
                      </a:r>
                    </a:p>
                  </a:txBody>
                  <a:tcPr anchor="ctr">
                    <a:solidFill>
                      <a:srgbClr val="1E3A8A"/>
                    </a:solidFill>
                  </a:tcPr>
                </a:tc>
              </a:tr>
              <a:tr h="584200">
                <a:tc>
                  <a:txBody>
                    <a:bodyPr/>
                    <a:lstStyle/>
                    <a:p>
                      <a:pPr algn="ctr"/>
                      <a:r>
                        <a:rPr sz="1600" b="0" i="0">
                          <a:solidFill>
                            <a:srgbClr val="1E293B"/>
                          </a:solidFill>
                          <a:latin typeface="Canva Sans"/>
                        </a:rPr>
                        <a:t>1</a:t>
                      </a:r>
                    </a:p>
                  </a:txBody>
                  <a:tcPr anchor="ctr">
                    <a:solidFill>
                      <a:srgbClr val="FFFFFF"/>
                    </a:solidFill>
                  </a:tcPr>
                </a:tc>
                <a:tc>
                  <a:txBody>
                    <a:bodyPr/>
                    <a:lstStyle/>
                    <a:p>
                      <a:pPr algn="l"/>
                      <a:r>
                        <a:rPr sz="1600" b="1" i="0">
                          <a:solidFill>
                            <a:srgbClr val="1E293B"/>
                          </a:solidFill>
                          <a:latin typeface="Canva Sans"/>
                        </a:rPr>
                        <a:t>Trịnh Quang Hiên</a:t>
                      </a:r>
                    </a:p>
                  </a:txBody>
                  <a:tcPr anchor="ctr">
                    <a:solidFill>
                      <a:srgbClr val="FFFFFF"/>
                    </a:solidFill>
                  </a:tcPr>
                </a:tc>
                <a:tc>
                  <a:txBody>
                    <a:bodyPr/>
                    <a:lstStyle/>
                    <a:p>
                      <a:pPr algn="ctr"/>
                      <a:r>
                        <a:rPr sz="1600" b="0" i="0">
                          <a:solidFill>
                            <a:srgbClr val="1E293B"/>
                          </a:solidFill>
                          <a:latin typeface="Canva Sans"/>
                        </a:rPr>
                        <a:t>23632591</a:t>
                      </a:r>
                    </a:p>
                  </a:txBody>
                  <a:tcPr anchor="ctr">
                    <a:solidFill>
                      <a:srgbClr val="FFFFFF"/>
                    </a:solidFill>
                  </a:tcPr>
                </a:tc>
                <a:tc>
                  <a:txBody>
                    <a:bodyPr/>
                    <a:lstStyle/>
                    <a:p>
                      <a:pPr algn="l"/>
                      <a:r>
                        <a:rPr sz="1600" b="1" i="0">
                          <a:solidFill>
                            <a:srgbClr val="1E3A8A"/>
                          </a:solidFill>
                          <a:latin typeface="Canva Sans"/>
                        </a:rPr>
                        <a:t>Nhóm trưởng | Thuyết trình &amp; Duyệt nội dung toàn bài</a:t>
                      </a:r>
                    </a:p>
                  </a:txBody>
                  <a:tcPr anchor="ctr">
                    <a:solidFill>
                      <a:srgbClr val="FFFFFF"/>
                    </a:solidFill>
                  </a:tcPr>
                </a:tc>
              </a:tr>
              <a:tr h="584200">
                <a:tc>
                  <a:txBody>
                    <a:bodyPr/>
                    <a:lstStyle/>
                    <a:p>
                      <a:pPr algn="ctr"/>
                      <a:r>
                        <a:rPr sz="1600" b="0" i="0">
                          <a:solidFill>
                            <a:srgbClr val="1E293B"/>
                          </a:solidFill>
                          <a:latin typeface="Canva Sans"/>
                        </a:rPr>
                        <a:t>2</a:t>
                      </a:r>
                    </a:p>
                  </a:txBody>
                  <a:tcPr anchor="ctr">
                    <a:solidFill>
                      <a:srgbClr val="F1F5F9"/>
                    </a:solidFill>
                  </a:tcPr>
                </a:tc>
                <a:tc>
                  <a:txBody>
                    <a:bodyPr/>
                    <a:lstStyle/>
                    <a:p>
                      <a:pPr algn="l"/>
                      <a:r>
                        <a:rPr sz="1600" b="1" i="0">
                          <a:solidFill>
                            <a:srgbClr val="1E293B"/>
                          </a:solidFill>
                          <a:latin typeface="Canva Sans"/>
                        </a:rPr>
                        <a:t>Nguyễn Văn Nhật</a:t>
                      </a:r>
                    </a:p>
                  </a:txBody>
                  <a:tcPr anchor="ctr">
                    <a:solidFill>
                      <a:srgbClr val="F1F5F9"/>
                    </a:solidFill>
                  </a:tcPr>
                </a:tc>
                <a:tc>
                  <a:txBody>
                    <a:bodyPr/>
                    <a:lstStyle/>
                    <a:p>
                      <a:pPr algn="ctr"/>
                      <a:r>
                        <a:rPr sz="1600" b="0" i="0">
                          <a:solidFill>
                            <a:srgbClr val="1E293B"/>
                          </a:solidFill>
                          <a:latin typeface="Canva Sans"/>
                        </a:rPr>
                        <a:t>24725801</a:t>
                      </a:r>
                    </a:p>
                  </a:txBody>
                  <a:tcPr anchor="ctr">
                    <a:solidFill>
                      <a:srgbClr val="F1F5F9"/>
                    </a:solidFill>
                  </a:tcPr>
                </a:tc>
                <a:tc>
                  <a:txBody>
                    <a:bodyPr/>
                    <a:lstStyle/>
                    <a:p>
                      <a:pPr algn="l"/>
                      <a:r>
                        <a:rPr sz="1600" b="0" i="0">
                          <a:solidFill>
                            <a:srgbClr val="1E293B"/>
                          </a:solidFill>
                          <a:latin typeface="Canva Sans"/>
                        </a:rPr>
                        <a:t>Nội dung 2: Tìm hiểu Dấu hai chấm (:)</a:t>
                      </a:r>
                    </a:p>
                  </a:txBody>
                  <a:tcPr anchor="ctr">
                    <a:solidFill>
                      <a:srgbClr val="F1F5F9"/>
                    </a:solidFill>
                  </a:tcPr>
                </a:tc>
              </a:tr>
              <a:tr h="584200">
                <a:tc>
                  <a:txBody>
                    <a:bodyPr/>
                    <a:lstStyle/>
                    <a:p>
                      <a:pPr algn="ctr"/>
                      <a:r>
                        <a:rPr sz="1600" b="0" i="0">
                          <a:solidFill>
                            <a:srgbClr val="1E293B"/>
                          </a:solidFill>
                          <a:latin typeface="Canva Sans"/>
                        </a:rPr>
                        <a:t>3</a:t>
                      </a:r>
                    </a:p>
                  </a:txBody>
                  <a:tcPr anchor="ctr">
                    <a:solidFill>
                      <a:srgbClr val="FFFFFF"/>
                    </a:solidFill>
                  </a:tcPr>
                </a:tc>
                <a:tc>
                  <a:txBody>
                    <a:bodyPr/>
                    <a:lstStyle/>
                    <a:p>
                      <a:pPr algn="l"/>
                      <a:r>
                        <a:rPr sz="1600" b="1" i="0">
                          <a:solidFill>
                            <a:srgbClr val="1E293B"/>
                          </a:solidFill>
                          <a:latin typeface="Canva Sans"/>
                        </a:rPr>
                        <a:t>Nguyễn Văn Minh</a:t>
                      </a:r>
                    </a:p>
                  </a:txBody>
                  <a:tcPr anchor="ctr">
                    <a:solidFill>
                      <a:srgbClr val="FFFFFF"/>
                    </a:solidFill>
                  </a:tcPr>
                </a:tc>
                <a:tc>
                  <a:txBody>
                    <a:bodyPr/>
                    <a:lstStyle/>
                    <a:p>
                      <a:pPr algn="ctr"/>
                      <a:r>
                        <a:rPr sz="1600" b="0" i="0">
                          <a:solidFill>
                            <a:srgbClr val="1E293B"/>
                          </a:solidFill>
                          <a:latin typeface="Canva Sans"/>
                        </a:rPr>
                        <a:t>25688761</a:t>
                      </a:r>
                    </a:p>
                  </a:txBody>
                  <a:tcPr anchor="ctr">
                    <a:solidFill>
                      <a:srgbClr val="FFFFFF"/>
                    </a:solidFill>
                  </a:tcPr>
                </a:tc>
                <a:tc>
                  <a:txBody>
                    <a:bodyPr/>
                    <a:lstStyle/>
                    <a:p>
                      <a:pPr algn="l"/>
                      <a:r>
                        <a:rPr sz="1600" b="0" i="0">
                          <a:solidFill>
                            <a:srgbClr val="1E293B"/>
                          </a:solidFill>
                          <a:latin typeface="Canva Sans"/>
                        </a:rPr>
                        <a:t>Nội dung 1: Tìm hiểu Dấu phẩy (,)</a:t>
                      </a:r>
                    </a:p>
                  </a:txBody>
                  <a:tcPr anchor="ctr">
                    <a:solidFill>
                      <a:srgbClr val="FFFFFF"/>
                    </a:solidFill>
                  </a:tcPr>
                </a:tc>
              </a:tr>
              <a:tr h="584200">
                <a:tc>
                  <a:txBody>
                    <a:bodyPr/>
                    <a:lstStyle/>
                    <a:p>
                      <a:pPr algn="ctr"/>
                      <a:r>
                        <a:rPr sz="1600" b="0" i="0">
                          <a:solidFill>
                            <a:srgbClr val="1E293B"/>
                          </a:solidFill>
                          <a:latin typeface="Canva Sans"/>
                        </a:rPr>
                        <a:t>4</a:t>
                      </a:r>
                    </a:p>
                  </a:txBody>
                  <a:tcPr anchor="ctr">
                    <a:solidFill>
                      <a:srgbClr val="F1F5F9"/>
                    </a:solidFill>
                  </a:tcPr>
                </a:tc>
                <a:tc>
                  <a:txBody>
                    <a:bodyPr/>
                    <a:lstStyle/>
                    <a:p>
                      <a:pPr algn="l"/>
                      <a:r>
                        <a:rPr sz="1600" b="1" i="0">
                          <a:solidFill>
                            <a:srgbClr val="1E293B"/>
                          </a:solidFill>
                          <a:latin typeface="Canva Sans"/>
                        </a:rPr>
                        <a:t>Nguyễn Ngọc Lợi</a:t>
                      </a:r>
                    </a:p>
                  </a:txBody>
                  <a:tcPr anchor="ctr">
                    <a:solidFill>
                      <a:srgbClr val="F1F5F9"/>
                    </a:solidFill>
                  </a:tcPr>
                </a:tc>
                <a:tc>
                  <a:txBody>
                    <a:bodyPr/>
                    <a:lstStyle/>
                    <a:p>
                      <a:pPr algn="ctr"/>
                      <a:r>
                        <a:rPr sz="1600" b="0" i="0">
                          <a:solidFill>
                            <a:srgbClr val="1E293B"/>
                          </a:solidFill>
                          <a:latin typeface="Canva Sans"/>
                        </a:rPr>
                        <a:t>25708311</a:t>
                      </a:r>
                    </a:p>
                  </a:txBody>
                  <a:tcPr anchor="ctr">
                    <a:solidFill>
                      <a:srgbClr val="F1F5F9"/>
                    </a:solidFill>
                  </a:tcPr>
                </a:tc>
                <a:tc>
                  <a:txBody>
                    <a:bodyPr/>
                    <a:lstStyle/>
                    <a:p>
                      <a:pPr algn="l"/>
                      <a:r>
                        <a:rPr sz="1600" b="0" i="0">
                          <a:solidFill>
                            <a:srgbClr val="1E293B"/>
                          </a:solidFill>
                          <a:latin typeface="Canva Sans"/>
                        </a:rPr>
                        <a:t>Nội dung 1: Tìm hiểu Dấu chấm (.)</a:t>
                      </a:r>
                    </a:p>
                  </a:txBody>
                  <a:tcPr anchor="ctr">
                    <a:solidFill>
                      <a:srgbClr val="F1F5F9"/>
                    </a:solidFill>
                  </a:tcPr>
                </a:tc>
              </a:tr>
              <a:tr h="584200">
                <a:tc>
                  <a:txBody>
                    <a:bodyPr/>
                    <a:lstStyle/>
                    <a:p>
                      <a:pPr algn="ctr"/>
                      <a:r>
                        <a:rPr sz="1600" b="0" i="0">
                          <a:solidFill>
                            <a:srgbClr val="1E293B"/>
                          </a:solidFill>
                          <a:latin typeface="Canva Sans"/>
                        </a:rPr>
                        <a:t>5</a:t>
                      </a:r>
                    </a:p>
                  </a:txBody>
                  <a:tcPr anchor="ctr">
                    <a:solidFill>
                      <a:srgbClr val="FFFFFF"/>
                    </a:solidFill>
                  </a:tcPr>
                </a:tc>
                <a:tc>
                  <a:txBody>
                    <a:bodyPr/>
                    <a:lstStyle/>
                    <a:p>
                      <a:pPr algn="l"/>
                      <a:r>
                        <a:rPr sz="1600" b="1" i="0">
                          <a:solidFill>
                            <a:srgbClr val="1E293B"/>
                          </a:solidFill>
                          <a:latin typeface="Canva Sans"/>
                        </a:rPr>
                        <a:t>Võ Khương Duy</a:t>
                      </a:r>
                    </a:p>
                  </a:txBody>
                  <a:tcPr anchor="ctr">
                    <a:solidFill>
                      <a:srgbClr val="FFFFFF"/>
                    </a:solidFill>
                  </a:tcPr>
                </a:tc>
                <a:tc>
                  <a:txBody>
                    <a:bodyPr/>
                    <a:lstStyle/>
                    <a:p>
                      <a:pPr algn="ctr"/>
                      <a:r>
                        <a:rPr sz="1600" b="0" i="0">
                          <a:solidFill>
                            <a:srgbClr val="1E293B"/>
                          </a:solidFill>
                          <a:latin typeface="Canva Sans"/>
                        </a:rPr>
                        <a:t>23646941</a:t>
                      </a:r>
                    </a:p>
                  </a:txBody>
                  <a:tcPr anchor="ctr">
                    <a:solidFill>
                      <a:srgbClr val="FFFFFF"/>
                    </a:solidFill>
                  </a:tcPr>
                </a:tc>
                <a:tc>
                  <a:txBody>
                    <a:bodyPr/>
                    <a:lstStyle/>
                    <a:p>
                      <a:pPr algn="l"/>
                      <a:r>
                        <a:rPr sz="1600" b="0" i="0">
                          <a:solidFill>
                            <a:srgbClr val="1E293B"/>
                          </a:solidFill>
                          <a:latin typeface="Canva Sans"/>
                        </a:rPr>
                        <a:t>Làm Slide Nội dung 2 &amp; Slide kết thúc</a:t>
                      </a:r>
                    </a:p>
                  </a:txBody>
                  <a:tcPr anchor="ctr">
                    <a:solidFill>
                      <a:srgbClr val="FFFFFF"/>
                    </a:solidFill>
                  </a:tcPr>
                </a:tc>
              </a:tr>
              <a:tr h="584200">
                <a:tc>
                  <a:txBody>
                    <a:bodyPr/>
                    <a:lstStyle/>
                    <a:p>
                      <a:pPr algn="ctr"/>
                      <a:r>
                        <a:rPr sz="1600" b="0" i="0">
                          <a:solidFill>
                            <a:srgbClr val="1E293B"/>
                          </a:solidFill>
                          <a:latin typeface="Canva Sans"/>
                        </a:rPr>
                        <a:t>6</a:t>
                      </a:r>
                    </a:p>
                  </a:txBody>
                  <a:tcPr anchor="ctr">
                    <a:solidFill>
                      <a:srgbClr val="F1F5F9"/>
                    </a:solidFill>
                  </a:tcPr>
                </a:tc>
                <a:tc>
                  <a:txBody>
                    <a:bodyPr/>
                    <a:lstStyle/>
                    <a:p>
                      <a:pPr algn="l"/>
                      <a:r>
                        <a:rPr sz="1600" b="1" i="0">
                          <a:solidFill>
                            <a:srgbClr val="1E293B"/>
                          </a:solidFill>
                          <a:latin typeface="Canva Sans"/>
                        </a:rPr>
                        <a:t>Lê Đình Công</a:t>
                      </a:r>
                    </a:p>
                  </a:txBody>
                  <a:tcPr anchor="ctr">
                    <a:solidFill>
                      <a:srgbClr val="F1F5F9"/>
                    </a:solidFill>
                  </a:tcPr>
                </a:tc>
                <a:tc>
                  <a:txBody>
                    <a:bodyPr/>
                    <a:lstStyle/>
                    <a:p>
                      <a:pPr algn="ctr"/>
                      <a:r>
                        <a:rPr sz="1600" b="0" i="0">
                          <a:solidFill>
                            <a:srgbClr val="1E293B"/>
                          </a:solidFill>
                          <a:latin typeface="Canva Sans"/>
                        </a:rPr>
                        <a:t>24727921</a:t>
                      </a:r>
                    </a:p>
                  </a:txBody>
                  <a:tcPr anchor="ctr">
                    <a:solidFill>
                      <a:srgbClr val="F1F5F9"/>
                    </a:solidFill>
                  </a:tcPr>
                </a:tc>
                <a:tc>
                  <a:txBody>
                    <a:bodyPr/>
                    <a:lstStyle/>
                    <a:p>
                      <a:pPr algn="l"/>
                      <a:r>
                        <a:rPr sz="1600" b="0" i="0">
                          <a:solidFill>
                            <a:srgbClr val="1E293B"/>
                          </a:solidFill>
                          <a:latin typeface="Canva Sans"/>
                        </a:rPr>
                        <a:t>Nội dung 2: Tìm hiểu Dấu chấm than (!)</a:t>
                      </a:r>
                    </a:p>
                  </a:txBody>
                  <a:tcPr anchor="ctr">
                    <a:solidFill>
                      <a:srgbClr val="F1F5F9"/>
                    </a:solidFill>
                  </a:tcPr>
                </a:tc>
              </a:tr>
              <a:tr h="584200">
                <a:tc>
                  <a:txBody>
                    <a:bodyPr/>
                    <a:lstStyle/>
                    <a:p>
                      <a:pPr algn="ctr"/>
                      <a:r>
                        <a:rPr sz="1600" b="0" i="0">
                          <a:solidFill>
                            <a:srgbClr val="1E293B"/>
                          </a:solidFill>
                          <a:latin typeface="Canva Sans"/>
                        </a:rPr>
                        <a:t>7</a:t>
                      </a:r>
                    </a:p>
                  </a:txBody>
                  <a:tcPr anchor="ctr">
                    <a:solidFill>
                      <a:srgbClr val="FFFFFF"/>
                    </a:solidFill>
                  </a:tcPr>
                </a:tc>
                <a:tc>
                  <a:txBody>
                    <a:bodyPr/>
                    <a:lstStyle/>
                    <a:p>
                      <a:pPr algn="l"/>
                      <a:r>
                        <a:rPr sz="1600" b="1" i="0">
                          <a:solidFill>
                            <a:srgbClr val="1E3A8A"/>
                          </a:solidFill>
                          <a:latin typeface="Canva Sans"/>
                        </a:rPr>
                        <a:t>Lê Thành Long</a:t>
                      </a:r>
                    </a:p>
                  </a:txBody>
                  <a:tcPr anchor="ctr">
                    <a:solidFill>
                      <a:srgbClr val="FFFFFF"/>
                    </a:solidFill>
                  </a:tcPr>
                </a:tc>
                <a:tc>
                  <a:txBody>
                    <a:bodyPr/>
                    <a:lstStyle/>
                    <a:p>
                      <a:pPr algn="ctr"/>
                      <a:r>
                        <a:rPr sz="1600" b="0" i="0">
                          <a:solidFill>
                            <a:srgbClr val="1E293B"/>
                          </a:solidFill>
                          <a:latin typeface="Canva Sans"/>
                        </a:rPr>
                        <a:t>23630851</a:t>
                      </a:r>
                    </a:p>
                  </a:txBody>
                  <a:tcPr anchor="ctr">
                    <a:solidFill>
                      <a:srgbClr val="FFFFFF"/>
                    </a:solidFill>
                  </a:tcPr>
                </a:tc>
                <a:tc>
                  <a:txBody>
                    <a:bodyPr/>
                    <a:lstStyle/>
                    <a:p>
                      <a:pPr algn="l"/>
                      <a:r>
                        <a:rPr sz="1600" b="0" i="0">
                          <a:solidFill>
                            <a:srgbClr val="1E293B"/>
                          </a:solidFill>
                          <a:latin typeface="Canva Sans"/>
                        </a:rPr>
                        <a:t>Làm Slide Giới thiệu, Thành viên &amp; Nội dung 1</a:t>
                      </a:r>
                    </a:p>
                  </a:txBody>
                  <a:tcPr anchor="ctr">
                    <a:solidFill>
                      <a:srgbClr val="FFFFFF"/>
                    </a:solidFill>
                  </a:tcPr>
                </a:tc>
              </a:tr>
              <a:tr h="584200">
                <a:tc>
                  <a:txBody>
                    <a:bodyPr/>
                    <a:lstStyle/>
                    <a:p>
                      <a:pPr algn="ctr"/>
                      <a:r>
                        <a:rPr sz="1600" b="0" i="0">
                          <a:solidFill>
                            <a:srgbClr val="1E293B"/>
                          </a:solidFill>
                          <a:latin typeface="Canva Sans"/>
                        </a:rPr>
                        <a:t>8</a:t>
                      </a:r>
                    </a:p>
                  </a:txBody>
                  <a:tcPr anchor="ctr">
                    <a:solidFill>
                      <a:srgbClr val="F1F5F9"/>
                    </a:solidFill>
                  </a:tcPr>
                </a:tc>
                <a:tc>
                  <a:txBody>
                    <a:bodyPr/>
                    <a:lstStyle/>
                    <a:p>
                      <a:pPr algn="l"/>
                      <a:r>
                        <a:rPr sz="1600" b="1" i="0">
                          <a:solidFill>
                            <a:srgbClr val="1E293B"/>
                          </a:solidFill>
                          <a:latin typeface="Canva Sans"/>
                        </a:rPr>
                        <a:t>Trương Bảo Huy</a:t>
                      </a:r>
                    </a:p>
                  </a:txBody>
                  <a:tcPr anchor="ctr">
                    <a:solidFill>
                      <a:srgbClr val="F1F5F9"/>
                    </a:solidFill>
                  </a:tcPr>
                </a:tc>
                <a:tc>
                  <a:txBody>
                    <a:bodyPr/>
                    <a:lstStyle/>
                    <a:p>
                      <a:pPr algn="ctr"/>
                      <a:r>
                        <a:rPr sz="1600" b="0" i="0">
                          <a:solidFill>
                            <a:srgbClr val="1E293B"/>
                          </a:solidFill>
                          <a:latin typeface="Canva Sans"/>
                        </a:rPr>
                        <a:t>25639981</a:t>
                      </a:r>
                    </a:p>
                  </a:txBody>
                  <a:tcPr anchor="ctr">
                    <a:solidFill>
                      <a:srgbClr val="F1F5F9"/>
                    </a:solidFill>
                  </a:tcPr>
                </a:tc>
                <a:tc>
                  <a:txBody>
                    <a:bodyPr/>
                    <a:lstStyle/>
                    <a:p>
                      <a:pPr algn="l"/>
                      <a:r>
                        <a:rPr sz="1600" b="0" i="0">
                          <a:solidFill>
                            <a:srgbClr val="1E293B"/>
                          </a:solidFill>
                          <a:latin typeface="Canva Sans"/>
                        </a:rPr>
                        <a:t>Nội dung 1: Tìm hiểu Dấu hỏi (?)</a:t>
                      </a:r>
                    </a:p>
                  </a:txBody>
                  <a:tcPr anchor="ctr">
                    <a:solidFill>
                      <a:srgbClr val="F1F5F9"/>
                    </a:solidFill>
                  </a:tcPr>
                </a:tc>
              </a:tr>
            </a:tbl>
          </a:graphicData>
        </a:graphic>
      </p:graphicFrame>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id="3" name="TextBox 2"/>
          <p:cNvSpPr txBox="1"/>
          <p:nvPr/>
        </p:nvSpPr>
        <p:spPr>
          <a:xfrm>
            <a:off x="1188720" y="1691640"/>
            <a:ext cx="13990320" cy="731520"/>
          </a:xfrm>
          <a:prstGeom prst="rect">
            <a:avLst/>
          </a:prstGeom>
          <a:noFill/>
        </p:spPr>
        <p:txBody>
          <a:bodyPr wrap="none">
            <a:spAutoFit/>
          </a:bodyPr>
          <a:lstStyle/>
          <a:p>
            <a:pPr algn="l"/>
            <a:r>
              <a:rPr sz="2600" b="1" i="0">
                <a:solidFill>
                  <a:srgbClr val="1E3A8A"/>
                </a:solidFill>
                <a:latin typeface="Canva Sans Bold"/>
              </a:rPr>
              <a:t>Giới thiệu bài thuyết trình</a:t>
            </a:r>
          </a:p>
        </p:txBody>
      </p:sp>
      <p:sp>
        <p:nvSpPr>
          <p:cNvPr id="4" name="Rounded Rectangle 3"/>
          <p:cNvSpPr/>
          <p:nvPr/>
        </p:nvSpPr>
        <p:spPr>
          <a:xfrm>
            <a:off x="1188720" y="2560320"/>
            <a:ext cx="13990320" cy="5257800"/>
          </a:xfrm>
          <a:prstGeom prst="roundRect">
            <a:avLst/>
          </a:prstGeom>
          <a:solidFill>
            <a:srgbClr val="FFFFFF"/>
          </a:solidFill>
          <a:ln w="1905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bIns="320040"/>
          <a:lstStyle/>
          <a:p>
            <a:pPr algn="l">
              <a:spcAft>
                <a:spcPts val="1000"/>
              </a:spcAft>
            </a:pPr>
            <a:r>
              <a:rPr sz="2100" b="1" i="0">
                <a:solidFill>
                  <a:srgbClr val="1E3A8A"/>
                </a:solidFill>
                <a:latin typeface="Canva Sans Bold"/>
              </a:rPr>
              <a:t>Tổng quan 5 dấu câu được trình bày trong bài</a:t>
            </a:r>
          </a:p>
          <a:p>
            <a:pPr algn="l">
              <a:spcBef>
                <a:spcPts val="600"/>
              </a:spcBef>
              <a:spcAft>
                <a:spcPts val="300"/>
              </a:spcAft>
            </a:pPr>
            <a:r>
              <a:rPr sz="1800" b="0" i="0">
                <a:solidFill>
                  <a:srgbClr val="1E293B"/>
                </a:solidFill>
                <a:latin typeface="Canva Sans"/>
              </a:rPr>
              <a:t>Toàn bộ đề tài của nhóm tìm hiểu trọn vẹn 5 dấu câu thường gặp nhất trong tiếng Việt, chia làm 2 phần:</a:t>
            </a:r>
          </a:p>
          <a:p>
            <a:pPr algn="l">
              <a:spcBef>
                <a:spcPts val="600"/>
              </a:spcBef>
              <a:spcAft>
                <a:spcPts val="300"/>
              </a:spcAft>
            </a:pPr>
            <a:r>
              <a:rPr sz="1800" b="1" i="0">
                <a:solidFill>
                  <a:srgbClr val="0F4C81"/>
                </a:solidFill>
                <a:latin typeface="Canva Sans Bold"/>
              </a:rPr>
              <a:t>• </a:t>
            </a:r>
            <a:r>
              <a:rPr sz="1800" b="1" i="0">
                <a:solidFill>
                  <a:srgbClr val="1E3A8A"/>
                </a:solidFill>
                <a:latin typeface="Canva Sans Bold"/>
              </a:rPr>
              <a:t>PHẦN 1:</a:t>
            </a:r>
            <a:r>
              <a:rPr sz="1800" b="0" i="0">
                <a:solidFill>
                  <a:srgbClr val="1E293B"/>
                </a:solidFill>
                <a:latin typeface="Canva Sans"/>
              </a:rPr>
              <a:t> TÌM HIỂU 3 DẤU CÂU CƠ BẢN (Nội dung trình bày hôm nay):</a:t>
            </a:r>
          </a:p>
          <a:p>
            <a:pPr algn="l">
              <a:spcBef>
                <a:spcPts val="200"/>
              </a:spcBef>
              <a:spcAft>
                <a:spcPts val="300"/>
              </a:spcAft>
            </a:pPr>
            <a:r>
              <a:rPr sz="1800" b="0" i="0">
                <a:solidFill>
                  <a:srgbClr val="1E293B"/>
                </a:solidFill>
                <a:latin typeface="Canva Sans"/>
              </a:rPr>
              <a:t>    - I. Dấu phẩy (,): Vị trí trong câu — Quy tắc viết chuẩn — Công dụng — 8 Ví dụ thực tế.</a:t>
            </a:r>
          </a:p>
          <a:p>
            <a:pPr algn="l">
              <a:spcBef>
                <a:spcPts val="200"/>
              </a:spcBef>
              <a:spcAft>
                <a:spcPts val="300"/>
              </a:spcAft>
            </a:pPr>
            <a:r>
              <a:rPr sz="1800" b="0" i="0">
                <a:solidFill>
                  <a:srgbClr val="1E293B"/>
                </a:solidFill>
                <a:latin typeface="Canva Sans"/>
              </a:rPr>
              <a:t>    - II. Dấu chấm (.): Vị trí cuối câu kể — Quy ước viết hoa, viết tắt, số tiền — 8 Ví dụ thực tế.</a:t>
            </a:r>
          </a:p>
          <a:p>
            <a:pPr algn="l">
              <a:spcBef>
                <a:spcPts val="200"/>
              </a:spcBef>
              <a:spcAft>
                <a:spcPts val="300"/>
              </a:spcAft>
            </a:pPr>
            <a:r>
              <a:rPr sz="1800" b="0" i="0">
                <a:solidFill>
                  <a:srgbClr val="1E293B"/>
                </a:solidFill>
                <a:latin typeface="Canva Sans"/>
              </a:rPr>
              <a:t>    - III. Dấu hỏi (?): Vị trí nghi vấn — Quy tắc viết — Ngữ điệu &amp; câu hỏi tu từ — 8 Ví dụ thực tế.</a:t>
            </a:r>
          </a:p>
          <a:p>
            <a:pPr algn="l">
              <a:spcBef>
                <a:spcPts val="600"/>
              </a:spcBef>
              <a:spcAft>
                <a:spcPts val="300"/>
              </a:spcAft>
            </a:pPr>
            <a:r>
              <a:rPr sz="1800" b="1" i="0">
                <a:solidFill>
                  <a:srgbClr val="0F4C81"/>
                </a:solidFill>
                <a:latin typeface="Canva Sans Bold"/>
              </a:rPr>
              <a:t>• </a:t>
            </a:r>
            <a:r>
              <a:rPr sz="1800" b="1" i="0">
                <a:solidFill>
                  <a:srgbClr val="1E3A8A"/>
                </a:solidFill>
                <a:latin typeface="Canva Sans Bold"/>
              </a:rPr>
              <a:t>PHẦN 2:</a:t>
            </a:r>
            <a:r>
              <a:rPr sz="1800" b="0" i="0">
                <a:solidFill>
                  <a:srgbClr val="1E293B"/>
                </a:solidFill>
                <a:latin typeface="Canva Sans"/>
              </a:rPr>
              <a:t> TÌM HIỂU 2 DẤU CÂU TIẾP THEO (Phần tiếp nối của nhóm):</a:t>
            </a:r>
          </a:p>
          <a:p>
            <a:pPr algn="l">
              <a:spcBef>
                <a:spcPts val="200"/>
              </a:spcBef>
              <a:spcAft>
                <a:spcPts val="300"/>
              </a:spcAft>
            </a:pPr>
            <a:r>
              <a:rPr sz="1800" b="0" i="0">
                <a:solidFill>
                  <a:srgbClr val="1E293B"/>
                </a:solidFill>
                <a:latin typeface="Canva Sans"/>
              </a:rPr>
              <a:t>    - IV. Dấu chấm than (!): Bộc lộ cảm xúc mãnh liệt, câu cầu khiến, ra lệnh hoặc lời hô gọi.</a:t>
            </a:r>
          </a:p>
          <a:p>
            <a:pPr algn="l">
              <a:spcBef>
                <a:spcPts val="200"/>
              </a:spcBef>
              <a:spcAft>
                <a:spcPts val="300"/>
              </a:spcAft>
            </a:pPr>
            <a:r>
              <a:rPr sz="1800" b="0" i="0">
                <a:solidFill>
                  <a:srgbClr val="1E293B"/>
                </a:solidFill>
                <a:latin typeface="Canva Sans"/>
              </a:rPr>
              <a:t>    - V. Dấu hai chấm (:): Báo hiệu phần giải thích, thuyết minh, dẫn lời thoại trực tiếp hoặc liệt kê.</a:t>
            </a:r>
          </a:p>
          <a:p>
            <a:pPr algn="l">
              <a:spcBef>
                <a:spcPts val="600"/>
              </a:spcBef>
              <a:spcAft>
                <a:spcPts val="300"/>
              </a:spcAft>
            </a:pPr>
            <a:r>
              <a:rPr sz="1800" b="1" i="0">
                <a:solidFill>
                  <a:srgbClr val="0F4C81"/>
                </a:solidFill>
                <a:latin typeface="Canva Sans Bold"/>
              </a:rPr>
              <a:t>• </a:t>
            </a:r>
            <a:r>
              <a:rPr sz="1800" b="1" i="0">
                <a:solidFill>
                  <a:srgbClr val="1E3A8A"/>
                </a:solidFill>
                <a:latin typeface="Canva Sans Bold"/>
              </a:rPr>
              <a:t>Mỗi dấu câu đều được phân tích rõ:</a:t>
            </a:r>
            <a:r>
              <a:rPr sz="1800" b="0" i="0">
                <a:solidFill>
                  <a:srgbClr val="1E293B"/>
                </a:solidFill>
                <a:latin typeface="Canva Sans"/>
              </a:rPr>
              <a:t> Vị trí đặt dấu — Quy tắc viết — Công dụng thực tế — 8 Ví dụ minh họa sinh động.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id="3" name="TextBox 2"/>
          <p:cNvSpPr txBox="1"/>
          <p:nvPr/>
        </p:nvSpPr>
        <p:spPr>
          <a:xfrm>
            <a:off x="1188720" y="1691640"/>
            <a:ext cx="13990320" cy="731520"/>
          </a:xfrm>
          <a:prstGeom prst="rect">
            <a:avLst/>
          </a:prstGeom>
          <a:noFill/>
        </p:spPr>
        <p:txBody>
          <a:bodyPr wrap="none">
            <a:spAutoFit/>
          </a:bodyPr>
          <a:lstStyle/>
          <a:p>
            <a:pPr algn="l"/>
            <a:r>
              <a:rPr sz="2600" b="1" i="0">
                <a:solidFill>
                  <a:srgbClr val="1E3A8A"/>
                </a:solidFill>
                <a:latin typeface="Canva Sans Bold"/>
              </a:rPr>
              <a:t>I. Dấu phẩy: Vị trí xuất hiện trong câu</a:t>
            </a:r>
          </a:p>
        </p:txBody>
      </p:sp>
      <p:sp>
        <p:nvSpPr>
          <p:cNvPr id="4" name="Rounded Rectangle 3"/>
          <p:cNvSpPr/>
          <p:nvPr/>
        </p:nvSpPr>
        <p:spPr>
          <a:xfrm>
            <a:off x="1188720" y="2560320"/>
            <a:ext cx="8778240" cy="5257800"/>
          </a:xfrm>
          <a:prstGeom prst="roundRect">
            <a:avLst/>
          </a:prstGeom>
          <a:solidFill>
            <a:srgbClr val="FFFFFF"/>
          </a:solidFill>
          <a:ln w="1905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bIns="320040"/>
          <a:lstStyle/>
          <a:p>
            <a:pPr algn="l">
              <a:spcAft>
                <a:spcPts val="1000"/>
              </a:spcAft>
            </a:pPr>
            <a:r>
              <a:rPr sz="2100" b="1" i="0">
                <a:solidFill>
                  <a:srgbClr val="1E3A8A"/>
                </a:solidFill>
                <a:latin typeface="Canva Sans Bold"/>
              </a:rPr>
              <a:t>Các vị trí thường gặp của Dấu Phẩy</a:t>
            </a:r>
          </a:p>
          <a:p>
            <a:pPr algn="l">
              <a:spcBef>
                <a:spcPts val="600"/>
              </a:spcBef>
              <a:spcAft>
                <a:spcPts val="300"/>
              </a:spcAft>
            </a:pPr>
            <a:r>
              <a:rPr sz="1800" b="1" i="0">
                <a:solidFill>
                  <a:srgbClr val="0F4C81"/>
                </a:solidFill>
                <a:latin typeface="Canva Sans Bold"/>
              </a:rPr>
              <a:t>• </a:t>
            </a:r>
            <a:r>
              <a:rPr sz="1800" b="1" i="0">
                <a:solidFill>
                  <a:srgbClr val="1E3A8A"/>
                </a:solidFill>
                <a:latin typeface="Canva Sans Bold"/>
              </a:rPr>
              <a:t>Đặt ngay sau từ hoặc cụm từ cần ngắt nhịp:</a:t>
            </a:r>
            <a:r>
              <a:rPr sz="1800" b="0" i="0">
                <a:solidFill>
                  <a:srgbClr val="1E293B"/>
                </a:solidFill>
                <a:latin typeface="Canva Sans"/>
              </a:rPr>
              <a:t/>
            </a:r>
          </a:p>
          <a:p>
            <a:pPr algn="l">
              <a:spcBef>
                <a:spcPts val="600"/>
              </a:spcBef>
              <a:spcAft>
                <a:spcPts val="300"/>
              </a:spcAft>
            </a:pPr>
            <a:r>
              <a:rPr sz="1800" b="0" i="0">
                <a:solidFill>
                  <a:srgbClr val="1E293B"/>
                </a:solidFill>
                <a:latin typeface="Canva Sans"/>
              </a:rPr>
              <a:t>Dấu phẩy luôn bám sát từ ngữ cần tạo quãng nghỉ trong câu.</a:t>
            </a:r>
          </a:p>
          <a:p>
            <a:pPr algn="l">
              <a:spcBef>
                <a:spcPts val="600"/>
              </a:spcBef>
              <a:spcAft>
                <a:spcPts val="300"/>
              </a:spcAft>
            </a:pPr>
            <a:r>
              <a:rPr sz="1800" b="1" i="0">
                <a:solidFill>
                  <a:srgbClr val="0F4C81"/>
                </a:solidFill>
                <a:latin typeface="Canva Sans Bold"/>
              </a:rPr>
              <a:t>• </a:t>
            </a:r>
            <a:r>
              <a:rPr sz="1800" b="1" i="0">
                <a:solidFill>
                  <a:srgbClr val="1E3A8A"/>
                </a:solidFill>
                <a:latin typeface="Canva Sans Bold"/>
              </a:rPr>
              <a:t>Đặt sau trạng ngữ ở đầu câu:</a:t>
            </a:r>
            <a:r>
              <a:rPr sz="1800" b="0" i="0">
                <a:solidFill>
                  <a:srgbClr val="1E293B"/>
                </a:solidFill>
                <a:latin typeface="Canva Sans"/>
              </a:rPr>
              <a:t/>
            </a:r>
          </a:p>
          <a:p>
            <a:pPr algn="l">
              <a:spcBef>
                <a:spcPts val="600"/>
              </a:spcBef>
              <a:spcAft>
                <a:spcPts val="300"/>
              </a:spcAft>
            </a:pPr>
            <a:r>
              <a:rPr sz="1800" b="0" i="0">
                <a:solidFill>
                  <a:srgbClr val="1E293B"/>
                </a:solidFill>
                <a:latin typeface="Canva Sans"/>
              </a:rPr>
              <a:t>Ngăn cách trạng ngữ chỉ thời gian, địa điểm, nguyên nhân với cụm Chủ - Vị chính.</a:t>
            </a:r>
          </a:p>
          <a:p>
            <a:pPr algn="l">
              <a:spcBef>
                <a:spcPts val="600"/>
              </a:spcBef>
              <a:spcAft>
                <a:spcPts val="300"/>
              </a:spcAft>
            </a:pPr>
            <a:r>
              <a:rPr sz="1800" b="1" i="0">
                <a:solidFill>
                  <a:srgbClr val="0F4C81"/>
                </a:solidFill>
                <a:latin typeface="Canva Sans Bold"/>
              </a:rPr>
              <a:t>• </a:t>
            </a:r>
            <a:r>
              <a:rPr sz="1800" b="1" i="0">
                <a:solidFill>
                  <a:srgbClr val="1E3A8A"/>
                </a:solidFill>
                <a:latin typeface="Canva Sans Bold"/>
              </a:rPr>
              <a:t>Đặt giữa câu để ngăn cách chuỗi liệt kê:</a:t>
            </a:r>
            <a:r>
              <a:rPr sz="1800" b="0" i="0">
                <a:solidFill>
                  <a:srgbClr val="1E293B"/>
                </a:solidFill>
                <a:latin typeface="Canva Sans"/>
              </a:rPr>
              <a:t/>
            </a:r>
          </a:p>
          <a:p>
            <a:pPr algn="l">
              <a:spcBef>
                <a:spcPts val="600"/>
              </a:spcBef>
              <a:spcAft>
                <a:spcPts val="300"/>
              </a:spcAft>
            </a:pPr>
            <a:r>
              <a:rPr sz="1800" b="0" i="0">
                <a:solidFill>
                  <a:srgbClr val="1E293B"/>
                </a:solidFill>
                <a:latin typeface="Canva Sans"/>
              </a:rPr>
              <a:t>Tách các từ, cụm từ có cùng chức vụ ngữ pháp đứng liền nhau.</a:t>
            </a:r>
          </a:p>
          <a:p>
            <a:pPr algn="l">
              <a:spcBef>
                <a:spcPts val="600"/>
              </a:spcBef>
              <a:spcAft>
                <a:spcPts val="300"/>
              </a:spcAft>
            </a:pPr>
            <a:r>
              <a:rPr sz="1800" b="1" i="0">
                <a:solidFill>
                  <a:srgbClr val="0F4C81"/>
                </a:solidFill>
                <a:latin typeface="Canva Sans Bold"/>
              </a:rPr>
              <a:t>• </a:t>
            </a:r>
            <a:r>
              <a:rPr sz="1800" b="1" i="0">
                <a:solidFill>
                  <a:srgbClr val="1E3A8A"/>
                </a:solidFill>
                <a:latin typeface="Canva Sans Bold"/>
              </a:rPr>
              <a:t>Đặt giữa các vế trong câu ghép:</a:t>
            </a:r>
            <a:r>
              <a:rPr sz="1800" b="0" i="0">
                <a:solidFill>
                  <a:srgbClr val="1E293B"/>
                </a:solidFill>
                <a:latin typeface="Canva Sans"/>
              </a:rPr>
              <a:t/>
            </a:r>
          </a:p>
          <a:p>
            <a:pPr algn="l">
              <a:spcBef>
                <a:spcPts val="600"/>
              </a:spcBef>
              <a:spcAft>
                <a:spcPts val="300"/>
              </a:spcAft>
            </a:pPr>
            <a:r>
              <a:rPr sz="1800" b="0" i="0">
                <a:solidFill>
                  <a:srgbClr val="1E293B"/>
                </a:solidFill>
                <a:latin typeface="Canva Sans"/>
              </a:rPr>
              <a:t>Làm ranh giới phân định các vế câu độc lập về nghĩa.</a:t>
            </a:r>
          </a:p>
          <a:p>
            <a:pPr algn="l">
              <a:spcBef>
                <a:spcPts val="600"/>
              </a:spcBef>
              <a:spcAft>
                <a:spcPts val="300"/>
              </a:spcAft>
            </a:pPr>
            <a:r>
              <a:rPr sz="1800" b="1" i="0">
                <a:solidFill>
                  <a:srgbClr val="0F4C81"/>
                </a:solidFill>
                <a:latin typeface="Canva Sans Bold"/>
              </a:rPr>
              <a:t>• </a:t>
            </a:r>
            <a:r>
              <a:rPr sz="1800" b="1" i="0">
                <a:solidFill>
                  <a:srgbClr val="1E3A8A"/>
                </a:solidFill>
                <a:latin typeface="Canva Sans Bold"/>
              </a:rPr>
              <a:t>Đặt bao quanh thành phần chú thích hoặc lời gọi đáp:</a:t>
            </a:r>
            <a:r>
              <a:rPr sz="1800" b="0" i="0">
                <a:solidFill>
                  <a:srgbClr val="1E293B"/>
                </a:solidFill>
                <a:latin typeface="Canva Sans"/>
              </a:rPr>
              <a:t/>
            </a:r>
          </a:p>
          <a:p>
            <a:pPr algn="l">
              <a:spcBef>
                <a:spcPts val="600"/>
              </a:spcBef>
              <a:spcAft>
                <a:spcPts val="300"/>
              </a:spcAft>
            </a:pPr>
            <a:r>
              <a:rPr sz="1800" b="0" i="0">
                <a:solidFill>
                  <a:srgbClr val="1E293B"/>
                </a:solidFill>
                <a:latin typeface="Canva Sans"/>
              </a:rPr>
              <a:t>Cô lập phần giải thích hoặc hô ngữ xen vào giữa câu.</a:t>
            </a:r>
          </a:p>
        </p:txBody>
      </p:sp>
      <p:sp>
        <p:nvSpPr>
          <p:cNvPr id="5" name="Rounded Rectangle 4"/>
          <p:cNvSpPr/>
          <p:nvPr/>
        </p:nvSpPr>
        <p:spPr>
          <a:xfrm>
            <a:off x="10332720" y="2560320"/>
            <a:ext cx="4846320" cy="5257800"/>
          </a:xfrm>
          <a:prstGeom prst="roundRect">
            <a:avLst/>
          </a:prstGeom>
          <a:solidFill>
            <a:srgbClr val="FFFFFF"/>
          </a:solidFill>
          <a:ln w="1905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bIns="320040"/>
          <a:lstStyle/>
          <a:p>
            <a:pPr algn="ctr"/>
          </a:p>
        </p:txBody>
      </p:sp>
      <p:pic>
        <p:nvPicPr>
          <p:cNvPr id="6" name="Picture 5" descr="dau_phay.jpg"/>
          <p:cNvPicPr>
            <a:picLocks noChangeAspect="1"/>
          </p:cNvPicPr>
          <p:nvPr/>
        </p:nvPicPr>
        <p:blipFill>
          <a:blip r:embed="rId7"/>
          <a:stretch>
            <a:fillRect/>
          </a:stretch>
        </p:blipFill>
        <p:spPr>
          <a:xfrm>
            <a:off x="10469880" y="2697480"/>
            <a:ext cx="4572000" cy="4572000"/>
          </a:xfrm>
          <a:prstGeom prst="rect">
            <a:avLst/>
          </a:prstGeom>
        </p:spPr>
      </p:pic>
      <p:sp>
        <p:nvSpPr>
          <p:cNvPr id="7" name="TextBox 6"/>
          <p:cNvSpPr txBox="1"/>
          <p:nvPr/>
        </p:nvSpPr>
        <p:spPr>
          <a:xfrm>
            <a:off x="10332720" y="7315200"/>
            <a:ext cx="4846320" cy="411480"/>
          </a:xfrm>
          <a:prstGeom prst="rect">
            <a:avLst/>
          </a:prstGeom>
          <a:noFill/>
        </p:spPr>
        <p:txBody>
          <a:bodyPr wrap="none">
            <a:spAutoFit/>
          </a:bodyPr>
          <a:lstStyle/>
          <a:p>
            <a:pPr algn="ctr"/>
            <a:r>
              <a:rPr sz="1700" b="1" i="0">
                <a:solidFill>
                  <a:srgbClr val="1E3A8A"/>
                </a:solidFill>
                <a:latin typeface="Canva Sans Bold"/>
              </a:rPr>
              <a:t>DẤU PHẨY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id="3" name="TextBox 2"/>
          <p:cNvSpPr txBox="1"/>
          <p:nvPr/>
        </p:nvSpPr>
        <p:spPr>
          <a:xfrm>
            <a:off x="1188720" y="1691640"/>
            <a:ext cx="13990320" cy="731520"/>
          </a:xfrm>
          <a:prstGeom prst="rect">
            <a:avLst/>
          </a:prstGeom>
          <a:noFill/>
        </p:spPr>
        <p:txBody>
          <a:bodyPr wrap="none">
            <a:spAutoFit/>
          </a:bodyPr>
          <a:lstStyle/>
          <a:p>
            <a:pPr algn="l"/>
            <a:r>
              <a:rPr sz="2600" b="1" i="0">
                <a:solidFill>
                  <a:srgbClr val="1E3A8A"/>
                </a:solidFill>
                <a:latin typeface="Canva Sans Bold"/>
              </a:rPr>
              <a:t>I. Dấu phẩy: Quy tắc gõ văn bản chuẩn và tránh lỗi</a:t>
            </a:r>
          </a:p>
        </p:txBody>
      </p:sp>
      <p:sp>
        <p:nvSpPr>
          <p:cNvPr id="4" name="Rounded Rectangle 3"/>
          <p:cNvSpPr/>
          <p:nvPr/>
        </p:nvSpPr>
        <p:spPr>
          <a:xfrm>
            <a:off x="1188720" y="2560320"/>
            <a:ext cx="13990320" cy="5257800"/>
          </a:xfrm>
          <a:prstGeom prst="roundRect">
            <a:avLst/>
          </a:prstGeom>
          <a:solidFill>
            <a:srgbClr val="FFFFFF"/>
          </a:solidFill>
          <a:ln w="1905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bIns="320040"/>
          <a:lstStyle/>
          <a:p>
            <a:pPr algn="l">
              <a:spcAft>
                <a:spcPts val="1000"/>
              </a:spcAft>
            </a:pPr>
            <a:r>
              <a:rPr sz="2100" b="1" i="0">
                <a:solidFill>
                  <a:srgbClr val="1E3A8A"/>
                </a:solidFill>
                <a:latin typeface="Canva Sans Bold"/>
              </a:rPr>
              <a:t>3 Quy tắc soạn thảo văn bản bắt buộc phải nhớ</a:t>
            </a:r>
          </a:p>
          <a:p>
            <a:pPr algn="l">
              <a:spcBef>
                <a:spcPts val="600"/>
              </a:spcBef>
              <a:spcAft>
                <a:spcPts val="300"/>
              </a:spcAft>
            </a:pPr>
            <a:r>
              <a:rPr sz="1800" b="1" i="0">
                <a:solidFill>
                  <a:srgbClr val="0F4C81"/>
                </a:solidFill>
                <a:latin typeface="Canva Sans Bold"/>
              </a:rPr>
              <a:t>• </a:t>
            </a:r>
            <a:r>
              <a:rPr sz="1800" b="1" i="0">
                <a:solidFill>
                  <a:srgbClr val="1E3A8A"/>
                </a:solidFill>
                <a:latin typeface="Canva Sans Bold"/>
              </a:rPr>
              <a:t>Quy tắc viết dính sát (Tuyệt đối không cách chữ phía trước):</a:t>
            </a:r>
            <a:r>
              <a:rPr sz="1800" b="0" i="0">
                <a:solidFill>
                  <a:srgbClr val="1E293B"/>
                </a:solidFill>
                <a:latin typeface="Canva Sans"/>
              </a:rPr>
              <a:t/>
            </a:r>
          </a:p>
          <a:p>
            <a:pPr algn="l">
              <a:spcBef>
                <a:spcPts val="600"/>
              </a:spcBef>
              <a:spcAft>
                <a:spcPts val="300"/>
              </a:spcAft>
            </a:pPr>
            <a:r>
              <a:rPr sz="1800" b="0" i="0">
                <a:solidFill>
                  <a:srgbClr val="1E293B"/>
                </a:solidFill>
                <a:latin typeface="Canva Sans"/>
              </a:rPr>
              <a:t>Dấu phẩy phải được đặt liền sát ký tự cuối cùng của từ đứng trước.</a:t>
            </a:r>
          </a:p>
          <a:p>
            <a:pPr algn="l">
              <a:spcBef>
                <a:spcPts val="200"/>
              </a:spcBef>
              <a:spcAft>
                <a:spcPts val="300"/>
              </a:spcAft>
            </a:pPr>
            <a:r>
              <a:rPr sz="1800" b="1" i="0">
                <a:solidFill>
                  <a:srgbClr val="166534"/>
                </a:solidFill>
                <a:latin typeface="Canva Sans Bold"/>
              </a:rPr>
              <a:t>    - ✅ Đúng: "sách, vở, bút thước"</a:t>
            </a:r>
          </a:p>
          <a:p>
            <a:pPr algn="l">
              <a:spcBef>
                <a:spcPts val="200"/>
              </a:spcBef>
              <a:spcAft>
                <a:spcPts val="300"/>
              </a:spcAft>
            </a:pPr>
            <a:r>
              <a:rPr sz="1800" b="0" i="0">
                <a:solidFill>
                  <a:srgbClr val="B91C1C"/>
                </a:solidFill>
                <a:latin typeface="Canva Sans"/>
              </a:rPr>
              <a:t>    - ❌ Sai: "sách , vở , bút thước" (Lỗi gõ thừa dấu cách trước dấu phẩy)</a:t>
            </a:r>
          </a:p>
          <a:p>
            <a:pPr algn="l">
              <a:spcBef>
                <a:spcPts val="600"/>
              </a:spcBef>
              <a:spcAft>
                <a:spcPts val="300"/>
              </a:spcAft>
            </a:pPr>
            <a:r>
              <a:rPr sz="1800" b="1" i="0">
                <a:solidFill>
                  <a:srgbClr val="0F4C81"/>
                </a:solidFill>
                <a:latin typeface="Canva Sans Bold"/>
              </a:rPr>
              <a:t>• </a:t>
            </a:r>
            <a:r>
              <a:rPr sz="1800" b="1" i="0">
                <a:solidFill>
                  <a:srgbClr val="1E3A8A"/>
                </a:solidFill>
                <a:latin typeface="Canva Sans Bold"/>
              </a:rPr>
              <a:t>Quy tắc khoảng trắng (Bắt buộc cách 1 dấu cách phía sau):</a:t>
            </a:r>
            <a:r>
              <a:rPr sz="1800" b="0" i="0">
                <a:solidFill>
                  <a:srgbClr val="1E293B"/>
                </a:solidFill>
                <a:latin typeface="Canva Sans"/>
              </a:rPr>
              <a:t/>
            </a:r>
          </a:p>
          <a:p>
            <a:pPr algn="l">
              <a:spcBef>
                <a:spcPts val="600"/>
              </a:spcBef>
              <a:spcAft>
                <a:spcPts val="300"/>
              </a:spcAft>
            </a:pPr>
            <a:r>
              <a:rPr sz="1800" b="0" i="0">
                <a:solidFill>
                  <a:srgbClr val="1E293B"/>
                </a:solidFill>
                <a:latin typeface="Canva Sans"/>
              </a:rPr>
              <a:t>Sau dấu phẩy, bắt buộc phải có đúng một khoảng trắng trước khi viết từ tiếp theo.</a:t>
            </a:r>
          </a:p>
          <a:p>
            <a:pPr algn="l">
              <a:spcBef>
                <a:spcPts val="200"/>
              </a:spcBef>
              <a:spcAft>
                <a:spcPts val="300"/>
              </a:spcAft>
            </a:pPr>
            <a:r>
              <a:rPr sz="1800" b="1" i="0">
                <a:solidFill>
                  <a:srgbClr val="166534"/>
                </a:solidFill>
                <a:latin typeface="Canva Sans Bold"/>
              </a:rPr>
              <a:t>    - ✅ Đúng: "Chiều nay, chúng tôi học bài."</a:t>
            </a:r>
          </a:p>
          <a:p>
            <a:pPr algn="l">
              <a:spcBef>
                <a:spcPts val="200"/>
              </a:spcBef>
              <a:spcAft>
                <a:spcPts val="300"/>
              </a:spcAft>
            </a:pPr>
            <a:r>
              <a:rPr sz="1800" b="0" i="0">
                <a:solidFill>
                  <a:srgbClr val="B91C1C"/>
                </a:solidFill>
                <a:latin typeface="Canva Sans"/>
              </a:rPr>
              <a:t>    - ❌ Sai: "Chiều nay,chúng tôi học bài." (Lỗi dính chữ sau dấu phẩy)</a:t>
            </a:r>
          </a:p>
          <a:p>
            <a:pPr algn="l">
              <a:spcBef>
                <a:spcPts val="600"/>
              </a:spcBef>
              <a:spcAft>
                <a:spcPts val="300"/>
              </a:spcAft>
            </a:pPr>
            <a:r>
              <a:rPr sz="1800" b="1" i="0">
                <a:solidFill>
                  <a:srgbClr val="0F4C81"/>
                </a:solidFill>
                <a:latin typeface="Canva Sans Bold"/>
              </a:rPr>
              <a:t>• </a:t>
            </a:r>
            <a:r>
              <a:rPr sz="1800" b="1" i="0">
                <a:solidFill>
                  <a:srgbClr val="1E3A8A"/>
                </a:solidFill>
                <a:latin typeface="Canva Sans Bold"/>
              </a:rPr>
              <a:t>Quy tắc viết hoa sau dấu phẩy:</a:t>
            </a:r>
            <a:r>
              <a:rPr sz="1800" b="0" i="0">
                <a:solidFill>
                  <a:srgbClr val="1E293B"/>
                </a:solidFill>
                <a:latin typeface="Canva Sans"/>
              </a:rPr>
              <a:t/>
            </a:r>
          </a:p>
          <a:p>
            <a:pPr algn="l">
              <a:spcBef>
                <a:spcPts val="600"/>
              </a:spcBef>
              <a:spcAft>
                <a:spcPts val="300"/>
              </a:spcAft>
            </a:pPr>
            <a:r>
              <a:rPr sz="1800" b="0" i="0">
                <a:solidFill>
                  <a:srgbClr val="1E293B"/>
                </a:solidFill>
                <a:latin typeface="Canva Sans"/>
              </a:rPr>
              <a:t>Chữ cái đứng ngay sau dấu phẩy KHÔNG viết hoa (trừ danh từ riêng như tên người, tên địa danh).</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id="3" name="TextBox 2"/>
          <p:cNvSpPr txBox="1"/>
          <p:nvPr/>
        </p:nvSpPr>
        <p:spPr>
          <a:xfrm>
            <a:off x="1188720" y="1691640"/>
            <a:ext cx="13990320" cy="731520"/>
          </a:xfrm>
          <a:prstGeom prst="rect">
            <a:avLst/>
          </a:prstGeom>
          <a:noFill/>
        </p:spPr>
        <p:txBody>
          <a:bodyPr wrap="none">
            <a:spAutoFit/>
          </a:bodyPr>
          <a:lstStyle/>
          <a:p>
            <a:pPr algn="l"/>
            <a:r>
              <a:rPr sz="2600" b="1" i="0">
                <a:solidFill>
                  <a:srgbClr val="1E3A8A"/>
                </a:solidFill>
                <a:latin typeface="Canva Sans Bold"/>
              </a:rPr>
              <a:t>I. Dấu phẩy: Công dụng và ý nghĩa trong câu</a:t>
            </a:r>
          </a:p>
        </p:txBody>
      </p:sp>
      <p:sp>
        <p:nvSpPr>
          <p:cNvPr id="4" name="Rounded Rectangle 3"/>
          <p:cNvSpPr/>
          <p:nvPr/>
        </p:nvSpPr>
        <p:spPr>
          <a:xfrm>
            <a:off x="1188720" y="2560320"/>
            <a:ext cx="13990320" cy="5257800"/>
          </a:xfrm>
          <a:prstGeom prst="roundRect">
            <a:avLst/>
          </a:prstGeom>
          <a:solidFill>
            <a:srgbClr val="FFFFFF"/>
          </a:solidFill>
          <a:ln w="1905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bIns="320040"/>
          <a:lstStyle/>
          <a:p>
            <a:pPr algn="l">
              <a:spcAft>
                <a:spcPts val="1000"/>
              </a:spcAft>
            </a:pPr>
            <a:r>
              <a:rPr sz="2100" b="1" i="0">
                <a:solidFill>
                  <a:srgbClr val="1E3A8A"/>
                </a:solidFill>
                <a:latin typeface="Canva Sans Bold"/>
              </a:rPr>
              <a:t>4 Công dụng cốt lõi của Dấu Phẩy</a:t>
            </a:r>
          </a:p>
          <a:p>
            <a:pPr algn="l">
              <a:spcBef>
                <a:spcPts val="700"/>
              </a:spcBef>
              <a:spcAft>
                <a:spcPts val="300"/>
              </a:spcAft>
            </a:pPr>
            <a:r>
              <a:rPr sz="1900" b="1" i="0">
                <a:solidFill>
                  <a:srgbClr val="0F4C81"/>
                </a:solidFill>
                <a:latin typeface="Canva Sans Bold"/>
              </a:rPr>
              <a:t>• </a:t>
            </a:r>
            <a:r>
              <a:rPr sz="1900" b="1" i="0">
                <a:solidFill>
                  <a:srgbClr val="1E3A8A"/>
                </a:solidFill>
                <a:latin typeface="Canva Sans Bold"/>
              </a:rPr>
              <a:t>Tạo quãng nghỉ ngắn khi đọc và nói:</a:t>
            </a:r>
            <a:r>
              <a:rPr sz="1900" b="0" i="0">
                <a:solidFill>
                  <a:srgbClr val="1E293B"/>
                </a:solidFill>
                <a:latin typeface="Canva Sans"/>
              </a:rPr>
              <a:t/>
            </a:r>
          </a:p>
          <a:p>
            <a:pPr algn="l">
              <a:spcBef>
                <a:spcPts val="700"/>
              </a:spcBef>
              <a:spcAft>
                <a:spcPts val="300"/>
              </a:spcAft>
            </a:pPr>
            <a:r>
              <a:rPr sz="1900" b="0" i="0">
                <a:solidFill>
                  <a:srgbClr val="1E293B"/>
                </a:solidFill>
                <a:latin typeface="Canva Sans"/>
              </a:rPr>
              <a:t>Tạo nhịp nghỉ bằng 1/2 nhịp dấu chấm, giúp người nói lấy hơi tự nhiên và người nghe nắm bắt mạch câu dễ dàng.</a:t>
            </a:r>
          </a:p>
          <a:p>
            <a:pPr algn="l">
              <a:spcBef>
                <a:spcPts val="700"/>
              </a:spcBef>
              <a:spcAft>
                <a:spcPts val="300"/>
              </a:spcAft>
            </a:pPr>
            <a:r>
              <a:rPr sz="1900" b="1" i="0">
                <a:solidFill>
                  <a:srgbClr val="0F4C81"/>
                </a:solidFill>
                <a:latin typeface="Canva Sans Bold"/>
              </a:rPr>
              <a:t>• </a:t>
            </a:r>
            <a:r>
              <a:rPr sz="1900" b="1" i="0">
                <a:solidFill>
                  <a:srgbClr val="1E3A8A"/>
                </a:solidFill>
                <a:latin typeface="Canva Sans Bold"/>
              </a:rPr>
              <a:t>Phân định rõ ràng các thành phần trong câu:</a:t>
            </a:r>
            <a:r>
              <a:rPr sz="1900" b="0" i="0">
                <a:solidFill>
                  <a:srgbClr val="1E293B"/>
                </a:solidFill>
                <a:latin typeface="Canva Sans"/>
              </a:rPr>
              <a:t/>
            </a:r>
          </a:p>
          <a:p>
            <a:pPr algn="l">
              <a:spcBef>
                <a:spcPts val="700"/>
              </a:spcBef>
              <a:spcAft>
                <a:spcPts val="300"/>
              </a:spcAft>
            </a:pPr>
            <a:r>
              <a:rPr sz="1900" b="0" i="0">
                <a:solidFill>
                  <a:srgbClr val="1E293B"/>
                </a:solidFill>
                <a:latin typeface="Canva Sans"/>
              </a:rPr>
              <a:t>Giúp câu văn dài không bị rối, làm nổi bật trạng ngữ, bổ ngữ và các vế câu quan trọng.</a:t>
            </a:r>
          </a:p>
          <a:p>
            <a:pPr algn="l">
              <a:spcBef>
                <a:spcPts val="700"/>
              </a:spcBef>
              <a:spcAft>
                <a:spcPts val="300"/>
              </a:spcAft>
            </a:pPr>
            <a:r>
              <a:rPr sz="1900" b="1" i="0">
                <a:solidFill>
                  <a:srgbClr val="0F4C81"/>
                </a:solidFill>
                <a:latin typeface="Canva Sans Bold"/>
              </a:rPr>
              <a:t>• </a:t>
            </a:r>
            <a:r>
              <a:rPr sz="1900" b="1" i="0">
                <a:solidFill>
                  <a:srgbClr val="1E3A8A"/>
                </a:solidFill>
                <a:latin typeface="Canva Sans Bold"/>
              </a:rPr>
              <a:t>Tránh hiểu lầm nghĩa hoặc gây hiểu sai tai hại:</a:t>
            </a:r>
            <a:r>
              <a:rPr sz="1900" b="0" i="0">
                <a:solidFill>
                  <a:srgbClr val="1E293B"/>
                </a:solidFill>
                <a:latin typeface="Canva Sans"/>
              </a:rPr>
              <a:t/>
            </a:r>
          </a:p>
          <a:p>
            <a:pPr algn="l">
              <a:spcBef>
                <a:spcPts val="700"/>
              </a:spcBef>
              <a:spcAft>
                <a:spcPts val="300"/>
              </a:spcAft>
            </a:pPr>
            <a:r>
              <a:rPr sz="1900" b="0" i="0">
                <a:solidFill>
                  <a:srgbClr val="1E293B"/>
                </a:solidFill>
                <a:latin typeface="Canva Sans"/>
              </a:rPr>
              <a:t>Đặt dấu phẩy đúng chỗ sẽ phân định ranh giới ngữ nghĩa, loại bỏ các cách hiểu mơ hồ hoặc sai lệch.</a:t>
            </a:r>
          </a:p>
          <a:p>
            <a:pPr algn="l">
              <a:spcBef>
                <a:spcPts val="700"/>
              </a:spcBef>
              <a:spcAft>
                <a:spcPts val="300"/>
              </a:spcAft>
            </a:pPr>
            <a:r>
              <a:rPr sz="1900" b="1" i="0">
                <a:solidFill>
                  <a:srgbClr val="0F4C81"/>
                </a:solidFill>
                <a:latin typeface="Canva Sans Bold"/>
              </a:rPr>
              <a:t>• </a:t>
            </a:r>
            <a:r>
              <a:rPr sz="1900" b="1" i="0">
                <a:solidFill>
                  <a:srgbClr val="1E3A8A"/>
                </a:solidFill>
                <a:latin typeface="Canva Sans Bold"/>
              </a:rPr>
              <a:t>Giúp liệt kê sự vật, hành động mạch lạc:</a:t>
            </a:r>
            <a:r>
              <a:rPr sz="1900" b="0" i="0">
                <a:solidFill>
                  <a:srgbClr val="1E293B"/>
                </a:solidFill>
                <a:latin typeface="Canva Sans"/>
              </a:rPr>
              <a:t/>
            </a:r>
          </a:p>
          <a:p>
            <a:pPr algn="l">
              <a:spcBef>
                <a:spcPts val="700"/>
              </a:spcBef>
              <a:spcAft>
                <a:spcPts val="300"/>
              </a:spcAft>
            </a:pPr>
            <a:r>
              <a:rPr sz="1900" b="0" i="0">
                <a:solidFill>
                  <a:srgbClr val="1E293B"/>
                </a:solidFill>
                <a:latin typeface="Canva Sans"/>
              </a:rPr>
              <a:t>Ngăn cách các từ ngữ đồng chức, giúp văn bản trình bày rõ ràng, có tính thẩm mỹ và dễ theo dõi.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id="3" name="TextBox 2"/>
          <p:cNvSpPr txBox="1"/>
          <p:nvPr/>
        </p:nvSpPr>
        <p:spPr>
          <a:xfrm>
            <a:off x="1188720" y="1691640"/>
            <a:ext cx="13990320" cy="731520"/>
          </a:xfrm>
          <a:prstGeom prst="rect">
            <a:avLst/>
          </a:prstGeom>
          <a:noFill/>
        </p:spPr>
        <p:txBody>
          <a:bodyPr wrap="none">
            <a:spAutoFit/>
          </a:bodyPr>
          <a:lstStyle/>
          <a:p>
            <a:pPr algn="l"/>
            <a:r>
              <a:rPr sz="2600" b="1" i="0">
                <a:solidFill>
                  <a:srgbClr val="1E3A8A"/>
                </a:solidFill>
                <a:latin typeface="Canva Sans Bold"/>
              </a:rPr>
              <a:t>I. Dấu phẩy: 8 Ví dụ minh họa thực tế</a:t>
            </a:r>
          </a:p>
        </p:txBody>
      </p:sp>
      <p:sp>
        <p:nvSpPr>
          <p:cNvPr id="4" name="Rounded Rectangle 3"/>
          <p:cNvSpPr/>
          <p:nvPr/>
        </p:nvSpPr>
        <p:spPr>
          <a:xfrm>
            <a:off x="1188720" y="2560320"/>
            <a:ext cx="13990320" cy="5257800"/>
          </a:xfrm>
          <a:prstGeom prst="roundRect">
            <a:avLst/>
          </a:prstGeom>
          <a:solidFill>
            <a:srgbClr val="FFFFFF"/>
          </a:solidFill>
          <a:ln w="1905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bIns="320040"/>
          <a:lstStyle/>
          <a:p>
            <a:pPr algn="l">
              <a:spcAft>
                <a:spcPts val="1000"/>
              </a:spcAft>
            </a:pPr>
            <a:r>
              <a:rPr sz="2000" b="1" i="0">
                <a:solidFill>
                  <a:srgbClr val="1E3A8A"/>
                </a:solidFill>
                <a:latin typeface="Canva Sans Bold"/>
              </a:rPr>
              <a:t>Hệ thống 8 ví dụ minh họa kèm tác dụng cụ thể</a:t>
            </a:r>
          </a:p>
          <a:p>
            <a:pPr algn="l">
              <a:spcBef>
                <a:spcPts val="600"/>
              </a:spcBef>
              <a:spcAft>
                <a:spcPts val="300"/>
              </a:spcAft>
            </a:pPr>
            <a:r>
              <a:rPr sz="1700" b="1" i="0">
                <a:solidFill>
                  <a:srgbClr val="1E3A8A"/>
                </a:solidFill>
                <a:latin typeface="Canva Sans Bold"/>
              </a:rPr>
              <a:t>Ví dụ 1 (Liệt kê đồ vật):</a:t>
            </a:r>
            <a:r>
              <a:rPr sz="1700" b="0" i="0">
                <a:solidFill>
                  <a:srgbClr val="1E293B"/>
                </a:solidFill>
                <a:latin typeface="Canva Sans"/>
              </a:rPr>
              <a:t> "Bàn, ghế, tủ và giường đều được làm bằng gỗ."</a:t>
            </a:r>
          </a:p>
          <a:p>
            <a:pPr algn="l">
              <a:spcBef>
                <a:spcPts val="600"/>
              </a:spcBef>
              <a:spcAft>
                <a:spcPts val="300"/>
              </a:spcAft>
            </a:pPr>
            <a:r>
              <a:rPr sz="1700" b="1" i="0">
                <a:solidFill>
                  <a:srgbClr val="1E3A8A"/>
                </a:solidFill>
                <a:latin typeface="Canva Sans Bold"/>
              </a:rPr>
              <a:t>Ví dụ 2 (Tách trạng ngữ thời gian):</a:t>
            </a:r>
            <a:r>
              <a:rPr sz="1700" b="0" i="0">
                <a:solidFill>
                  <a:srgbClr val="1E293B"/>
                </a:solidFill>
                <a:latin typeface="Canva Sans"/>
              </a:rPr>
              <a:t> "Chiều nay, chúng tôi có buổi học nhóm ở thư viện."</a:t>
            </a:r>
          </a:p>
          <a:p>
            <a:pPr algn="l">
              <a:spcBef>
                <a:spcPts val="600"/>
              </a:spcBef>
              <a:spcAft>
                <a:spcPts val="300"/>
              </a:spcAft>
            </a:pPr>
            <a:r>
              <a:rPr sz="1700" b="1" i="0">
                <a:solidFill>
                  <a:srgbClr val="1E3A8A"/>
                </a:solidFill>
                <a:latin typeface="Canva Sans Bold"/>
              </a:rPr>
              <a:t>Ví dụ 3 (Nối hai vế câu ghép):</a:t>
            </a:r>
            <a:r>
              <a:rPr sz="1700" b="0" i="0">
                <a:solidFill>
                  <a:srgbClr val="1E293B"/>
                </a:solidFill>
                <a:latin typeface="Canva Sans"/>
              </a:rPr>
              <a:t> "Trời bắt đầu đổ mưa, đường phố trở nên vắng vẻ."</a:t>
            </a:r>
          </a:p>
          <a:p>
            <a:pPr algn="l">
              <a:spcBef>
                <a:spcPts val="600"/>
              </a:spcBef>
              <a:spcAft>
                <a:spcPts val="300"/>
              </a:spcAft>
            </a:pPr>
            <a:r>
              <a:rPr sz="1700" b="1" i="0">
                <a:solidFill>
                  <a:srgbClr val="1E3A8A"/>
                </a:solidFill>
                <a:latin typeface="Canva Sans Bold"/>
              </a:rPr>
              <a:t>Ví dụ 4 (Tách lời gọi đáp, hô ngữ):</a:t>
            </a:r>
            <a:r>
              <a:rPr sz="1700" b="0" i="0">
                <a:solidFill>
                  <a:srgbClr val="1E293B"/>
                </a:solidFill>
                <a:latin typeface="Canva Sans"/>
              </a:rPr>
              <a:t> "Lan ơi, hãy mở cửa giúp mình với."</a:t>
            </a:r>
          </a:p>
          <a:p>
            <a:pPr algn="l">
              <a:spcBef>
                <a:spcPts val="600"/>
              </a:spcBef>
              <a:spcAft>
                <a:spcPts val="300"/>
              </a:spcAft>
            </a:pPr>
            <a:r>
              <a:rPr sz="1700" b="1" i="0">
                <a:solidFill>
                  <a:srgbClr val="1E3A8A"/>
                </a:solidFill>
                <a:latin typeface="Canva Sans Bold"/>
              </a:rPr>
              <a:t>Ví dụ 5 (Tách thành phần chú thích):</a:t>
            </a:r>
            <a:r>
              <a:rPr sz="1700" b="0" i="0">
                <a:solidFill>
                  <a:srgbClr val="1E293B"/>
                </a:solidFill>
                <a:latin typeface="Canva Sans"/>
              </a:rPr>
              <a:t> "Nam, lớp trưởng lớp tôi, luôn đạt danh hiệu sinh viên giỏi."</a:t>
            </a:r>
          </a:p>
          <a:p>
            <a:pPr algn="l">
              <a:spcBef>
                <a:spcPts val="600"/>
              </a:spcBef>
              <a:spcAft>
                <a:spcPts val="300"/>
              </a:spcAft>
            </a:pPr>
            <a:r>
              <a:rPr sz="1700" b="1" i="0">
                <a:solidFill>
                  <a:srgbClr val="1E3A8A"/>
                </a:solidFill>
                <a:latin typeface="Canva Sans Bold"/>
              </a:rPr>
              <a:t>Ví dụ 6 (Tách trạng ngữ nơi chốn):</a:t>
            </a:r>
            <a:r>
              <a:rPr sz="1700" b="0" i="0">
                <a:solidFill>
                  <a:srgbClr val="1E293B"/>
                </a:solidFill>
                <a:latin typeface="Canva Sans"/>
              </a:rPr>
              <a:t> "Trên sân trường rợp bóng cây, các bạn sinh viên đang thảo luận bài."</a:t>
            </a:r>
          </a:p>
          <a:p>
            <a:pPr algn="l">
              <a:spcBef>
                <a:spcPts val="600"/>
              </a:spcBef>
              <a:spcAft>
                <a:spcPts val="300"/>
              </a:spcAft>
            </a:pPr>
            <a:r>
              <a:rPr sz="1700" b="1" i="0">
                <a:solidFill>
                  <a:srgbClr val="1E3A8A"/>
                </a:solidFill>
                <a:latin typeface="Canva Sans Bold"/>
              </a:rPr>
              <a:t>Ví dụ 7 (Liệt kê chuỗi hành động):</a:t>
            </a:r>
            <a:r>
              <a:rPr sz="1700" b="0" i="0">
                <a:solidFill>
                  <a:srgbClr val="1E293B"/>
                </a:solidFill>
                <a:latin typeface="Canva Sans"/>
              </a:rPr>
              <a:t> "Bạn ấy đọc tài liệu, ghi chép cẩn thận và tích cực phát biểu."</a:t>
            </a:r>
          </a:p>
          <a:p>
            <a:pPr algn="l">
              <a:spcBef>
                <a:spcPts val="600"/>
              </a:spcBef>
              <a:spcAft>
                <a:spcPts val="300"/>
              </a:spcAft>
            </a:pPr>
            <a:r>
              <a:rPr sz="1700" b="1" i="0">
                <a:solidFill>
                  <a:srgbClr val="1E3A8A"/>
                </a:solidFill>
                <a:latin typeface="Canva Sans Bold"/>
              </a:rPr>
              <a:t>Ví dụ 8 (Vế câu nhượng bộ):</a:t>
            </a:r>
            <a:r>
              <a:rPr sz="1700" b="0" i="0">
                <a:solidFill>
                  <a:srgbClr val="1E293B"/>
                </a:solidFill>
                <a:latin typeface="Canva Sans"/>
              </a:rPr>
              <a:t> "Dù thời gian làm bài khá gấp, cả nhóm vẫn hoàn thành báo cáo đúng hạn."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id="3" name="TextBox 2"/>
          <p:cNvSpPr txBox="1"/>
          <p:nvPr/>
        </p:nvSpPr>
        <p:spPr>
          <a:xfrm>
            <a:off x="1188720" y="1691640"/>
            <a:ext cx="13990320" cy="731520"/>
          </a:xfrm>
          <a:prstGeom prst="rect">
            <a:avLst/>
          </a:prstGeom>
          <a:noFill/>
        </p:spPr>
        <p:txBody>
          <a:bodyPr wrap="none">
            <a:spAutoFit/>
          </a:bodyPr>
          <a:lstStyle/>
          <a:p>
            <a:pPr algn="l"/>
            <a:r>
              <a:rPr sz="2600" b="1" i="0">
                <a:solidFill>
                  <a:srgbClr val="1E3A8A"/>
                </a:solidFill>
                <a:latin typeface="Canva Sans Bold"/>
              </a:rPr>
              <a:t>II. Dấu chấm: Vị trí và quy tắc viết chuẩn</a:t>
            </a:r>
          </a:p>
        </p:txBody>
      </p:sp>
      <p:sp>
        <p:nvSpPr>
          <p:cNvPr id="4" name="Rounded Rectangle 3"/>
          <p:cNvSpPr/>
          <p:nvPr/>
        </p:nvSpPr>
        <p:spPr>
          <a:xfrm>
            <a:off x="1188720" y="2560320"/>
            <a:ext cx="8778240" cy="5257800"/>
          </a:xfrm>
          <a:prstGeom prst="roundRect">
            <a:avLst/>
          </a:prstGeom>
          <a:solidFill>
            <a:srgbClr val="FFFFFF"/>
          </a:solidFill>
          <a:ln w="1905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bIns="320040"/>
          <a:lstStyle/>
          <a:p>
            <a:pPr algn="l">
              <a:spcAft>
                <a:spcPts val="1000"/>
              </a:spcAft>
            </a:pPr>
            <a:r>
              <a:rPr sz="2100" b="1" i="0">
                <a:solidFill>
                  <a:srgbClr val="1E3A8A"/>
                </a:solidFill>
                <a:latin typeface="Canva Sans Bold"/>
              </a:rPr>
              <a:t>Vị trí &amp; Cách đặt Dấu Chấm trong câu</a:t>
            </a:r>
          </a:p>
          <a:p>
            <a:pPr algn="l">
              <a:spcBef>
                <a:spcPts val="600"/>
              </a:spcBef>
              <a:spcAft>
                <a:spcPts val="300"/>
              </a:spcAft>
            </a:pPr>
            <a:r>
              <a:rPr sz="1800" b="1" i="0">
                <a:solidFill>
                  <a:srgbClr val="0F4C81"/>
                </a:solidFill>
                <a:latin typeface="Canva Sans Bold"/>
              </a:rPr>
              <a:t>• </a:t>
            </a:r>
            <a:r>
              <a:rPr sz="1800" b="1" i="0">
                <a:solidFill>
                  <a:srgbClr val="1E3A8A"/>
                </a:solidFill>
                <a:latin typeface="Canva Sans Bold"/>
              </a:rPr>
              <a:t>Luôn đặt ở vị trí cuối cùng của câu kể (câu trần thuật):</a:t>
            </a:r>
            <a:r>
              <a:rPr sz="1800" b="0" i="0">
                <a:solidFill>
                  <a:srgbClr val="1E293B"/>
                </a:solidFill>
                <a:latin typeface="Canva Sans"/>
              </a:rPr>
              <a:t/>
            </a:r>
          </a:p>
          <a:p>
            <a:pPr algn="l">
              <a:spcBef>
                <a:spcPts val="600"/>
              </a:spcBef>
              <a:spcAft>
                <a:spcPts val="300"/>
              </a:spcAft>
            </a:pPr>
            <a:r>
              <a:rPr sz="1800" b="0" i="0">
                <a:solidFill>
                  <a:srgbClr val="1E293B"/>
                </a:solidFill>
                <a:latin typeface="Canva Sans"/>
              </a:rPr>
              <a:t>Đánh dấu câu đã hoàn chỉnh cả về ngữ pháp và ý nghĩa thông báo.</a:t>
            </a:r>
          </a:p>
          <a:p>
            <a:pPr algn="l">
              <a:spcBef>
                <a:spcPts val="600"/>
              </a:spcBef>
              <a:spcAft>
                <a:spcPts val="300"/>
              </a:spcAft>
            </a:pPr>
            <a:r>
              <a:rPr sz="1800" b="1" i="0">
                <a:solidFill>
                  <a:srgbClr val="0F4C81"/>
                </a:solidFill>
                <a:latin typeface="Canva Sans Bold"/>
              </a:rPr>
              <a:t>• </a:t>
            </a:r>
            <a:r>
              <a:rPr sz="1800" b="1" i="0">
                <a:solidFill>
                  <a:srgbClr val="1E3A8A"/>
                </a:solidFill>
                <a:latin typeface="Canva Sans Bold"/>
              </a:rPr>
              <a:t>Dùng trong câu cầu khiến nhẹ:</a:t>
            </a:r>
            <a:r>
              <a:rPr sz="1800" b="0" i="0">
                <a:solidFill>
                  <a:srgbClr val="1E293B"/>
                </a:solidFill>
                <a:latin typeface="Canva Sans"/>
              </a:rPr>
              <a:t/>
            </a:r>
          </a:p>
          <a:p>
            <a:pPr algn="l">
              <a:spcBef>
                <a:spcPts val="600"/>
              </a:spcBef>
              <a:spcAft>
                <a:spcPts val="300"/>
              </a:spcAft>
            </a:pPr>
            <a:r>
              <a:rPr sz="1800" b="0" i="0">
                <a:solidFill>
                  <a:srgbClr val="1E293B"/>
                </a:solidFill>
                <a:latin typeface="Canva Sans"/>
              </a:rPr>
              <a:t>Có thể dùng dấu chấm ở cuối câu khuyên nhủ, dặn dò để thể hiện thái độ lịch thiệp.</a:t>
            </a:r>
          </a:p>
          <a:p>
            <a:pPr algn="l">
              <a:spcBef>
                <a:spcPts val="600"/>
              </a:spcBef>
              <a:spcAft>
                <a:spcPts val="300"/>
              </a:spcAft>
            </a:pPr>
            <a:r>
              <a:rPr sz="1800" b="1" i="0">
                <a:solidFill>
                  <a:srgbClr val="0F4C81"/>
                </a:solidFill>
                <a:latin typeface="Canva Sans Bold"/>
              </a:rPr>
              <a:t>• </a:t>
            </a:r>
            <a:r>
              <a:rPr sz="1800" b="1" i="0">
                <a:solidFill>
                  <a:srgbClr val="1E3A8A"/>
                </a:solidFill>
                <a:latin typeface="Canva Sans Bold"/>
              </a:rPr>
              <a:t>Quy tắc viết liền chữ trước:</a:t>
            </a:r>
            <a:r>
              <a:rPr sz="1800" b="0" i="0">
                <a:solidFill>
                  <a:srgbClr val="1E293B"/>
                </a:solidFill>
                <a:latin typeface="Canva Sans"/>
              </a:rPr>
              <a:t/>
            </a:r>
          </a:p>
          <a:p>
            <a:pPr algn="l">
              <a:spcBef>
                <a:spcPts val="600"/>
              </a:spcBef>
              <a:spcAft>
                <a:spcPts val="300"/>
              </a:spcAft>
            </a:pPr>
            <a:r>
              <a:rPr sz="1800" b="0" i="0">
                <a:solidFill>
                  <a:srgbClr val="1E293B"/>
                </a:solidFill>
                <a:latin typeface="Canva Sans"/>
              </a:rPr>
              <a:t>Viết dính sát ký tự cuối cùng của từ đứng trước. Tuyệt đối không để khoảng trắng trước dấu chấm.</a:t>
            </a:r>
          </a:p>
          <a:p>
            <a:pPr algn="l">
              <a:spcBef>
                <a:spcPts val="600"/>
              </a:spcBef>
              <a:spcAft>
                <a:spcPts val="300"/>
              </a:spcAft>
            </a:pPr>
            <a:r>
              <a:rPr sz="1800" b="1" i="0">
                <a:solidFill>
                  <a:srgbClr val="0F4C81"/>
                </a:solidFill>
                <a:latin typeface="Canva Sans Bold"/>
              </a:rPr>
              <a:t>• </a:t>
            </a:r>
            <a:r>
              <a:rPr sz="1800" b="1" i="0">
                <a:solidFill>
                  <a:srgbClr val="1E3A8A"/>
                </a:solidFill>
                <a:latin typeface="Canva Sans Bold"/>
              </a:rPr>
              <a:t>Quy tắc dấu cách phía sau:</a:t>
            </a:r>
            <a:r>
              <a:rPr sz="1800" b="0" i="0">
                <a:solidFill>
                  <a:srgbClr val="1E293B"/>
                </a:solidFill>
                <a:latin typeface="Canva Sans"/>
              </a:rPr>
              <a:t/>
            </a:r>
          </a:p>
          <a:p>
            <a:pPr algn="l">
              <a:spcBef>
                <a:spcPts val="600"/>
              </a:spcBef>
              <a:spcAft>
                <a:spcPts val="300"/>
              </a:spcAft>
            </a:pPr>
            <a:r>
              <a:rPr sz="1800" b="0" i="0">
                <a:solidFill>
                  <a:srgbClr val="1E293B"/>
                </a:solidFill>
                <a:latin typeface="Canva Sans"/>
              </a:rPr>
              <a:t>Bắt buộc cách đúng 1 khoảng trắng sau dấu chấm trước khi viết câu mới.</a:t>
            </a:r>
          </a:p>
          <a:p>
            <a:pPr algn="l">
              <a:spcBef>
                <a:spcPts val="600"/>
              </a:spcBef>
              <a:spcAft>
                <a:spcPts val="300"/>
              </a:spcAft>
            </a:pPr>
            <a:r>
              <a:rPr sz="1800" b="1" i="0">
                <a:solidFill>
                  <a:srgbClr val="0F4C81"/>
                </a:solidFill>
                <a:latin typeface="Canva Sans Bold"/>
              </a:rPr>
              <a:t>• </a:t>
            </a:r>
            <a:r>
              <a:rPr sz="1800" b="1" i="0">
                <a:solidFill>
                  <a:srgbClr val="1E3A8A"/>
                </a:solidFill>
                <a:latin typeface="Canva Sans Bold"/>
              </a:rPr>
              <a:t>Bắt buộc viết hoa chữ cái đầu câu tiếp theo:</a:t>
            </a:r>
            <a:r>
              <a:rPr sz="1800" b="0" i="0">
                <a:solidFill>
                  <a:srgbClr val="1E293B"/>
                </a:solidFill>
                <a:latin typeface="Canva Sans"/>
              </a:rPr>
              <a:t/>
            </a:r>
          </a:p>
          <a:p>
            <a:pPr algn="l">
              <a:spcBef>
                <a:spcPts val="600"/>
              </a:spcBef>
              <a:spcAft>
                <a:spcPts val="300"/>
              </a:spcAft>
            </a:pPr>
            <a:r>
              <a:rPr sz="1800" b="0" i="0">
                <a:solidFill>
                  <a:srgbClr val="1E293B"/>
                </a:solidFill>
                <a:latin typeface="Canva Sans"/>
              </a:rPr>
              <a:t>Chữ cái đầu tiên của từ đứng sau dấu chấm kết thúc câu bắt buộc phải viết hoa.</a:t>
            </a:r>
          </a:p>
        </p:txBody>
      </p:sp>
      <p:sp>
        <p:nvSpPr>
          <p:cNvPr id="5" name="Rounded Rectangle 4"/>
          <p:cNvSpPr/>
          <p:nvPr/>
        </p:nvSpPr>
        <p:spPr>
          <a:xfrm>
            <a:off x="10332720" y="2560320"/>
            <a:ext cx="4846320" cy="5257800"/>
          </a:xfrm>
          <a:prstGeom prst="roundRect">
            <a:avLst/>
          </a:prstGeom>
          <a:solidFill>
            <a:srgbClr val="FFFFFF"/>
          </a:solidFill>
          <a:ln w="1905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bIns="320040"/>
          <a:lstStyle/>
          <a:p>
            <a:pPr algn="ctr"/>
          </a:p>
        </p:txBody>
      </p:sp>
      <p:pic>
        <p:nvPicPr>
          <p:cNvPr id="6" name="Picture 5" descr="dau_cham.jpg"/>
          <p:cNvPicPr>
            <a:picLocks noChangeAspect="1"/>
          </p:cNvPicPr>
          <p:nvPr/>
        </p:nvPicPr>
        <p:blipFill>
          <a:blip r:embed="rId5"/>
          <a:stretch>
            <a:fillRect/>
          </a:stretch>
        </p:blipFill>
        <p:spPr>
          <a:xfrm>
            <a:off x="10469880" y="2697480"/>
            <a:ext cx="4572000" cy="4572000"/>
          </a:xfrm>
          <a:prstGeom prst="rect">
            <a:avLst/>
          </a:prstGeom>
        </p:spPr>
      </p:pic>
      <p:sp>
        <p:nvSpPr>
          <p:cNvPr id="7" name="TextBox 6"/>
          <p:cNvSpPr txBox="1"/>
          <p:nvPr/>
        </p:nvSpPr>
        <p:spPr>
          <a:xfrm>
            <a:off x="10332720" y="7315200"/>
            <a:ext cx="4846320" cy="411480"/>
          </a:xfrm>
          <a:prstGeom prst="rect">
            <a:avLst/>
          </a:prstGeom>
          <a:noFill/>
        </p:spPr>
        <p:txBody>
          <a:bodyPr wrap="none">
            <a:spAutoFit/>
          </a:bodyPr>
          <a:lstStyle/>
          <a:p>
            <a:pPr algn="ctr"/>
            <a:r>
              <a:rPr sz="1700" b="1" i="0">
                <a:solidFill>
                  <a:srgbClr val="1E3A8A"/>
                </a:solidFill>
                <a:latin typeface="Canva Sans Bold"/>
              </a:rPr>
              <a:t>DẤU CHẤM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id="3" name="TextBox 2"/>
          <p:cNvSpPr txBox="1"/>
          <p:nvPr/>
        </p:nvSpPr>
        <p:spPr>
          <a:xfrm>
            <a:off x="1188720" y="1691640"/>
            <a:ext cx="13990320" cy="731520"/>
          </a:xfrm>
          <a:prstGeom prst="rect">
            <a:avLst/>
          </a:prstGeom>
          <a:noFill/>
        </p:spPr>
        <p:txBody>
          <a:bodyPr wrap="none">
            <a:spAutoFit/>
          </a:bodyPr>
          <a:lstStyle/>
          <a:p>
            <a:pPr algn="l"/>
            <a:r>
              <a:rPr sz="2600" b="1" i="0">
                <a:solidFill>
                  <a:srgbClr val="1E3A8A"/>
                </a:solidFill>
                <a:latin typeface="Canva Sans Bold"/>
              </a:rPr>
              <a:t>II. Dấu chấm: Công dụng và các quy ước thường gặp</a:t>
            </a:r>
          </a:p>
        </p:txBody>
      </p:sp>
      <p:sp>
        <p:nvSpPr>
          <p:cNvPr id="4" name="Rounded Rectangle 3"/>
          <p:cNvSpPr/>
          <p:nvPr/>
        </p:nvSpPr>
        <p:spPr>
          <a:xfrm>
            <a:off x="1188720" y="2560320"/>
            <a:ext cx="13990320" cy="5257800"/>
          </a:xfrm>
          <a:prstGeom prst="roundRect">
            <a:avLst/>
          </a:prstGeom>
          <a:solidFill>
            <a:srgbClr val="FFFFFF"/>
          </a:solidFill>
          <a:ln w="1905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bIns="320040"/>
          <a:lstStyle/>
          <a:p>
            <a:pPr algn="l">
              <a:spcAft>
                <a:spcPts val="1000"/>
              </a:spcAft>
            </a:pPr>
            <a:r>
              <a:rPr sz="2100" b="1" i="0">
                <a:solidFill>
                  <a:srgbClr val="1E3A8A"/>
                </a:solidFill>
                <a:latin typeface="Canva Sans Bold"/>
              </a:rPr>
              <a:t>Công dụng chính &amp; 4 Quy ước mở rộng cần nhớ</a:t>
            </a:r>
          </a:p>
          <a:p>
            <a:pPr algn="l">
              <a:spcBef>
                <a:spcPts val="500"/>
              </a:spcBef>
              <a:spcAft>
                <a:spcPts val="300"/>
              </a:spcAft>
            </a:pPr>
            <a:r>
              <a:rPr sz="1700" b="1" i="0">
                <a:solidFill>
                  <a:srgbClr val="0F4C81"/>
                </a:solidFill>
                <a:latin typeface="Canva Sans Bold"/>
              </a:rPr>
              <a:t>• </a:t>
            </a:r>
            <a:r>
              <a:rPr sz="1700" b="1" i="0">
                <a:solidFill>
                  <a:srgbClr val="1E3A8A"/>
                </a:solidFill>
                <a:latin typeface="Canva Sans Bold"/>
              </a:rPr>
              <a:t>Đánh dấu kết thúc trọn vẹn một câu kể:</a:t>
            </a:r>
            <a:r>
              <a:rPr sz="1700" b="0" i="0">
                <a:solidFill>
                  <a:srgbClr val="1E293B"/>
                </a:solidFill>
                <a:latin typeface="Canva Sans"/>
              </a:rPr>
              <a:t/>
            </a:r>
          </a:p>
          <a:p>
            <a:pPr algn="l">
              <a:spcBef>
                <a:spcPts val="500"/>
              </a:spcBef>
              <a:spcAft>
                <a:spcPts val="300"/>
              </a:spcAft>
            </a:pPr>
            <a:r>
              <a:rPr sz="1700" b="0" i="0">
                <a:solidFill>
                  <a:srgbClr val="1E293B"/>
                </a:solidFill>
                <a:latin typeface="Canva Sans"/>
              </a:rPr>
              <a:t>Báo hiệu người viết đã kết thúc trọn vẹn một ý thông tin trước khi chuyển sang câu tiếp theo.</a:t>
            </a:r>
          </a:p>
          <a:p>
            <a:pPr algn="l">
              <a:spcBef>
                <a:spcPts val="500"/>
              </a:spcBef>
              <a:spcAft>
                <a:spcPts val="300"/>
              </a:spcAft>
            </a:pPr>
            <a:r>
              <a:rPr sz="1700" b="1" i="0">
                <a:solidFill>
                  <a:srgbClr val="0F4C81"/>
                </a:solidFill>
                <a:latin typeface="Canva Sans Bold"/>
              </a:rPr>
              <a:t>• </a:t>
            </a:r>
            <a:r>
              <a:rPr sz="1700" b="1" i="0">
                <a:solidFill>
                  <a:srgbClr val="1E3A8A"/>
                </a:solidFill>
                <a:latin typeface="Canva Sans Bold"/>
              </a:rPr>
              <a:t>Quy ước trong từ viết tắt học vị, chức danh:</a:t>
            </a:r>
            <a:r>
              <a:rPr sz="1700" b="0" i="0">
                <a:solidFill>
                  <a:srgbClr val="1E293B"/>
                </a:solidFill>
                <a:latin typeface="Canva Sans"/>
              </a:rPr>
              <a:t/>
            </a:r>
          </a:p>
          <a:p>
            <a:pPr algn="l">
              <a:spcBef>
                <a:spcPts val="500"/>
              </a:spcBef>
              <a:spcAft>
                <a:spcPts val="300"/>
              </a:spcAft>
            </a:pPr>
            <a:r>
              <a:rPr sz="1700" b="0" i="0">
                <a:solidFill>
                  <a:srgbClr val="1E293B"/>
                </a:solidFill>
                <a:latin typeface="Canva Sans"/>
              </a:rPr>
              <a:t>Dùng sau các từ viết tắt phổ biến: ThS. (Thạc sĩ), TS. (Tiến sĩ), PGS., GS.</a:t>
            </a:r>
          </a:p>
          <a:p>
            <a:pPr algn="l">
              <a:spcBef>
                <a:spcPts val="500"/>
              </a:spcBef>
              <a:spcAft>
                <a:spcPts val="300"/>
              </a:spcAft>
            </a:pPr>
            <a:r>
              <a:rPr sz="1700" b="1" i="0">
                <a:solidFill>
                  <a:srgbClr val="0F4C81"/>
                </a:solidFill>
                <a:latin typeface="Canva Sans Bold"/>
              </a:rPr>
              <a:t>• </a:t>
            </a:r>
            <a:r>
              <a:rPr sz="1700" b="1" i="0">
                <a:solidFill>
                  <a:srgbClr val="1E3A8A"/>
                </a:solidFill>
                <a:latin typeface="Canva Sans Bold"/>
              </a:rPr>
              <a:t>Quy ước phân cách số tiền, số lượng lớn:</a:t>
            </a:r>
            <a:r>
              <a:rPr sz="1700" b="0" i="0">
                <a:solidFill>
                  <a:srgbClr val="1E293B"/>
                </a:solidFill>
                <a:latin typeface="Canva Sans"/>
              </a:rPr>
              <a:t/>
            </a:r>
          </a:p>
          <a:p>
            <a:pPr algn="l">
              <a:spcBef>
                <a:spcPts val="500"/>
              </a:spcBef>
              <a:spcAft>
                <a:spcPts val="300"/>
              </a:spcAft>
            </a:pPr>
            <a:r>
              <a:rPr sz="1700" b="0" i="0">
                <a:solidFill>
                  <a:srgbClr val="1E293B"/>
                </a:solidFill>
                <a:latin typeface="Canva Sans"/>
              </a:rPr>
              <a:t>Ngăn cách từng cụm 3 chữ số theo quy chuẩn kế toán Việt Nam: 1.000.000 VNĐ, 500.000 đồng.</a:t>
            </a:r>
          </a:p>
          <a:p>
            <a:pPr algn="l">
              <a:spcBef>
                <a:spcPts val="500"/>
              </a:spcBef>
              <a:spcAft>
                <a:spcPts val="300"/>
              </a:spcAft>
            </a:pPr>
            <a:r>
              <a:rPr sz="1700" b="1" i="0">
                <a:solidFill>
                  <a:srgbClr val="0F4C81"/>
                </a:solidFill>
                <a:latin typeface="Canva Sans Bold"/>
              </a:rPr>
              <a:t>• </a:t>
            </a:r>
            <a:r>
              <a:rPr sz="1700" b="1" i="0">
                <a:solidFill>
                  <a:srgbClr val="1E3A8A"/>
                </a:solidFill>
                <a:latin typeface="Canva Sans Bold"/>
              </a:rPr>
              <a:t>Quy ước ghi mốc ngày tháng năm:</a:t>
            </a:r>
            <a:r>
              <a:rPr sz="1700" b="0" i="0">
                <a:solidFill>
                  <a:srgbClr val="1E293B"/>
                </a:solidFill>
                <a:latin typeface="Canva Sans"/>
              </a:rPr>
              <a:t/>
            </a:r>
          </a:p>
          <a:p>
            <a:pPr algn="l">
              <a:spcBef>
                <a:spcPts val="500"/>
              </a:spcBef>
              <a:spcAft>
                <a:spcPts val="300"/>
              </a:spcAft>
            </a:pPr>
            <a:r>
              <a:rPr sz="1700" b="0" i="0">
                <a:solidFill>
                  <a:srgbClr val="1E293B"/>
                </a:solidFill>
                <a:latin typeface="Canva Sans"/>
              </a:rPr>
              <a:t>Dùng phân định ngày, tháng, năm trong văn bản: 21.09.2026.</a:t>
            </a:r>
          </a:p>
          <a:p>
            <a:pPr algn="l">
              <a:spcBef>
                <a:spcPts val="500"/>
              </a:spcBef>
              <a:spcAft>
                <a:spcPts val="300"/>
              </a:spcAft>
            </a:pPr>
            <a:r>
              <a:rPr sz="1700" b="1" i="0">
                <a:solidFill>
                  <a:srgbClr val="0F4C81"/>
                </a:solidFill>
                <a:latin typeface="Canva Sans Bold"/>
              </a:rPr>
              <a:t>• </a:t>
            </a:r>
            <a:r>
              <a:rPr sz="1700" b="1" i="0">
                <a:solidFill>
                  <a:srgbClr val="1E3A8A"/>
                </a:solidFill>
                <a:latin typeface="Canva Sans Bold"/>
              </a:rPr>
              <a:t>Quy tắc khi kết hợp với dấu ngoặc đơn ():</a:t>
            </a:r>
            <a:r>
              <a:rPr sz="1700" b="0" i="0">
                <a:solidFill>
                  <a:srgbClr val="1E293B"/>
                </a:solidFill>
                <a:latin typeface="Canva Sans"/>
              </a:rPr>
              <a:t/>
            </a:r>
          </a:p>
          <a:p>
            <a:pPr algn="l">
              <a:spcBef>
                <a:spcPts val="200"/>
              </a:spcBef>
              <a:spcAft>
                <a:spcPts val="300"/>
              </a:spcAft>
            </a:pPr>
            <a:r>
              <a:rPr sz="1700" b="0" i="0">
                <a:solidFill>
                  <a:srgbClr val="1E293B"/>
                </a:solidFill>
                <a:latin typeface="Canva Sans"/>
              </a:rPr>
              <a:t>    - Nếu trong ngoặc là chú thích ngắn: Dấu chấm nằm NGOÀI ngoặc: Bạn cần nộp bài đúng hạn (trước 22h00).</a:t>
            </a:r>
          </a:p>
          <a:p>
            <a:pPr algn="l">
              <a:spcBef>
                <a:spcPts val="200"/>
              </a:spcBef>
              <a:spcAft>
                <a:spcPts val="300"/>
              </a:spcAft>
            </a:pPr>
            <a:r>
              <a:rPr sz="1700" b="0" i="0">
                <a:solidFill>
                  <a:srgbClr val="1E293B"/>
                </a:solidFill>
                <a:latin typeface="Canva Sans"/>
              </a:rPr>
              <a:t>    - Nếu trong ngoặc là câu độc lập hoàn chỉnh: Dấu chấm nằm TRONG ngoặc: (Tất cả tài liệu đã được gửi qua email.)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id="3" name="TextBox 2"/>
          <p:cNvSpPr txBox="1"/>
          <p:nvPr/>
        </p:nvSpPr>
        <p:spPr>
          <a:xfrm>
            <a:off x="1188720" y="1691640"/>
            <a:ext cx="13990320" cy="731520"/>
          </a:xfrm>
          <a:prstGeom prst="rect">
            <a:avLst/>
          </a:prstGeom>
          <a:noFill/>
        </p:spPr>
        <p:txBody>
          <a:bodyPr wrap="none">
            <a:spAutoFit/>
          </a:bodyPr>
          <a:lstStyle/>
          <a:p>
            <a:pPr algn="l"/>
            <a:r>
              <a:rPr sz="2600" b="1" i="0">
                <a:solidFill>
                  <a:srgbClr val="1E3A8A"/>
                </a:solidFill>
                <a:latin typeface="Canva Sans Bold"/>
              </a:rPr>
              <a:t>II. Dấu chấm: 8 Ví dụ minh họa thực tế</a:t>
            </a:r>
          </a:p>
        </p:txBody>
      </p:sp>
      <p:sp>
        <p:nvSpPr>
          <p:cNvPr id="4" name="Rounded Rectangle 3"/>
          <p:cNvSpPr/>
          <p:nvPr/>
        </p:nvSpPr>
        <p:spPr>
          <a:xfrm>
            <a:off x="1188720" y="2560320"/>
            <a:ext cx="13990320" cy="5257800"/>
          </a:xfrm>
          <a:prstGeom prst="roundRect">
            <a:avLst/>
          </a:prstGeom>
          <a:solidFill>
            <a:srgbClr val="FFFFFF"/>
          </a:solidFill>
          <a:ln w="1905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bIns="320040"/>
          <a:lstStyle/>
          <a:p>
            <a:pPr algn="l">
              <a:spcAft>
                <a:spcPts val="1000"/>
              </a:spcAft>
            </a:pPr>
            <a:r>
              <a:rPr sz="2000" b="1" i="0">
                <a:solidFill>
                  <a:srgbClr val="1E3A8A"/>
                </a:solidFill>
                <a:latin typeface="Canva Sans Bold"/>
              </a:rPr>
              <a:t>Hệ thống 8 ví dụ minh họa kèm trường hợp cụ thể</a:t>
            </a:r>
          </a:p>
          <a:p>
            <a:pPr algn="l">
              <a:spcBef>
                <a:spcPts val="600"/>
              </a:spcBef>
              <a:spcAft>
                <a:spcPts val="300"/>
              </a:spcAft>
            </a:pPr>
            <a:r>
              <a:rPr sz="1700" b="1" i="0">
                <a:solidFill>
                  <a:srgbClr val="1E3A8A"/>
                </a:solidFill>
                <a:latin typeface="Canva Sans Bold"/>
              </a:rPr>
              <a:t>Ví dụ 1 (Kết thúc câu kể):</a:t>
            </a:r>
            <a:r>
              <a:rPr sz="1700" b="0" i="0">
                <a:solidFill>
                  <a:srgbClr val="1E293B"/>
                </a:solidFill>
                <a:latin typeface="Canva Sans"/>
              </a:rPr>
              <a:t> "Hôm nay nhóm chúng ta cùng tìm hiểu về quy tắc dùng dấu câu tiếng Việt."</a:t>
            </a:r>
          </a:p>
          <a:p>
            <a:pPr algn="l">
              <a:spcBef>
                <a:spcPts val="600"/>
              </a:spcBef>
              <a:spcAft>
                <a:spcPts val="300"/>
              </a:spcAft>
            </a:pPr>
            <a:r>
              <a:rPr sz="1700" b="1" i="0">
                <a:solidFill>
                  <a:srgbClr val="1E3A8A"/>
                </a:solidFill>
                <a:latin typeface="Canva Sans Bold"/>
              </a:rPr>
              <a:t>Ví dụ 2 (Dặn dò nhẹ nhàng):</a:t>
            </a:r>
            <a:r>
              <a:rPr sz="1700" b="0" i="0">
                <a:solidFill>
                  <a:srgbClr val="1E293B"/>
                </a:solidFill>
                <a:latin typeface="Canva Sans"/>
              </a:rPr>
              <a:t> "Bạn nhớ kiểm tra lại nội dung bài tập trước khi nộp nhé."</a:t>
            </a:r>
          </a:p>
          <a:p>
            <a:pPr algn="l">
              <a:spcBef>
                <a:spcPts val="600"/>
              </a:spcBef>
              <a:spcAft>
                <a:spcPts val="300"/>
              </a:spcAft>
            </a:pPr>
            <a:r>
              <a:rPr sz="1700" b="1" i="0">
                <a:solidFill>
                  <a:srgbClr val="1E3A8A"/>
                </a:solidFill>
                <a:latin typeface="Canva Sans Bold"/>
              </a:rPr>
              <a:t>Ví dụ 3 (Viết tắt học vị):</a:t>
            </a:r>
            <a:r>
              <a:rPr sz="1700" b="0" i="0">
                <a:solidFill>
                  <a:srgbClr val="1E293B"/>
                </a:solidFill>
                <a:latin typeface="Canva Sans"/>
              </a:rPr>
              <a:t> "Giảng viên hướng dẫn môn học là ThS. Nguyễn Văn A."</a:t>
            </a:r>
          </a:p>
          <a:p>
            <a:pPr algn="l">
              <a:spcBef>
                <a:spcPts val="600"/>
              </a:spcBef>
              <a:spcAft>
                <a:spcPts val="300"/>
              </a:spcAft>
            </a:pPr>
            <a:r>
              <a:rPr sz="1700" b="1" i="0">
                <a:solidFill>
                  <a:srgbClr val="1E3A8A"/>
                </a:solidFill>
                <a:latin typeface="Canva Sans Bold"/>
              </a:rPr>
              <a:t>Ví dụ 4 (Phân cách số tiền lớn):</a:t>
            </a:r>
            <a:r>
              <a:rPr sz="1700" b="0" i="0">
                <a:solidFill>
                  <a:srgbClr val="1E293B"/>
                </a:solidFill>
                <a:latin typeface="Canva Sans"/>
              </a:rPr>
              <a:t> "Tổng kinh phí thực hiện đề tài là 1.500.000 đồng."</a:t>
            </a:r>
          </a:p>
          <a:p>
            <a:pPr algn="l">
              <a:spcBef>
                <a:spcPts val="600"/>
              </a:spcBef>
              <a:spcAft>
                <a:spcPts val="300"/>
              </a:spcAft>
            </a:pPr>
            <a:r>
              <a:rPr sz="1700" b="1" i="0">
                <a:solidFill>
                  <a:srgbClr val="1E3A8A"/>
                </a:solidFill>
                <a:latin typeface="Canva Sans Bold"/>
              </a:rPr>
              <a:t>Ví dụ 5 (Ghi mốc ngày tháng năm):</a:t>
            </a:r>
            <a:r>
              <a:rPr sz="1700" b="0" i="0">
                <a:solidFill>
                  <a:srgbClr val="1E293B"/>
                </a:solidFill>
                <a:latin typeface="Canva Sans"/>
              </a:rPr>
              <a:t> "Thời hạn cuối nộp bài báo cáo là ngày 23.09.2026."</a:t>
            </a:r>
          </a:p>
          <a:p>
            <a:pPr algn="l">
              <a:spcBef>
                <a:spcPts val="600"/>
              </a:spcBef>
              <a:spcAft>
                <a:spcPts val="300"/>
              </a:spcAft>
            </a:pPr>
            <a:r>
              <a:rPr sz="1700" b="1" i="0">
                <a:solidFill>
                  <a:srgbClr val="1E3A8A"/>
                </a:solidFill>
                <a:latin typeface="Canva Sans Bold"/>
              </a:rPr>
              <a:t>Ví dụ 6 (Dấu chấm ngoài ngoặc):</a:t>
            </a:r>
            <a:r>
              <a:rPr sz="1700" b="0" i="0">
                <a:solidFill>
                  <a:srgbClr val="1E293B"/>
                </a:solidFill>
                <a:latin typeface="Canva Sans"/>
              </a:rPr>
              <a:t> "Sinh viên cần nộp báo cáo đúng hạn (trước 22h00 tối nay)."</a:t>
            </a:r>
          </a:p>
          <a:p>
            <a:pPr algn="l">
              <a:spcBef>
                <a:spcPts val="600"/>
              </a:spcBef>
              <a:spcAft>
                <a:spcPts val="300"/>
              </a:spcAft>
            </a:pPr>
            <a:r>
              <a:rPr sz="1700" b="1" i="0">
                <a:solidFill>
                  <a:srgbClr val="1E3A8A"/>
                </a:solidFill>
                <a:latin typeface="Canva Sans Bold"/>
              </a:rPr>
              <a:t>Ví dụ 7 (Dấu chấm trong ngoặc):</a:t>
            </a:r>
            <a:r>
              <a:rPr sz="1700" b="0" i="0">
                <a:solidFill>
                  <a:srgbClr val="1E293B"/>
                </a:solidFill>
                <a:latin typeface="Canva Sans"/>
              </a:rPr>
              <a:t> "(Mọi thắc mắc về đề tài xin liên hệ trực tiếp với nhóm trưởng.)"</a:t>
            </a:r>
          </a:p>
          <a:p>
            <a:pPr algn="l">
              <a:spcBef>
                <a:spcPts val="600"/>
              </a:spcBef>
              <a:spcAft>
                <a:spcPts val="300"/>
              </a:spcAft>
            </a:pPr>
            <a:r>
              <a:rPr sz="1700" b="1" i="0">
                <a:solidFill>
                  <a:srgbClr val="1E3A8A"/>
                </a:solidFill>
                <a:latin typeface="Canva Sans Bold"/>
              </a:rPr>
              <a:t>Ví dụ 8 (Ngắt câu độc lập):</a:t>
            </a:r>
            <a:r>
              <a:rPr sz="1700" b="0" i="0">
                <a:solidFill>
                  <a:srgbClr val="1E293B"/>
                </a:solidFill>
                <a:latin typeface="Canva Sans"/>
              </a:rPr>
              <a:t> "Mặt trời đã lên cao. Tiếng chim hót ríu rít khắp sân trường."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id="3" name="TextBox 2"/>
          <p:cNvSpPr txBox="1"/>
          <p:nvPr/>
        </p:nvSpPr>
        <p:spPr>
          <a:xfrm>
            <a:off x="1188720" y="1691640"/>
            <a:ext cx="13990320" cy="731520"/>
          </a:xfrm>
          <a:prstGeom prst="rect">
            <a:avLst/>
          </a:prstGeom>
          <a:noFill/>
        </p:spPr>
        <p:txBody>
          <a:bodyPr wrap="none">
            <a:spAutoFit/>
          </a:bodyPr>
          <a:lstStyle/>
          <a:p>
            <a:pPr algn="l"/>
            <a:r>
              <a:rPr sz="2600" b="1" i="0">
                <a:solidFill>
                  <a:srgbClr val="1E3A8A"/>
                </a:solidFill>
                <a:latin typeface="Canva Sans Bold"/>
              </a:rPr>
              <a:t>III. Dấu hỏi: Vị trí và quy tắc viết chuẩn</a:t>
            </a:r>
          </a:p>
        </p:txBody>
      </p:sp>
      <p:sp>
        <p:nvSpPr>
          <p:cNvPr id="4" name="Rounded Rectangle 3"/>
          <p:cNvSpPr/>
          <p:nvPr/>
        </p:nvSpPr>
        <p:spPr>
          <a:xfrm>
            <a:off x="1188720" y="2560320"/>
            <a:ext cx="8778240" cy="5257800"/>
          </a:xfrm>
          <a:prstGeom prst="roundRect">
            <a:avLst/>
          </a:prstGeom>
          <a:solidFill>
            <a:srgbClr val="FFFFFF"/>
          </a:solidFill>
          <a:ln w="1905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bIns="320040"/>
          <a:lstStyle/>
          <a:p>
            <a:pPr algn="l">
              <a:spcAft>
                <a:spcPts val="1000"/>
              </a:spcAft>
            </a:pPr>
            <a:r>
              <a:rPr sz="2100" b="1" i="0">
                <a:solidFill>
                  <a:srgbClr val="1E3A8A"/>
                </a:solidFill>
                <a:latin typeface="Canva Sans Bold"/>
              </a:rPr>
              <a:t>Vị trí &amp; Quy tắc soạn thảo chuẩn của Dấu Hỏi</a:t>
            </a:r>
          </a:p>
          <a:p>
            <a:pPr algn="l">
              <a:spcBef>
                <a:spcPts val="600"/>
              </a:spcBef>
              <a:spcAft>
                <a:spcPts val="300"/>
              </a:spcAft>
            </a:pPr>
            <a:r>
              <a:rPr sz="1800" b="1" i="0">
                <a:solidFill>
                  <a:srgbClr val="0F4C81"/>
                </a:solidFill>
                <a:latin typeface="Canva Sans Bold"/>
              </a:rPr>
              <a:t>• </a:t>
            </a:r>
            <a:r>
              <a:rPr sz="1800" b="1" i="0">
                <a:solidFill>
                  <a:srgbClr val="1E3A8A"/>
                </a:solidFill>
                <a:latin typeface="Canva Sans Bold"/>
              </a:rPr>
              <a:t>Vị trí của dấu hỏi trong câu:</a:t>
            </a:r>
            <a:r>
              <a:rPr sz="1800" b="0" i="0">
                <a:solidFill>
                  <a:srgbClr val="1E293B"/>
                </a:solidFill>
                <a:latin typeface="Canva Sans"/>
              </a:rPr>
              <a:t/>
            </a:r>
          </a:p>
          <a:p>
            <a:pPr algn="l">
              <a:spcBef>
                <a:spcPts val="600"/>
              </a:spcBef>
              <a:spcAft>
                <a:spcPts val="300"/>
              </a:spcAft>
            </a:pPr>
            <a:r>
              <a:rPr sz="1800" b="0" i="0">
                <a:solidFill>
                  <a:srgbClr val="1E293B"/>
                </a:solidFill>
                <a:latin typeface="Canva Sans"/>
              </a:rPr>
              <a:t>Dấu hỏi (dấu hỏi chấm ?) luôn đứng ở cuối câu hỏi hoặc cuối một vế câu dùng để nghi vấn.</a:t>
            </a:r>
          </a:p>
          <a:p>
            <a:pPr algn="l">
              <a:spcBef>
                <a:spcPts val="600"/>
              </a:spcBef>
              <a:spcAft>
                <a:spcPts val="300"/>
              </a:spcAft>
            </a:pPr>
            <a:r>
              <a:rPr sz="1800" b="1" i="0">
                <a:solidFill>
                  <a:srgbClr val="0F4C81"/>
                </a:solidFill>
                <a:latin typeface="Canva Sans Bold"/>
              </a:rPr>
              <a:t>• </a:t>
            </a:r>
            <a:r>
              <a:rPr sz="1800" b="1" i="0">
                <a:solidFill>
                  <a:srgbClr val="1E3A8A"/>
                </a:solidFill>
                <a:latin typeface="Canva Sans Bold"/>
              </a:rPr>
              <a:t>Quy tắc khoảng trắng khi soạn thảo:</a:t>
            </a:r>
            <a:r>
              <a:rPr sz="1800" b="0" i="0">
                <a:solidFill>
                  <a:srgbClr val="1E293B"/>
                </a:solidFill>
                <a:latin typeface="Canva Sans"/>
              </a:rPr>
              <a:t/>
            </a:r>
          </a:p>
          <a:p>
            <a:pPr algn="l">
              <a:spcBef>
                <a:spcPts val="600"/>
              </a:spcBef>
              <a:spcAft>
                <a:spcPts val="300"/>
              </a:spcAft>
            </a:pPr>
            <a:r>
              <a:rPr sz="1800" b="0" i="0">
                <a:solidFill>
                  <a:srgbClr val="1E293B"/>
                </a:solidFill>
                <a:latin typeface="Canva Sans"/>
              </a:rPr>
              <a:t>Khi viết, dấu hỏi được đặt ngay sát chữ cái cuối cùng của từ đứng trước (không khoảng trắng) và phía sau có một khoảng trắng trước khi bắt đầu câu mới.</a:t>
            </a:r>
          </a:p>
          <a:p>
            <a:pPr algn="l">
              <a:spcBef>
                <a:spcPts val="200"/>
              </a:spcBef>
              <a:spcAft>
                <a:spcPts val="300"/>
              </a:spcAft>
            </a:pPr>
            <a:r>
              <a:rPr sz="1800" b="1" i="0">
                <a:solidFill>
                  <a:srgbClr val="166534"/>
                </a:solidFill>
                <a:latin typeface="Canva Sans Bold"/>
              </a:rPr>
              <a:t>    - ✅ Đúng: "Bạn đã làm bài tập chưa?"</a:t>
            </a:r>
          </a:p>
          <a:p>
            <a:pPr algn="l">
              <a:spcBef>
                <a:spcPts val="200"/>
              </a:spcBef>
              <a:spcAft>
                <a:spcPts val="300"/>
              </a:spcAft>
            </a:pPr>
            <a:r>
              <a:rPr sz="1800" b="0" i="0">
                <a:solidFill>
                  <a:srgbClr val="B91C1C"/>
                </a:solidFill>
                <a:latin typeface="Canva Sans"/>
              </a:rPr>
              <a:t>    - ❌ Sai: "Bạn đã làm bài tập chưa ?" (Lỗi gõ thừa dấu cách)</a:t>
            </a:r>
          </a:p>
          <a:p>
            <a:pPr algn="l">
              <a:spcBef>
                <a:spcPts val="600"/>
              </a:spcBef>
              <a:spcAft>
                <a:spcPts val="300"/>
              </a:spcAft>
            </a:pPr>
            <a:r>
              <a:rPr sz="1800" b="1" i="0">
                <a:solidFill>
                  <a:srgbClr val="0F4C81"/>
                </a:solidFill>
                <a:latin typeface="Canva Sans Bold"/>
              </a:rPr>
              <a:t>• </a:t>
            </a:r>
            <a:r>
              <a:rPr sz="1800" b="1" i="0">
                <a:solidFill>
                  <a:srgbClr val="1E3A8A"/>
                </a:solidFill>
                <a:latin typeface="Canva Sans Bold"/>
              </a:rPr>
              <a:t>Quy tắc viết hoa sau dấu hỏi:</a:t>
            </a:r>
            <a:r>
              <a:rPr sz="1800" b="0" i="0">
                <a:solidFill>
                  <a:srgbClr val="1E293B"/>
                </a:solidFill>
                <a:latin typeface="Canva Sans"/>
              </a:rPr>
              <a:t/>
            </a:r>
          </a:p>
          <a:p>
            <a:pPr algn="l">
              <a:spcBef>
                <a:spcPts val="600"/>
              </a:spcBef>
              <a:spcAft>
                <a:spcPts val="300"/>
              </a:spcAft>
            </a:pPr>
            <a:r>
              <a:rPr sz="1800" b="0" i="0">
                <a:solidFill>
                  <a:srgbClr val="1E293B"/>
                </a:solidFill>
                <a:latin typeface="Canva Sans"/>
              </a:rPr>
              <a:t>Chữ cái đầu tiên của câu tiếp theo sau dấu hỏi bắt buộc phải viết hoa theo đúng chuẩn chính tả tiếng Việt.</a:t>
            </a:r>
          </a:p>
        </p:txBody>
      </p:sp>
      <p:sp>
        <p:nvSpPr>
          <p:cNvPr id="5" name="Rounded Rectangle 4"/>
          <p:cNvSpPr/>
          <p:nvPr/>
        </p:nvSpPr>
        <p:spPr>
          <a:xfrm>
            <a:off x="10332720" y="2560320"/>
            <a:ext cx="4846320" cy="5257800"/>
          </a:xfrm>
          <a:prstGeom prst="roundRect">
            <a:avLst/>
          </a:prstGeom>
          <a:solidFill>
            <a:srgbClr val="FFFFFF"/>
          </a:solidFill>
          <a:ln w="1905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bIns="320040"/>
          <a:lstStyle/>
          <a:p>
            <a:pPr algn="ctr"/>
          </a:p>
        </p:txBody>
      </p:sp>
      <p:pic>
        <p:nvPicPr>
          <p:cNvPr id="6" name="Picture 5" descr="dau_hoi.jpg"/>
          <p:cNvPicPr>
            <a:picLocks noChangeAspect="1"/>
          </p:cNvPicPr>
          <p:nvPr/>
        </p:nvPicPr>
        <p:blipFill>
          <a:blip r:embed="rId3"/>
          <a:stretch>
            <a:fillRect/>
          </a:stretch>
        </p:blipFill>
        <p:spPr>
          <a:xfrm>
            <a:off x="10469880" y="2697480"/>
            <a:ext cx="4572000" cy="4572000"/>
          </a:xfrm>
          <a:prstGeom prst="rect">
            <a:avLst/>
          </a:prstGeom>
        </p:spPr>
      </p:pic>
      <p:sp>
        <p:nvSpPr>
          <p:cNvPr id="7" name="TextBox 6"/>
          <p:cNvSpPr txBox="1"/>
          <p:nvPr/>
        </p:nvSpPr>
        <p:spPr>
          <a:xfrm>
            <a:off x="10332720" y="7315200"/>
            <a:ext cx="4846320" cy="411480"/>
          </a:xfrm>
          <a:prstGeom prst="rect">
            <a:avLst/>
          </a:prstGeom>
          <a:noFill/>
        </p:spPr>
        <p:txBody>
          <a:bodyPr wrap="none">
            <a:spAutoFit/>
          </a:bodyPr>
          <a:lstStyle/>
          <a:p>
            <a:pPr algn="ctr"/>
            <a:r>
              <a:rPr sz="1700" b="1" i="0">
                <a:solidFill>
                  <a:srgbClr val="1E3A8A"/>
                </a:solidFill>
                <a:latin typeface="Canva Sans Bold"/>
              </a:rPr>
              <a:t>DẤU HỎI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id="3" name="TextBox 2"/>
          <p:cNvSpPr txBox="1"/>
          <p:nvPr/>
        </p:nvSpPr>
        <p:spPr>
          <a:xfrm>
            <a:off x="1188720" y="1691640"/>
            <a:ext cx="13990320" cy="731520"/>
          </a:xfrm>
          <a:prstGeom prst="rect">
            <a:avLst/>
          </a:prstGeom>
          <a:noFill/>
        </p:spPr>
        <p:txBody>
          <a:bodyPr wrap="none">
            <a:spAutoFit/>
          </a:bodyPr>
          <a:lstStyle/>
          <a:p>
            <a:pPr algn="l"/>
            <a:r>
              <a:rPr sz="2600" b="1" i="0">
                <a:solidFill>
                  <a:srgbClr val="1E3A8A"/>
                </a:solidFill>
                <a:latin typeface="Canva Sans Bold"/>
              </a:rPr>
              <a:t>III. Dấu hỏi: Vai trò và tác dụng thực tế</a:t>
            </a:r>
          </a:p>
        </p:txBody>
      </p:sp>
      <p:sp>
        <p:nvSpPr>
          <p:cNvPr id="4" name="Rounded Rectangle 3"/>
          <p:cNvSpPr/>
          <p:nvPr/>
        </p:nvSpPr>
        <p:spPr>
          <a:xfrm>
            <a:off x="1188720" y="2560320"/>
            <a:ext cx="13990320" cy="5257800"/>
          </a:xfrm>
          <a:prstGeom prst="roundRect">
            <a:avLst/>
          </a:prstGeom>
          <a:solidFill>
            <a:srgbClr val="FFFFFF"/>
          </a:solidFill>
          <a:ln w="1905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bIns="320040"/>
          <a:lstStyle/>
          <a:p>
            <a:pPr algn="l">
              <a:spcAft>
                <a:spcPts val="1000"/>
              </a:spcAft>
            </a:pPr>
            <a:r>
              <a:rPr sz="2100" b="1" i="0">
                <a:solidFill>
                  <a:srgbClr val="1E3A8A"/>
                </a:solidFill>
                <a:latin typeface="Canva Sans Bold"/>
              </a:rPr>
              <a:t>Vai trò và tác dụng đa dạng của Dấu Hỏi</a:t>
            </a:r>
          </a:p>
          <a:p>
            <a:pPr algn="l">
              <a:spcBef>
                <a:spcPts val="700"/>
              </a:spcBef>
              <a:spcAft>
                <a:spcPts val="300"/>
              </a:spcAft>
            </a:pPr>
            <a:r>
              <a:rPr sz="1900" b="1" i="0">
                <a:solidFill>
                  <a:srgbClr val="0F4C81"/>
                </a:solidFill>
                <a:latin typeface="Canva Sans Bold"/>
              </a:rPr>
              <a:t>• </a:t>
            </a:r>
            <a:r>
              <a:rPr sz="1900" b="1" i="0">
                <a:solidFill>
                  <a:srgbClr val="1E3A8A"/>
                </a:solidFill>
                <a:latin typeface="Canva Sans Bold"/>
              </a:rPr>
              <a:t>Báo hiệu câu hỏi (nghi vấn):</a:t>
            </a:r>
            <a:r>
              <a:rPr sz="1900" b="0" i="0">
                <a:solidFill>
                  <a:srgbClr val="1E293B"/>
                </a:solidFill>
                <a:latin typeface="Canva Sans"/>
              </a:rPr>
              <a:t/>
            </a:r>
          </a:p>
          <a:p>
            <a:pPr algn="l">
              <a:spcBef>
                <a:spcPts val="700"/>
              </a:spcBef>
              <a:spcAft>
                <a:spcPts val="300"/>
              </a:spcAft>
            </a:pPr>
            <a:r>
              <a:rPr sz="1900" b="0" i="0">
                <a:solidFill>
                  <a:srgbClr val="1E293B"/>
                </a:solidFill>
                <a:latin typeface="Canva Sans"/>
              </a:rPr>
              <a:t>Giúp người đọc nhận biết câu đó dùng để hỏi, tìm kiếm thông tin hoặc yêu cầu giải đáp.</a:t>
            </a:r>
          </a:p>
          <a:p>
            <a:pPr algn="l">
              <a:spcBef>
                <a:spcPts val="700"/>
              </a:spcBef>
              <a:spcAft>
                <a:spcPts val="300"/>
              </a:spcAft>
            </a:pPr>
            <a:r>
              <a:rPr sz="1900" b="1" i="0">
                <a:solidFill>
                  <a:srgbClr val="0F4C81"/>
                </a:solidFill>
                <a:latin typeface="Canva Sans Bold"/>
              </a:rPr>
              <a:t>• </a:t>
            </a:r>
            <a:r>
              <a:rPr sz="1900" b="1" i="0">
                <a:solidFill>
                  <a:srgbClr val="1E3A8A"/>
                </a:solidFill>
                <a:latin typeface="Canva Sans Bold"/>
              </a:rPr>
              <a:t>Tạo ngữ điệu khi nói và đọc:</a:t>
            </a:r>
            <a:r>
              <a:rPr sz="1900" b="0" i="0">
                <a:solidFill>
                  <a:srgbClr val="1E293B"/>
                </a:solidFill>
                <a:latin typeface="Canva Sans"/>
              </a:rPr>
              <a:t/>
            </a:r>
          </a:p>
          <a:p>
            <a:pPr algn="l">
              <a:spcBef>
                <a:spcPts val="700"/>
              </a:spcBef>
              <a:spcAft>
                <a:spcPts val="300"/>
              </a:spcAft>
            </a:pPr>
            <a:r>
              <a:rPr sz="1900" b="0" i="0">
                <a:solidFill>
                  <a:srgbClr val="1E293B"/>
                </a:solidFill>
                <a:latin typeface="Canva Sans"/>
              </a:rPr>
              <a:t>Trong văn nói, dấu hỏi biểu thị việc lên giọng ở cuối câu để người nghe dễ dàng nhận biết câu hỏi.</a:t>
            </a:r>
          </a:p>
          <a:p>
            <a:pPr algn="l">
              <a:spcBef>
                <a:spcPts val="700"/>
              </a:spcBef>
              <a:spcAft>
                <a:spcPts val="300"/>
              </a:spcAft>
            </a:pPr>
            <a:r>
              <a:rPr sz="1900" b="1" i="0">
                <a:solidFill>
                  <a:srgbClr val="0F4C81"/>
                </a:solidFill>
                <a:latin typeface="Canva Sans Bold"/>
              </a:rPr>
              <a:t>• </a:t>
            </a:r>
            <a:r>
              <a:rPr sz="1900" b="1" i="0">
                <a:solidFill>
                  <a:srgbClr val="1E3A8A"/>
                </a:solidFill>
                <a:latin typeface="Canva Sans Bold"/>
              </a:rPr>
              <a:t>Thể hiện các mục đích giao tiếp khác (câu hỏi tu từ):</a:t>
            </a:r>
            <a:r>
              <a:rPr sz="1900" b="0" i="0">
                <a:solidFill>
                  <a:srgbClr val="1E293B"/>
                </a:solidFill>
                <a:latin typeface="Canva Sans"/>
              </a:rPr>
              <a:t/>
            </a:r>
          </a:p>
          <a:p>
            <a:pPr algn="l">
              <a:spcBef>
                <a:spcPts val="200"/>
              </a:spcBef>
              <a:spcAft>
                <a:spcPts val="300"/>
              </a:spcAft>
            </a:pPr>
            <a:r>
              <a:rPr sz="1900" b="0" i="0">
                <a:solidFill>
                  <a:srgbClr val="1E293B"/>
                </a:solidFill>
                <a:latin typeface="Canva Sans"/>
              </a:rPr>
              <a:t>    - Bày tỏ sự băn khoăn, nghi ngờ: Tự hỏi chính mình hoặc hoài nghi về một sự việc.</a:t>
            </a:r>
          </a:p>
          <a:p>
            <a:pPr algn="l">
              <a:spcBef>
                <a:spcPts val="200"/>
              </a:spcBef>
              <a:spcAft>
                <a:spcPts val="300"/>
              </a:spcAft>
            </a:pPr>
            <a:r>
              <a:rPr sz="1900" b="0" i="0">
                <a:solidFill>
                  <a:srgbClr val="1E293B"/>
                </a:solidFill>
                <a:latin typeface="Canva Sans"/>
              </a:rPr>
              <a:t>    - Cầu khiến, nhờ vả, bộc lộ cảm xúc: Mượn hình thức câu hỏi để bộc lộ sự ngạc nhiên, mỉa mai, nhờ giúp đỡ hoặc khẳng định/phủ định một điều gì đó mà không cần người khác trả lời.</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id="3" name="TextBox 2"/>
          <p:cNvSpPr txBox="1"/>
          <p:nvPr/>
        </p:nvSpPr>
        <p:spPr>
          <a:xfrm>
            <a:off x="1188720" y="1691640"/>
            <a:ext cx="13990320" cy="731520"/>
          </a:xfrm>
          <a:prstGeom prst="rect">
            <a:avLst/>
          </a:prstGeom>
          <a:noFill/>
        </p:spPr>
        <p:txBody>
          <a:bodyPr wrap="none">
            <a:spAutoFit/>
          </a:bodyPr>
          <a:lstStyle/>
          <a:p>
            <a:pPr algn="l"/>
            <a:r>
              <a:rPr sz="2600" b="1" i="0">
                <a:solidFill>
                  <a:srgbClr val="1E3A8A"/>
                </a:solidFill>
                <a:latin typeface="Canva Sans Bold"/>
              </a:rPr>
              <a:t>III. Dấu hỏi: 8 Ví dụ minh họa thực tế</a:t>
            </a:r>
          </a:p>
        </p:txBody>
      </p:sp>
      <p:sp>
        <p:nvSpPr>
          <p:cNvPr id="4" name="Rounded Rectangle 3"/>
          <p:cNvSpPr/>
          <p:nvPr/>
        </p:nvSpPr>
        <p:spPr>
          <a:xfrm>
            <a:off x="1188720" y="2560320"/>
            <a:ext cx="13990320" cy="5257800"/>
          </a:xfrm>
          <a:prstGeom prst="roundRect">
            <a:avLst/>
          </a:prstGeom>
          <a:solidFill>
            <a:srgbClr val="FFFFFF"/>
          </a:solidFill>
          <a:ln w="1905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bIns="320040"/>
          <a:lstStyle/>
          <a:p>
            <a:pPr algn="l">
              <a:spcAft>
                <a:spcPts val="1000"/>
              </a:spcAft>
            </a:pPr>
            <a:r>
              <a:rPr sz="2000" b="1" i="0">
                <a:solidFill>
                  <a:srgbClr val="1E3A8A"/>
                </a:solidFill>
                <a:latin typeface="Canva Sans Bold"/>
              </a:rPr>
              <a:t>Hệ thống 8 ví dụ minh họa sinh động</a:t>
            </a:r>
          </a:p>
          <a:p>
            <a:pPr algn="l">
              <a:spcBef>
                <a:spcPts val="600"/>
              </a:spcBef>
              <a:spcAft>
                <a:spcPts val="300"/>
              </a:spcAft>
            </a:pPr>
            <a:r>
              <a:rPr sz="1700" b="1" i="0">
                <a:solidFill>
                  <a:srgbClr val="1E3A8A"/>
                </a:solidFill>
                <a:latin typeface="Canva Sans Bold"/>
              </a:rPr>
              <a:t>Ví dụ 1 (Hỏi thông tin thời gian):</a:t>
            </a:r>
            <a:r>
              <a:rPr sz="1700" b="0" i="0">
                <a:solidFill>
                  <a:srgbClr val="1E293B"/>
                </a:solidFill>
                <a:latin typeface="Canva Sans"/>
              </a:rPr>
              <a:t> "Mấy giờ rồi bạn ơi?"</a:t>
            </a:r>
          </a:p>
          <a:p>
            <a:pPr algn="l">
              <a:spcBef>
                <a:spcPts val="600"/>
              </a:spcBef>
              <a:spcAft>
                <a:spcPts val="300"/>
              </a:spcAft>
            </a:pPr>
            <a:r>
              <a:rPr sz="1700" b="1" i="0">
                <a:solidFill>
                  <a:srgbClr val="1E3A8A"/>
                </a:solidFill>
                <a:latin typeface="Canva Sans Bold"/>
              </a:rPr>
              <a:t>Ví dụ 2 (Câu hỏi lựa chọn):</a:t>
            </a:r>
            <a:r>
              <a:rPr sz="1700" b="0" i="0">
                <a:solidFill>
                  <a:srgbClr val="1E293B"/>
                </a:solidFill>
                <a:latin typeface="Canva Sans"/>
              </a:rPr>
              <a:t> "Hôm nay chúng ta ăn cơm hay ăn phở?"</a:t>
            </a:r>
          </a:p>
          <a:p>
            <a:pPr algn="l">
              <a:spcBef>
                <a:spcPts val="600"/>
              </a:spcBef>
              <a:spcAft>
                <a:spcPts val="300"/>
              </a:spcAft>
            </a:pPr>
            <a:r>
              <a:rPr sz="1700" b="1" i="0">
                <a:solidFill>
                  <a:srgbClr val="1E3A8A"/>
                </a:solidFill>
                <a:latin typeface="Canva Sans Bold"/>
              </a:rPr>
              <a:t>Ví dụ 3 (Băn khoăn, tự hỏi mình):</a:t>
            </a:r>
            <a:r>
              <a:rPr sz="1700" b="0" i="0">
                <a:solidFill>
                  <a:srgbClr val="1E293B"/>
                </a:solidFill>
                <a:latin typeface="Canva Sans"/>
              </a:rPr>
              <a:t> "Không biết liệu mình làm như thế này đã đúng chưa?"</a:t>
            </a:r>
          </a:p>
          <a:p>
            <a:pPr algn="l">
              <a:spcBef>
                <a:spcPts val="600"/>
              </a:spcBef>
              <a:spcAft>
                <a:spcPts val="300"/>
              </a:spcAft>
            </a:pPr>
            <a:r>
              <a:rPr sz="1700" b="1" i="0">
                <a:solidFill>
                  <a:srgbClr val="1E3A8A"/>
                </a:solidFill>
                <a:latin typeface="Canva Sans Bold"/>
              </a:rPr>
              <a:t>Ví dụ 4 (Cầu khiến, nhờ vả lịch sự):</a:t>
            </a:r>
            <a:r>
              <a:rPr sz="1700" b="0" i="0">
                <a:solidFill>
                  <a:srgbClr val="1E293B"/>
                </a:solidFill>
                <a:latin typeface="Canva Sans"/>
              </a:rPr>
              <a:t> "Bạn có thể lấy giúp mình quyển sách trên kệ được không?"</a:t>
            </a:r>
          </a:p>
          <a:p>
            <a:pPr algn="l">
              <a:spcBef>
                <a:spcPts val="600"/>
              </a:spcBef>
              <a:spcAft>
                <a:spcPts val="300"/>
              </a:spcAft>
            </a:pPr>
            <a:r>
              <a:rPr sz="1700" b="1" i="0">
                <a:solidFill>
                  <a:srgbClr val="1E3A8A"/>
                </a:solidFill>
                <a:latin typeface="Canva Sans Bold"/>
              </a:rPr>
              <a:t>Ví dụ 5 (Cảm xúc ngạc nhiên, trầm trồ):</a:t>
            </a:r>
            <a:r>
              <a:rPr sz="1700" b="0" i="0">
                <a:solidFill>
                  <a:srgbClr val="1E293B"/>
                </a:solidFill>
                <a:latin typeface="Canva Sans"/>
              </a:rPr>
              <a:t> "Sao cảnh vật quê hương lại đẹp đến thế này?"</a:t>
            </a:r>
          </a:p>
          <a:p>
            <a:pPr algn="l">
              <a:spcBef>
                <a:spcPts val="600"/>
              </a:spcBef>
              <a:spcAft>
                <a:spcPts val="300"/>
              </a:spcAft>
            </a:pPr>
            <a:r>
              <a:rPr sz="1700" b="1" i="0">
                <a:solidFill>
                  <a:srgbClr val="1E3A8A"/>
                </a:solidFill>
                <a:latin typeface="Canva Sans Bold"/>
              </a:rPr>
              <a:t>Ví dụ 6 (Câu hỏi tu từ mang ý khẳng định):</a:t>
            </a:r>
            <a:r>
              <a:rPr sz="1700" b="0" i="0">
                <a:solidFill>
                  <a:srgbClr val="1E293B"/>
                </a:solidFill>
                <a:latin typeface="Canva Sans"/>
              </a:rPr>
              <a:t> "Có ai lại không mong muốn nhóm mình đạt kết quả xuất sắc?"</a:t>
            </a:r>
          </a:p>
          <a:p>
            <a:pPr algn="l">
              <a:spcBef>
                <a:spcPts val="600"/>
              </a:spcBef>
              <a:spcAft>
                <a:spcPts val="300"/>
              </a:spcAft>
            </a:pPr>
            <a:r>
              <a:rPr sz="1700" b="1" i="0">
                <a:solidFill>
                  <a:srgbClr val="1E3A8A"/>
                </a:solidFill>
                <a:latin typeface="Canva Sans Bold"/>
              </a:rPr>
              <a:t>Ví dụ 7 (Biểu thị thông tin chưa xác minh):</a:t>
            </a:r>
            <a:r>
              <a:rPr sz="1700" b="0" i="0">
                <a:solidFill>
                  <a:srgbClr val="1E293B"/>
                </a:solidFill>
                <a:latin typeface="Canva Sans"/>
              </a:rPr>
              <a:t> "Nhà văn sinh năm 1902 (?) và mất năm 1963 tại Hà Nội."</a:t>
            </a:r>
          </a:p>
          <a:p>
            <a:pPr algn="l">
              <a:spcBef>
                <a:spcPts val="600"/>
              </a:spcBef>
              <a:spcAft>
                <a:spcPts val="300"/>
              </a:spcAft>
            </a:pPr>
            <a:r>
              <a:rPr sz="1700" b="1" i="0">
                <a:solidFill>
                  <a:srgbClr val="1E3A8A"/>
                </a:solidFill>
                <a:latin typeface="Canva Sans Bold"/>
              </a:rPr>
              <a:t>Ví dụ 8 (Hỏi lễ phép với thầy cô):</a:t>
            </a:r>
            <a:r>
              <a:rPr sz="1700" b="0" i="0">
                <a:solidFill>
                  <a:srgbClr val="1E293B"/>
                </a:solidFill>
                <a:latin typeface="Canva Sans"/>
              </a:rPr>
              <a:t> "Thưa thầy, nhóm em có thể xin thêm tài liệu tham khảo được không ạ?"</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DAHGpOJ6jpg</dc:identifier>
  <dcterms:modified xsi:type="dcterms:W3CDTF">2011-08-01T06:04:30Z</dcterms:modified>
  <cp:revision>1</cp:revision>
  <dc:title>Slide_baocao</dc:title>
</cp:coreProperties>
</file>