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anva Sans Bold" charset="1" panose="020B0803030501040103"/>
      <p:regular r:id="rId19"/>
    </p:embeddedFont>
    <p:embeddedFont>
      <p:font typeface="Canva Sans" charset="1" panose="020B0503030501040103"/>
      <p:regular r:id="rId20"/>
    </p:embeddedFont>
    <p:embeddedFont>
      <p:font typeface="Times New Roman" charset="1" panose="02020603050405020304"/>
      <p:regular r:id="rId21"/>
    </p:embeddedFont>
    <p:embeddedFont>
      <p:font typeface="Open Sans Bold" charset="1" panose="00000000000000000000"/>
      <p:regular r:id="rId22"/>
    </p:embeddedFont>
    <p:embeddedFont>
      <p:font typeface="Open Sans" charset="1" panose="00000000000000000000"/>
      <p:regular r:id="rId23"/>
    </p:embeddedFont>
    <p:embeddedFont>
      <p:font typeface="Open Sans Bold Italics"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https://github.com/hienpro0123/predict_customer_churn" TargetMode="External" Type="http://schemas.openxmlformats.org/officeDocument/2006/relationships/hyperlink"/><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Table 3" id="3"/>
          <p:cNvGraphicFramePr>
            <a:graphicFrameLocks noGrp="true"/>
          </p:cNvGraphicFramePr>
          <p:nvPr/>
        </p:nvGraphicFramePr>
        <p:xfrm>
          <a:off x="2542539" y="3384433"/>
          <a:ext cx="13202922" cy="5133975"/>
        </p:xfrm>
        <a:graphic>
          <a:graphicData uri="http://schemas.openxmlformats.org/drawingml/2006/table">
            <a:tbl>
              <a:tblPr/>
              <a:tblGrid>
                <a:gridCol w="6884312"/>
                <a:gridCol w="3159305"/>
                <a:gridCol w="3159305"/>
              </a:tblGrid>
              <a:tr h="1026795">
                <a:tc>
                  <a:txBody>
                    <a:bodyPr anchor="t" rtlCol="false"/>
                    <a:lstStyle/>
                    <a:p>
                      <a:pPr algn="ctr">
                        <a:lnSpc>
                          <a:spcPts val="3359"/>
                        </a:lnSpc>
                        <a:defRPr/>
                      </a:pPr>
                      <a:r>
                        <a:rPr lang="en-US" sz="2400" b="true">
                          <a:solidFill>
                            <a:srgbClr val="000000"/>
                          </a:solidFill>
                          <a:latin typeface="Canva Sans Bold"/>
                          <a:ea typeface="Canva Sans Bold"/>
                          <a:cs typeface="Canva Sans Bold"/>
                          <a:sym typeface="Canva Sans Bold"/>
                        </a:rPr>
                        <a:t>Họ và Tên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400" b="true">
                          <a:solidFill>
                            <a:srgbClr val="000000"/>
                          </a:solidFill>
                          <a:latin typeface="Canva Sans Bold"/>
                          <a:ea typeface="Canva Sans Bold"/>
                          <a:cs typeface="Canva Sans Bold"/>
                          <a:sym typeface="Canva Sans Bold"/>
                        </a:rPr>
                        <a:t>MSSV</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400" b="true">
                          <a:solidFill>
                            <a:srgbClr val="000000"/>
                          </a:solidFill>
                          <a:latin typeface="Canva Sans Bold"/>
                          <a:ea typeface="Canva Sans Bold"/>
                          <a:cs typeface="Canva Sans Bold"/>
                          <a:sym typeface="Canva Sans Bold"/>
                        </a:rPr>
                        <a:t>Chức Vụ</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940"/>
                        </a:lnSpc>
                        <a:defRPr/>
                      </a:pPr>
                      <a:r>
                        <a:rPr lang="en-US" sz="2100">
                          <a:solidFill>
                            <a:srgbClr val="000000"/>
                          </a:solidFill>
                          <a:latin typeface="Canva Sans"/>
                          <a:ea typeface="Canva Sans"/>
                          <a:cs typeface="Canva Sans"/>
                          <a:sym typeface="Canva Sans"/>
                        </a:rPr>
                        <a:t>Trịnh Quang Hiên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Canva Sans"/>
                          <a:ea typeface="Canva Sans"/>
                          <a:cs typeface="Canva Sans"/>
                          <a:sym typeface="Canva Sans"/>
                        </a:rPr>
                        <a:t>23632591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Canva Sans"/>
                          <a:ea typeface="Canva Sans"/>
                          <a:cs typeface="Canva Sans"/>
                          <a:sym typeface="Canva Sans"/>
                        </a:rPr>
                        <a:t>Nhóm Trưởng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940"/>
                        </a:lnSpc>
                        <a:defRPr/>
                      </a:pPr>
                      <a:r>
                        <a:rPr lang="en-US" sz="2100">
                          <a:solidFill>
                            <a:srgbClr val="000000"/>
                          </a:solidFill>
                          <a:latin typeface="Canva Sans"/>
                          <a:ea typeface="Canva Sans"/>
                          <a:cs typeface="Canva Sans"/>
                          <a:sym typeface="Canva Sans"/>
                        </a:rPr>
                        <a:t>Huỳnh Võ Tấn Hiên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marL="0" indent="0" lvl="0">
                        <a:lnSpc>
                          <a:spcPts val="2940"/>
                        </a:lnSpc>
                        <a:spcBef>
                          <a:spcPct val="0"/>
                        </a:spcBef>
                        <a:defRPr/>
                      </a:pPr>
                      <a:r>
                        <a:rPr lang="en-US" sz="2100" strike="noStrike" u="none">
                          <a:solidFill>
                            <a:srgbClr val="000000"/>
                          </a:solidFill>
                          <a:latin typeface="Canva Sans"/>
                          <a:ea typeface="Canva Sans"/>
                          <a:cs typeface="Canva Sans"/>
                          <a:sym typeface="Canva Sans"/>
                        </a:rPr>
                        <a:t>23642061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Canva Sans"/>
                          <a:ea typeface="Canva Sans"/>
                          <a:cs typeface="Canva Sans"/>
                          <a:sym typeface="Canva Sans"/>
                        </a:rPr>
                        <a:t>Thành viên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940"/>
                        </a:lnSpc>
                        <a:defRPr/>
                      </a:pPr>
                      <a:r>
                        <a:rPr lang="en-US" sz="2100">
                          <a:solidFill>
                            <a:srgbClr val="000000"/>
                          </a:solidFill>
                          <a:latin typeface="Canva Sans"/>
                          <a:ea typeface="Canva Sans"/>
                          <a:cs typeface="Canva Sans"/>
                          <a:sym typeface="Canva Sans"/>
                        </a:rPr>
                        <a:t>Nguyễn Hà Mạnh Khang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Canva Sans"/>
                          <a:ea typeface="Canva Sans"/>
                          <a:cs typeface="Canva Sans"/>
                          <a:sym typeface="Canva Sans"/>
                        </a:rPr>
                        <a:t>23634341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Canva Sans"/>
                          <a:ea typeface="Canva Sans"/>
                          <a:cs typeface="Canva Sans"/>
                          <a:sym typeface="Canva Sans"/>
                        </a:rPr>
                        <a:t>Thành viên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940"/>
                        </a:lnSpc>
                        <a:defRPr/>
                      </a:pPr>
                      <a:r>
                        <a:rPr lang="en-US" sz="2100">
                          <a:solidFill>
                            <a:srgbClr val="000000"/>
                          </a:solidFill>
                          <a:latin typeface="Canva Sans"/>
                          <a:ea typeface="Canva Sans"/>
                          <a:cs typeface="Canva Sans"/>
                          <a:sym typeface="Canva Sans"/>
                        </a:rPr>
                        <a:t>Võ Khương Duy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Canva Sans"/>
                          <a:ea typeface="Canva Sans"/>
                          <a:cs typeface="Canva Sans"/>
                          <a:sym typeface="Canva Sans"/>
                        </a:rPr>
                        <a:t>23646941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Canva Sans"/>
                          <a:ea typeface="Canva Sans"/>
                          <a:cs typeface="Canva Sans"/>
                          <a:sym typeface="Canva Sans"/>
                        </a:rPr>
                        <a:t>Thành viên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1967011" y="1363515"/>
            <a:ext cx="14353977" cy="962660"/>
          </a:xfrm>
          <a:prstGeom prst="rect">
            <a:avLst/>
          </a:prstGeom>
        </p:spPr>
        <p:txBody>
          <a:bodyPr anchor="t" rtlCol="false" tIns="0" lIns="0" bIns="0" rIns="0">
            <a:spAutoFit/>
          </a:bodyPr>
          <a:lstStyle/>
          <a:p>
            <a:pPr algn="ctr">
              <a:lnSpc>
                <a:spcPts val="7840"/>
              </a:lnSpc>
              <a:spcBef>
                <a:spcPct val="0"/>
              </a:spcBef>
            </a:pPr>
            <a:r>
              <a:rPr lang="en-US" b="true" sz="5600">
                <a:solidFill>
                  <a:srgbClr val="000000"/>
                </a:solidFill>
                <a:latin typeface="Canva Sans Bold"/>
                <a:ea typeface="Canva Sans Bold"/>
                <a:cs typeface="Canva Sans Bold"/>
                <a:sym typeface="Canva Sans Bold"/>
              </a:rPr>
              <a:t>CUSTOMER CHURN PREDICTION SYSTEM</a:t>
            </a:r>
          </a:p>
        </p:txBody>
      </p:sp>
      <p:sp>
        <p:nvSpPr>
          <p:cNvPr name="TextBox 5" id="5"/>
          <p:cNvSpPr txBox="true"/>
          <p:nvPr/>
        </p:nvSpPr>
        <p:spPr>
          <a:xfrm rot="0">
            <a:off x="1028700" y="2635768"/>
            <a:ext cx="3460750"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Canva Sans Bold"/>
                <a:ea typeface="Canva Sans Bold"/>
                <a:cs typeface="Canva Sans Bold"/>
                <a:sym typeface="Canva Sans Bold"/>
              </a:rPr>
              <a:t>I. Danh sách thành viên</a:t>
            </a:r>
          </a:p>
        </p:txBody>
      </p:sp>
      <p:sp>
        <p:nvSpPr>
          <p:cNvPr name="TextBox 6" id="6"/>
          <p:cNvSpPr txBox="true"/>
          <p:nvPr/>
        </p:nvSpPr>
        <p:spPr>
          <a:xfrm rot="0">
            <a:off x="1520229" y="9226867"/>
            <a:ext cx="16230600" cy="396240"/>
          </a:xfrm>
          <a:prstGeom prst="rect">
            <a:avLst/>
          </a:prstGeom>
        </p:spPr>
        <p:txBody>
          <a:bodyPr anchor="t" rtlCol="false" tIns="0" lIns="0" bIns="0" rIns="0">
            <a:spAutoFit/>
          </a:bodyPr>
          <a:lstStyle/>
          <a:p>
            <a:pPr algn="just">
              <a:lnSpc>
                <a:spcPts val="3359"/>
              </a:lnSpc>
              <a:spcBef>
                <a:spcPct val="0"/>
              </a:spcBef>
            </a:pPr>
            <a:r>
              <a:rPr lang="en-US" sz="2400" u="sng">
                <a:solidFill>
                  <a:srgbClr val="000000"/>
                </a:solidFill>
                <a:latin typeface="Canva Sans"/>
                <a:ea typeface="Canva Sans"/>
                <a:cs typeface="Canva Sans"/>
                <a:sym typeface="Canva Sans"/>
                <a:hlinkClick r:id="rId3" tooltip="https://github.com/hienpro0123/predict_customer_churn"/>
              </a:rPr>
              <a:t>GitHub Repository: https://github.com/hienpro0123/predict_customer_churn</a:t>
            </a:r>
          </a:p>
        </p:txBody>
      </p:sp>
      <p:sp>
        <p:nvSpPr>
          <p:cNvPr name="Freeform 7" id="7"/>
          <p:cNvSpPr/>
          <p:nvPr/>
        </p:nvSpPr>
        <p:spPr>
          <a:xfrm flipH="false" flipV="false" rot="0">
            <a:off x="751989" y="9149472"/>
            <a:ext cx="553422" cy="575796"/>
          </a:xfrm>
          <a:custGeom>
            <a:avLst/>
            <a:gdLst/>
            <a:ahLst/>
            <a:cxnLst/>
            <a:rect r="r" b="b" t="t" l="l"/>
            <a:pathLst>
              <a:path h="575796" w="553422">
                <a:moveTo>
                  <a:pt x="0" y="0"/>
                </a:moveTo>
                <a:lnTo>
                  <a:pt x="553422" y="0"/>
                </a:lnTo>
                <a:lnTo>
                  <a:pt x="553422" y="575796"/>
                </a:lnTo>
                <a:lnTo>
                  <a:pt x="0" y="575796"/>
                </a:lnTo>
                <a:lnTo>
                  <a:pt x="0" y="0"/>
                </a:lnTo>
                <a:close/>
              </a:path>
            </a:pathLst>
          </a:custGeom>
          <a:blipFill>
            <a:blip r:embed="rId4"/>
            <a:stretch>
              <a:fillRect l="-2021" t="0" r="-2021"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7442652" y="2685926"/>
            <a:ext cx="9522910" cy="5701842"/>
          </a:xfrm>
          <a:custGeom>
            <a:avLst/>
            <a:gdLst/>
            <a:ahLst/>
            <a:cxnLst/>
            <a:rect r="r" b="b" t="t" l="l"/>
            <a:pathLst>
              <a:path h="5701842" w="9522910">
                <a:moveTo>
                  <a:pt x="0" y="0"/>
                </a:moveTo>
                <a:lnTo>
                  <a:pt x="9522910" y="0"/>
                </a:lnTo>
                <a:lnTo>
                  <a:pt x="9522910" y="5701842"/>
                </a:lnTo>
                <a:lnTo>
                  <a:pt x="0" y="5701842"/>
                </a:lnTo>
                <a:lnTo>
                  <a:pt x="0" y="0"/>
                </a:lnTo>
                <a:close/>
              </a:path>
            </a:pathLst>
          </a:custGeom>
          <a:blipFill>
            <a:blip r:embed="rId3"/>
            <a:stretch>
              <a:fillRect l="0" t="0" r="0" b="0"/>
            </a:stretch>
          </a:blipFill>
        </p:spPr>
      </p:sp>
      <p:sp>
        <p:nvSpPr>
          <p:cNvPr name="TextBox 4" id="4"/>
          <p:cNvSpPr txBox="true"/>
          <p:nvPr/>
        </p:nvSpPr>
        <p:spPr>
          <a:xfrm rot="0">
            <a:off x="1028700" y="2407574"/>
            <a:ext cx="1661914"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Canva Sans Bold"/>
                <a:ea typeface="Canva Sans Bold"/>
                <a:cs typeface="Canva Sans Bold"/>
                <a:sym typeface="Canva Sans Bold"/>
              </a:rPr>
              <a:t>II. Mục tiêu</a:t>
            </a:r>
          </a:p>
        </p:txBody>
      </p:sp>
      <p:sp>
        <p:nvSpPr>
          <p:cNvPr name="TextBox 5" id="5"/>
          <p:cNvSpPr txBox="true"/>
          <p:nvPr/>
        </p:nvSpPr>
        <p:spPr>
          <a:xfrm rot="0">
            <a:off x="5042892" y="1771874"/>
            <a:ext cx="8202216"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Canva Sans Bold"/>
                <a:ea typeface="Canva Sans Bold"/>
                <a:cs typeface="Canva Sans Bold"/>
                <a:sym typeface="Canva Sans Bold"/>
              </a:rPr>
              <a:t>CUSTOMER CHURN PREDICTION SYSTEM</a:t>
            </a:r>
          </a:p>
        </p:txBody>
      </p:sp>
      <p:sp>
        <p:nvSpPr>
          <p:cNvPr name="TextBox 6" id="6"/>
          <p:cNvSpPr txBox="true"/>
          <p:nvPr/>
        </p:nvSpPr>
        <p:spPr>
          <a:xfrm rot="0">
            <a:off x="1028700" y="2993193"/>
            <a:ext cx="5419613" cy="4262514"/>
          </a:xfrm>
          <a:prstGeom prst="rect">
            <a:avLst/>
          </a:prstGeom>
        </p:spPr>
        <p:txBody>
          <a:bodyPr anchor="t" rtlCol="false" tIns="0" lIns="0" bIns="0" rIns="0">
            <a:spAutoFit/>
          </a:bodyPr>
          <a:lstStyle/>
          <a:p>
            <a:pPr algn="just">
              <a:lnSpc>
                <a:spcPts val="3408"/>
              </a:lnSpc>
              <a:spcBef>
                <a:spcPct val="0"/>
              </a:spcBef>
            </a:pPr>
            <a:r>
              <a:rPr lang="en-US" sz="2434">
                <a:solidFill>
                  <a:srgbClr val="000000"/>
                </a:solidFill>
                <a:latin typeface="Canva Sans"/>
                <a:ea typeface="Canva Sans"/>
                <a:cs typeface="Canva Sans"/>
                <a:sym typeface="Canva Sans"/>
              </a:rPr>
              <a:t>     </a:t>
            </a:r>
            <a:r>
              <a:rPr lang="en-US" sz="2434">
                <a:solidFill>
                  <a:srgbClr val="000000"/>
                </a:solidFill>
                <a:latin typeface="Canva Sans"/>
                <a:ea typeface="Canva Sans"/>
                <a:cs typeface="Canva Sans"/>
                <a:sym typeface="Canva Sans"/>
              </a:rPr>
              <a:t>Áp dụng giúp chuyển mô hình dự đoán khách hàng rời bỏ từ thử nghiệm sang hệ thống vận hành thực tế. Nhờ tự động hóa các bước xử lý dữ liệu, huấn luyện và triển khai, mô hình luôn được cập nhật và duy trì hiệu suất ổn định, hỗ trợ doanh nghiệp phát hiện sớm nguy cơ churn và tối ưu chiến lược giữ chân khách hàng.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2492450"/>
            <a:ext cx="4784130"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Canva Sans Bold"/>
                <a:ea typeface="Canva Sans Bold"/>
                <a:cs typeface="Canva Sans Bold"/>
                <a:sym typeface="Canva Sans Bold"/>
              </a:rPr>
              <a:t>III. Tổng quan kiến trúc hệ thống</a:t>
            </a:r>
          </a:p>
        </p:txBody>
      </p:sp>
      <p:sp>
        <p:nvSpPr>
          <p:cNvPr name="TextBox 4" id="4"/>
          <p:cNvSpPr txBox="true"/>
          <p:nvPr/>
        </p:nvSpPr>
        <p:spPr>
          <a:xfrm rot="0">
            <a:off x="5042892" y="1771874"/>
            <a:ext cx="8202216"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Canva Sans Bold"/>
                <a:ea typeface="Canva Sans Bold"/>
                <a:cs typeface="Canva Sans Bold"/>
                <a:sym typeface="Canva Sans Bold"/>
              </a:rPr>
              <a:t>CUSTOMER CHURN PREDICTION SYSTEM</a:t>
            </a:r>
          </a:p>
        </p:txBody>
      </p:sp>
      <p:sp>
        <p:nvSpPr>
          <p:cNvPr name="Freeform 5" id="5"/>
          <p:cNvSpPr/>
          <p:nvPr/>
        </p:nvSpPr>
        <p:spPr>
          <a:xfrm flipH="false" flipV="false" rot="0">
            <a:off x="3745668" y="3234035"/>
            <a:ext cx="10283225" cy="5941256"/>
          </a:xfrm>
          <a:custGeom>
            <a:avLst/>
            <a:gdLst/>
            <a:ahLst/>
            <a:cxnLst/>
            <a:rect r="r" b="b" t="t" l="l"/>
            <a:pathLst>
              <a:path h="5941256" w="10283225">
                <a:moveTo>
                  <a:pt x="0" y="0"/>
                </a:moveTo>
                <a:lnTo>
                  <a:pt x="10283224" y="0"/>
                </a:lnTo>
                <a:lnTo>
                  <a:pt x="10283224" y="5941256"/>
                </a:lnTo>
                <a:lnTo>
                  <a:pt x="0" y="5941256"/>
                </a:lnTo>
                <a:lnTo>
                  <a:pt x="0" y="0"/>
                </a:lnTo>
                <a:close/>
              </a:path>
            </a:pathLst>
          </a:custGeom>
          <a:blipFill>
            <a:blip r:embed="rId3"/>
            <a:stretch>
              <a:fillRect l="-1315" t="-3310" r="-1554" b="-3517"/>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52617" y="9442714"/>
            <a:ext cx="1002130" cy="1002130"/>
          </a:xfrm>
          <a:custGeom>
            <a:avLst/>
            <a:gdLst/>
            <a:ahLst/>
            <a:cxnLst/>
            <a:rect r="r" b="b" t="t" l="l"/>
            <a:pathLst>
              <a:path h="1002130" w="1002130">
                <a:moveTo>
                  <a:pt x="0" y="0"/>
                </a:moveTo>
                <a:lnTo>
                  <a:pt x="1002129" y="0"/>
                </a:lnTo>
                <a:lnTo>
                  <a:pt x="1002129" y="1002129"/>
                </a:lnTo>
                <a:lnTo>
                  <a:pt x="0" y="1002129"/>
                </a:lnTo>
                <a:lnTo>
                  <a:pt x="0" y="0"/>
                </a:lnTo>
                <a:close/>
              </a:path>
            </a:pathLst>
          </a:custGeom>
          <a:blipFill>
            <a:blip r:embed="rId3"/>
            <a:stretch>
              <a:fillRect l="0" t="0" r="0" b="0"/>
            </a:stretch>
          </a:blipFill>
        </p:spPr>
      </p:sp>
      <p:sp>
        <p:nvSpPr>
          <p:cNvPr name="Freeform 4" id="4"/>
          <p:cNvSpPr/>
          <p:nvPr/>
        </p:nvSpPr>
        <p:spPr>
          <a:xfrm flipH="false" flipV="false" rot="0">
            <a:off x="1035124" y="3515764"/>
            <a:ext cx="3174155" cy="2682187"/>
          </a:xfrm>
          <a:custGeom>
            <a:avLst/>
            <a:gdLst/>
            <a:ahLst/>
            <a:cxnLst/>
            <a:rect r="r" b="b" t="t" l="l"/>
            <a:pathLst>
              <a:path h="2682187" w="3174155">
                <a:moveTo>
                  <a:pt x="0" y="0"/>
                </a:moveTo>
                <a:lnTo>
                  <a:pt x="3174156" y="0"/>
                </a:lnTo>
                <a:lnTo>
                  <a:pt x="3174156" y="2682187"/>
                </a:lnTo>
                <a:lnTo>
                  <a:pt x="0" y="2682187"/>
                </a:lnTo>
                <a:lnTo>
                  <a:pt x="0" y="0"/>
                </a:lnTo>
                <a:close/>
              </a:path>
            </a:pathLst>
          </a:custGeom>
          <a:blipFill>
            <a:blip r:embed="rId4"/>
            <a:stretch>
              <a:fillRect l="-25657" t="0" r="-24565" b="0"/>
            </a:stretch>
          </a:blipFill>
        </p:spPr>
      </p:sp>
      <p:grpSp>
        <p:nvGrpSpPr>
          <p:cNvPr name="Group 5" id="5"/>
          <p:cNvGrpSpPr/>
          <p:nvPr/>
        </p:nvGrpSpPr>
        <p:grpSpPr>
          <a:xfrm rot="0">
            <a:off x="5488856" y="3687392"/>
            <a:ext cx="8810995" cy="4030854"/>
            <a:chOff x="0" y="0"/>
            <a:chExt cx="1787276" cy="817643"/>
          </a:xfrm>
        </p:grpSpPr>
        <p:sp>
          <p:nvSpPr>
            <p:cNvPr name="Freeform 6" id="6"/>
            <p:cNvSpPr/>
            <p:nvPr/>
          </p:nvSpPr>
          <p:spPr>
            <a:xfrm flipH="false" flipV="false" rot="0">
              <a:off x="0" y="0"/>
              <a:ext cx="1787276" cy="817643"/>
            </a:xfrm>
            <a:custGeom>
              <a:avLst/>
              <a:gdLst/>
              <a:ahLst/>
              <a:cxnLst/>
              <a:rect r="r" b="b" t="t" l="l"/>
              <a:pathLst>
                <a:path h="817643" w="1787276">
                  <a:moveTo>
                    <a:pt x="14937" y="0"/>
                  </a:moveTo>
                  <a:lnTo>
                    <a:pt x="1772339" y="0"/>
                  </a:lnTo>
                  <a:cubicBezTo>
                    <a:pt x="1780589" y="0"/>
                    <a:pt x="1787276" y="6688"/>
                    <a:pt x="1787276" y="14937"/>
                  </a:cubicBezTo>
                  <a:lnTo>
                    <a:pt x="1787276" y="802706"/>
                  </a:lnTo>
                  <a:cubicBezTo>
                    <a:pt x="1787276" y="806667"/>
                    <a:pt x="1785702" y="810467"/>
                    <a:pt x="1782901" y="813268"/>
                  </a:cubicBezTo>
                  <a:cubicBezTo>
                    <a:pt x="1780100" y="816069"/>
                    <a:pt x="1776300" y="817643"/>
                    <a:pt x="1772339" y="817643"/>
                  </a:cubicBezTo>
                  <a:lnTo>
                    <a:pt x="14937" y="817643"/>
                  </a:lnTo>
                  <a:cubicBezTo>
                    <a:pt x="10976" y="817643"/>
                    <a:pt x="7176" y="816069"/>
                    <a:pt x="4375" y="813268"/>
                  </a:cubicBezTo>
                  <a:cubicBezTo>
                    <a:pt x="1574" y="810467"/>
                    <a:pt x="0" y="806667"/>
                    <a:pt x="0" y="802706"/>
                  </a:cubicBezTo>
                  <a:lnTo>
                    <a:pt x="0" y="14937"/>
                  </a:lnTo>
                  <a:cubicBezTo>
                    <a:pt x="0" y="10976"/>
                    <a:pt x="1574" y="7176"/>
                    <a:pt x="4375" y="4375"/>
                  </a:cubicBezTo>
                  <a:cubicBezTo>
                    <a:pt x="7176" y="1574"/>
                    <a:pt x="10976" y="0"/>
                    <a:pt x="14937" y="0"/>
                  </a:cubicBezTo>
                  <a:close/>
                </a:path>
              </a:pathLst>
            </a:custGeom>
            <a:solidFill>
              <a:srgbClr val="1F3A5F"/>
            </a:solidFill>
          </p:spPr>
        </p:sp>
        <p:sp>
          <p:nvSpPr>
            <p:cNvPr name="TextBox 7" id="7"/>
            <p:cNvSpPr txBox="true"/>
            <p:nvPr/>
          </p:nvSpPr>
          <p:spPr>
            <a:xfrm>
              <a:off x="0" y="-38100"/>
              <a:ext cx="1787276" cy="855743"/>
            </a:xfrm>
            <a:prstGeom prst="rect">
              <a:avLst/>
            </a:prstGeom>
          </p:spPr>
          <p:txBody>
            <a:bodyPr anchor="ctr" rtlCol="false" tIns="66318" lIns="66318" bIns="66318" rIns="66318"/>
            <a:lstStyle/>
            <a:p>
              <a:pPr algn="ctr">
                <a:lnSpc>
                  <a:spcPts val="3359"/>
                </a:lnSpc>
              </a:pPr>
            </a:p>
          </p:txBody>
        </p:sp>
      </p:grpSp>
      <p:sp>
        <p:nvSpPr>
          <p:cNvPr name="Freeform 8" id="8"/>
          <p:cNvSpPr/>
          <p:nvPr/>
        </p:nvSpPr>
        <p:spPr>
          <a:xfrm flipH="false" flipV="false" rot="0">
            <a:off x="5567324" y="3737738"/>
            <a:ext cx="8654059" cy="3894327"/>
          </a:xfrm>
          <a:custGeom>
            <a:avLst/>
            <a:gdLst/>
            <a:ahLst/>
            <a:cxnLst/>
            <a:rect r="r" b="b" t="t" l="l"/>
            <a:pathLst>
              <a:path h="3894327" w="8654059">
                <a:moveTo>
                  <a:pt x="0" y="0"/>
                </a:moveTo>
                <a:lnTo>
                  <a:pt x="8654059" y="0"/>
                </a:lnTo>
                <a:lnTo>
                  <a:pt x="8654059" y="3894327"/>
                </a:lnTo>
                <a:lnTo>
                  <a:pt x="0" y="3894327"/>
                </a:lnTo>
                <a:lnTo>
                  <a:pt x="0" y="0"/>
                </a:lnTo>
                <a:close/>
              </a:path>
            </a:pathLst>
          </a:custGeom>
          <a:blipFill>
            <a:blip r:embed="rId5"/>
            <a:stretch>
              <a:fillRect l="0" t="0" r="0" b="0"/>
            </a:stretch>
          </a:blipFill>
        </p:spPr>
      </p:sp>
      <p:sp>
        <p:nvSpPr>
          <p:cNvPr name="Freeform 9" id="9"/>
          <p:cNvSpPr/>
          <p:nvPr/>
        </p:nvSpPr>
        <p:spPr>
          <a:xfrm flipH="false" flipV="false" rot="0">
            <a:off x="953681" y="6197951"/>
            <a:ext cx="3337041" cy="2773583"/>
          </a:xfrm>
          <a:custGeom>
            <a:avLst/>
            <a:gdLst/>
            <a:ahLst/>
            <a:cxnLst/>
            <a:rect r="r" b="b" t="t" l="l"/>
            <a:pathLst>
              <a:path h="2773583" w="3337041">
                <a:moveTo>
                  <a:pt x="0" y="0"/>
                </a:moveTo>
                <a:lnTo>
                  <a:pt x="3337042" y="0"/>
                </a:lnTo>
                <a:lnTo>
                  <a:pt x="3337042" y="2773583"/>
                </a:lnTo>
                <a:lnTo>
                  <a:pt x="0" y="2773583"/>
                </a:lnTo>
                <a:lnTo>
                  <a:pt x="0" y="0"/>
                </a:lnTo>
                <a:close/>
              </a:path>
            </a:pathLst>
          </a:custGeom>
          <a:blipFill>
            <a:blip r:embed="rId6"/>
            <a:stretch>
              <a:fillRect l="0" t="0" r="0" b="-20315"/>
            </a:stretch>
          </a:blipFill>
        </p:spPr>
      </p:sp>
      <p:sp>
        <p:nvSpPr>
          <p:cNvPr name="TextBox 10" id="10"/>
          <p:cNvSpPr txBox="true"/>
          <p:nvPr/>
        </p:nvSpPr>
        <p:spPr>
          <a:xfrm rot="0">
            <a:off x="953681" y="2271619"/>
            <a:ext cx="3641527"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Canva Sans Bold"/>
                <a:ea typeface="Canva Sans Bold"/>
                <a:cs typeface="Canva Sans Bold"/>
                <a:sym typeface="Canva Sans Bold"/>
              </a:rPr>
              <a:t>IV. Đóng gói và triển khai</a:t>
            </a:r>
          </a:p>
        </p:txBody>
      </p:sp>
      <p:sp>
        <p:nvSpPr>
          <p:cNvPr name="TextBox 11" id="11"/>
          <p:cNvSpPr txBox="true"/>
          <p:nvPr/>
        </p:nvSpPr>
        <p:spPr>
          <a:xfrm rot="0">
            <a:off x="5042892" y="1771874"/>
            <a:ext cx="8202216"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Canva Sans Bold"/>
                <a:ea typeface="Canva Sans Bold"/>
                <a:cs typeface="Canva Sans Bold"/>
                <a:sym typeface="Canva Sans Bold"/>
              </a:rPr>
              <a:t>CUSTOMER CHURN PREDICTION SYSTEM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2492450"/>
            <a:ext cx="5071269"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Canva Sans Bold"/>
                <a:ea typeface="Canva Sans Bold"/>
                <a:cs typeface="Canva Sans Bold"/>
                <a:sym typeface="Canva Sans Bold"/>
              </a:rPr>
              <a:t>V. Huấn luyện mô hình và đánh giá</a:t>
            </a:r>
          </a:p>
        </p:txBody>
      </p:sp>
      <p:sp>
        <p:nvSpPr>
          <p:cNvPr name="TextBox 4" id="4"/>
          <p:cNvSpPr txBox="true"/>
          <p:nvPr/>
        </p:nvSpPr>
        <p:spPr>
          <a:xfrm rot="0">
            <a:off x="5042892" y="1771874"/>
            <a:ext cx="8202216"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Canva Sans Bold"/>
                <a:ea typeface="Canva Sans Bold"/>
                <a:cs typeface="Canva Sans Bold"/>
                <a:sym typeface="Canva Sans Bold"/>
              </a:rPr>
              <a:t>CUSTOMER CHURN PREDICTION SYSTEM</a:t>
            </a:r>
          </a:p>
        </p:txBody>
      </p:sp>
      <p:sp>
        <p:nvSpPr>
          <p:cNvPr name="TextBox 5" id="5"/>
          <p:cNvSpPr txBox="true"/>
          <p:nvPr/>
        </p:nvSpPr>
        <p:spPr>
          <a:xfrm rot="0">
            <a:off x="1304925" y="2891501"/>
            <a:ext cx="9697635" cy="264159"/>
          </a:xfrm>
          <a:prstGeom prst="rect">
            <a:avLst/>
          </a:prstGeom>
        </p:spPr>
        <p:txBody>
          <a:bodyPr anchor="t" rtlCol="false" tIns="0" lIns="0" bIns="0" rIns="0">
            <a:spAutoFit/>
          </a:bodyPr>
          <a:lstStyle/>
          <a:p>
            <a:pPr algn="just">
              <a:lnSpc>
                <a:spcPts val="2240"/>
              </a:lnSpc>
              <a:spcBef>
                <a:spcPct val="0"/>
              </a:spcBef>
            </a:pPr>
            <a:r>
              <a:rPr lang="en-US" sz="1600">
                <a:solidFill>
                  <a:srgbClr val="000000"/>
                </a:solidFill>
                <a:latin typeface="Canva Sans"/>
                <a:ea typeface="Canva Sans"/>
                <a:cs typeface="Canva Sans"/>
                <a:sym typeface="Canva Sans"/>
              </a:rPr>
              <a:t>Quá trình so sánh các mô</a:t>
            </a:r>
            <a:r>
              <a:rPr lang="en-US" sz="1600">
                <a:solidFill>
                  <a:srgbClr val="000000"/>
                </a:solidFill>
                <a:latin typeface="Canva Sans"/>
                <a:ea typeface="Canva Sans"/>
                <a:cs typeface="Canva Sans"/>
                <a:sym typeface="Canva Sans"/>
              </a:rPr>
              <a:t> hình thông qua 5-Fold Cross Validation trên tập dữ liệu:</a:t>
            </a:r>
          </a:p>
        </p:txBody>
      </p:sp>
      <p:sp>
        <p:nvSpPr>
          <p:cNvPr name="Freeform 6" id="6"/>
          <p:cNvSpPr/>
          <p:nvPr/>
        </p:nvSpPr>
        <p:spPr>
          <a:xfrm flipH="false" flipV="false" rot="0">
            <a:off x="3632936" y="3250275"/>
            <a:ext cx="9765255" cy="5930088"/>
          </a:xfrm>
          <a:custGeom>
            <a:avLst/>
            <a:gdLst/>
            <a:ahLst/>
            <a:cxnLst/>
            <a:rect r="r" b="b" t="t" l="l"/>
            <a:pathLst>
              <a:path h="5930088" w="9765255">
                <a:moveTo>
                  <a:pt x="0" y="0"/>
                </a:moveTo>
                <a:lnTo>
                  <a:pt x="9765255" y="0"/>
                </a:lnTo>
                <a:lnTo>
                  <a:pt x="9765255" y="5930088"/>
                </a:lnTo>
                <a:lnTo>
                  <a:pt x="0" y="5930088"/>
                </a:lnTo>
                <a:lnTo>
                  <a:pt x="0" y="0"/>
                </a:lnTo>
                <a:close/>
              </a:path>
            </a:pathLst>
          </a:custGeom>
          <a:blipFill>
            <a:blip r:embed="rId3"/>
            <a:stretch>
              <a:fillRect l="-4616" t="-7534" r="-5715" b="-1478"/>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2492450"/>
            <a:ext cx="9193411"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Canva Sans Bold"/>
                <a:ea typeface="Canva Sans Bold"/>
                <a:cs typeface="Canva Sans Bold"/>
                <a:sym typeface="Canva Sans Bold"/>
              </a:rPr>
              <a:t>VI. Các yếu tố ảnh hưởng và phân loại rủi ro rời bỏ khách hàng</a:t>
            </a:r>
          </a:p>
        </p:txBody>
      </p:sp>
      <p:sp>
        <p:nvSpPr>
          <p:cNvPr name="TextBox 4" id="4"/>
          <p:cNvSpPr txBox="true"/>
          <p:nvPr/>
        </p:nvSpPr>
        <p:spPr>
          <a:xfrm rot="0">
            <a:off x="5042892" y="1771874"/>
            <a:ext cx="8202216"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Canva Sans Bold"/>
                <a:ea typeface="Canva Sans Bold"/>
                <a:cs typeface="Canva Sans Bold"/>
                <a:sym typeface="Canva Sans Bold"/>
              </a:rPr>
              <a:t>CUSTOMER CHURN PREDICTION SYSTEM</a:t>
            </a:r>
          </a:p>
        </p:txBody>
      </p:sp>
      <p:sp>
        <p:nvSpPr>
          <p:cNvPr name="Freeform 5" id="5"/>
          <p:cNvSpPr/>
          <p:nvPr/>
        </p:nvSpPr>
        <p:spPr>
          <a:xfrm flipH="false" flipV="false" rot="0">
            <a:off x="2483938" y="3467600"/>
            <a:ext cx="13320124" cy="5507865"/>
          </a:xfrm>
          <a:custGeom>
            <a:avLst/>
            <a:gdLst/>
            <a:ahLst/>
            <a:cxnLst/>
            <a:rect r="r" b="b" t="t" l="l"/>
            <a:pathLst>
              <a:path h="5507865" w="13320124">
                <a:moveTo>
                  <a:pt x="0" y="0"/>
                </a:moveTo>
                <a:lnTo>
                  <a:pt x="13320124" y="0"/>
                </a:lnTo>
                <a:lnTo>
                  <a:pt x="13320124" y="5507865"/>
                </a:lnTo>
                <a:lnTo>
                  <a:pt x="0" y="5507865"/>
                </a:lnTo>
                <a:lnTo>
                  <a:pt x="0" y="0"/>
                </a:lnTo>
                <a:close/>
              </a:path>
            </a:pathLst>
          </a:custGeom>
          <a:blipFill>
            <a:blip r:embed="rId3"/>
            <a:stretch>
              <a:fillRect l="0" t="0" r="0" b="-3688"/>
            </a:stretch>
          </a:blipFill>
        </p:spPr>
      </p:sp>
      <p:sp>
        <p:nvSpPr>
          <p:cNvPr name="TextBox 6" id="6"/>
          <p:cNvSpPr txBox="true"/>
          <p:nvPr/>
        </p:nvSpPr>
        <p:spPr>
          <a:xfrm rot="0">
            <a:off x="1189299" y="2947236"/>
            <a:ext cx="6966944" cy="264160"/>
          </a:xfrm>
          <a:prstGeom prst="rect">
            <a:avLst/>
          </a:prstGeom>
        </p:spPr>
        <p:txBody>
          <a:bodyPr anchor="t" rtlCol="false" tIns="0" lIns="0" bIns="0" rIns="0">
            <a:spAutoFit/>
          </a:bodyPr>
          <a:lstStyle/>
          <a:p>
            <a:pPr algn="just">
              <a:lnSpc>
                <a:spcPts val="2239"/>
              </a:lnSpc>
            </a:pPr>
            <a:r>
              <a:rPr lang="en-US" sz="1599">
                <a:solidFill>
                  <a:srgbClr val="000000"/>
                </a:solidFill>
                <a:latin typeface="Canva Sans"/>
                <a:ea typeface="Canva Sans"/>
                <a:cs typeface="Canva Sans"/>
                <a:sym typeface="Canva Sans"/>
              </a:rPr>
              <a:t>Phân</a:t>
            </a:r>
            <a:r>
              <a:rPr lang="en-US" sz="1599">
                <a:solidFill>
                  <a:srgbClr val="000000"/>
                </a:solidFill>
                <a:latin typeface="Canva Sans"/>
                <a:ea typeface="Canva Sans"/>
                <a:cs typeface="Canva Sans"/>
                <a:sym typeface="Canva Sans"/>
              </a:rPr>
              <a:t> loại rủi ro và trích xuất tác nhân rời mạng dựa trên logic nghiệp vụ</a:t>
            </a:r>
          </a:p>
        </p:txBody>
      </p:sp>
      <p:grpSp>
        <p:nvGrpSpPr>
          <p:cNvPr name="Group 7" id="7"/>
          <p:cNvGrpSpPr/>
          <p:nvPr/>
        </p:nvGrpSpPr>
        <p:grpSpPr>
          <a:xfrm rot="0">
            <a:off x="10794395" y="4853827"/>
            <a:ext cx="1264721" cy="270929"/>
            <a:chOff x="0" y="0"/>
            <a:chExt cx="333095" cy="71356"/>
          </a:xfrm>
        </p:grpSpPr>
        <p:sp>
          <p:nvSpPr>
            <p:cNvPr name="Freeform 8" id="8"/>
            <p:cNvSpPr/>
            <p:nvPr/>
          </p:nvSpPr>
          <p:spPr>
            <a:xfrm flipH="false" flipV="false" rot="0">
              <a:off x="0" y="0"/>
              <a:ext cx="333095" cy="71356"/>
            </a:xfrm>
            <a:custGeom>
              <a:avLst/>
              <a:gdLst/>
              <a:ahLst/>
              <a:cxnLst/>
              <a:rect r="r" b="b" t="t" l="l"/>
              <a:pathLst>
                <a:path h="71356" w="333095">
                  <a:moveTo>
                    <a:pt x="0" y="0"/>
                  </a:moveTo>
                  <a:lnTo>
                    <a:pt x="333095" y="0"/>
                  </a:lnTo>
                  <a:lnTo>
                    <a:pt x="333095" y="71356"/>
                  </a:lnTo>
                  <a:lnTo>
                    <a:pt x="0" y="71356"/>
                  </a:lnTo>
                  <a:close/>
                </a:path>
              </a:pathLst>
            </a:custGeom>
            <a:solidFill>
              <a:srgbClr val="FFFFFF"/>
            </a:solidFill>
          </p:spPr>
        </p:sp>
        <p:sp>
          <p:nvSpPr>
            <p:cNvPr name="TextBox 9" id="9"/>
            <p:cNvSpPr txBox="true"/>
            <p:nvPr/>
          </p:nvSpPr>
          <p:spPr>
            <a:xfrm>
              <a:off x="0" y="-38100"/>
              <a:ext cx="333095" cy="109456"/>
            </a:xfrm>
            <a:prstGeom prst="rect">
              <a:avLst/>
            </a:prstGeom>
          </p:spPr>
          <p:txBody>
            <a:bodyPr anchor="ctr" rtlCol="false" tIns="50800" lIns="50800" bIns="50800" rIns="50800"/>
            <a:lstStyle/>
            <a:p>
              <a:pPr algn="just">
                <a:lnSpc>
                  <a:spcPts val="1400"/>
                </a:lnSpc>
              </a:pPr>
              <a:r>
                <a:rPr lang="en-US" sz="1000">
                  <a:solidFill>
                    <a:srgbClr val="000000"/>
                  </a:solidFill>
                  <a:latin typeface="Times New Roman"/>
                  <a:ea typeface="Times New Roman"/>
                  <a:cs typeface="Times New Roman"/>
                  <a:sym typeface="Times New Roman"/>
                </a:rPr>
                <a:t>Trễ hạn thanh toán</a:t>
              </a:r>
            </a:p>
          </p:txBody>
        </p:sp>
      </p:grpSp>
      <p:grpSp>
        <p:nvGrpSpPr>
          <p:cNvPr name="Group 10" id="10"/>
          <p:cNvGrpSpPr/>
          <p:nvPr/>
        </p:nvGrpSpPr>
        <p:grpSpPr>
          <a:xfrm rot="0">
            <a:off x="10794395" y="5667919"/>
            <a:ext cx="1578065" cy="270929"/>
            <a:chOff x="0" y="0"/>
            <a:chExt cx="415622" cy="71356"/>
          </a:xfrm>
        </p:grpSpPr>
        <p:sp>
          <p:nvSpPr>
            <p:cNvPr name="Freeform 11" id="11"/>
            <p:cNvSpPr/>
            <p:nvPr/>
          </p:nvSpPr>
          <p:spPr>
            <a:xfrm flipH="false" flipV="false" rot="0">
              <a:off x="0" y="0"/>
              <a:ext cx="415622" cy="71356"/>
            </a:xfrm>
            <a:custGeom>
              <a:avLst/>
              <a:gdLst/>
              <a:ahLst/>
              <a:cxnLst/>
              <a:rect r="r" b="b" t="t" l="l"/>
              <a:pathLst>
                <a:path h="71356" w="415622">
                  <a:moveTo>
                    <a:pt x="0" y="0"/>
                  </a:moveTo>
                  <a:lnTo>
                    <a:pt x="415622" y="0"/>
                  </a:lnTo>
                  <a:lnTo>
                    <a:pt x="415622" y="71356"/>
                  </a:lnTo>
                  <a:lnTo>
                    <a:pt x="0" y="71356"/>
                  </a:lnTo>
                  <a:close/>
                </a:path>
              </a:pathLst>
            </a:custGeom>
            <a:solidFill>
              <a:srgbClr val="FFFFFF"/>
            </a:solidFill>
          </p:spPr>
        </p:sp>
        <p:sp>
          <p:nvSpPr>
            <p:cNvPr name="TextBox 12" id="12"/>
            <p:cNvSpPr txBox="true"/>
            <p:nvPr/>
          </p:nvSpPr>
          <p:spPr>
            <a:xfrm>
              <a:off x="0" y="-38100"/>
              <a:ext cx="415622" cy="109456"/>
            </a:xfrm>
            <a:prstGeom prst="rect">
              <a:avLst/>
            </a:prstGeom>
          </p:spPr>
          <p:txBody>
            <a:bodyPr anchor="ctr" rtlCol="false" tIns="50800" lIns="50800" bIns="50800" rIns="50800"/>
            <a:lstStyle/>
            <a:p>
              <a:pPr algn="just">
                <a:lnSpc>
                  <a:spcPts val="1400"/>
                </a:lnSpc>
              </a:pPr>
              <a:r>
                <a:rPr lang="en-US" sz="1000">
                  <a:solidFill>
                    <a:srgbClr val="000000"/>
                  </a:solidFill>
                  <a:latin typeface="Times New Roman"/>
                  <a:ea typeface="Times New Roman"/>
                  <a:cs typeface="Times New Roman"/>
                  <a:sym typeface="Times New Roman"/>
                </a:rPr>
                <a:t>Yêu cầu hỗ trợ</a:t>
              </a:r>
            </a:p>
          </p:txBody>
        </p:sp>
      </p:grpSp>
      <p:grpSp>
        <p:nvGrpSpPr>
          <p:cNvPr name="Group 13" id="13"/>
          <p:cNvGrpSpPr/>
          <p:nvPr/>
        </p:nvGrpSpPr>
        <p:grpSpPr>
          <a:xfrm rot="0">
            <a:off x="10794395" y="6482012"/>
            <a:ext cx="1264721" cy="270929"/>
            <a:chOff x="0" y="0"/>
            <a:chExt cx="333095" cy="71356"/>
          </a:xfrm>
        </p:grpSpPr>
        <p:sp>
          <p:nvSpPr>
            <p:cNvPr name="Freeform 14" id="14"/>
            <p:cNvSpPr/>
            <p:nvPr/>
          </p:nvSpPr>
          <p:spPr>
            <a:xfrm flipH="false" flipV="false" rot="0">
              <a:off x="0" y="0"/>
              <a:ext cx="333095" cy="71356"/>
            </a:xfrm>
            <a:custGeom>
              <a:avLst/>
              <a:gdLst/>
              <a:ahLst/>
              <a:cxnLst/>
              <a:rect r="r" b="b" t="t" l="l"/>
              <a:pathLst>
                <a:path h="71356" w="333095">
                  <a:moveTo>
                    <a:pt x="0" y="0"/>
                  </a:moveTo>
                  <a:lnTo>
                    <a:pt x="333095" y="0"/>
                  </a:lnTo>
                  <a:lnTo>
                    <a:pt x="333095" y="71356"/>
                  </a:lnTo>
                  <a:lnTo>
                    <a:pt x="0" y="71356"/>
                  </a:lnTo>
                  <a:close/>
                </a:path>
              </a:pathLst>
            </a:custGeom>
            <a:solidFill>
              <a:srgbClr val="FFFFFF"/>
            </a:solidFill>
          </p:spPr>
        </p:sp>
        <p:sp>
          <p:nvSpPr>
            <p:cNvPr name="TextBox 15" id="15"/>
            <p:cNvSpPr txBox="true"/>
            <p:nvPr/>
          </p:nvSpPr>
          <p:spPr>
            <a:xfrm>
              <a:off x="0" y="-38100"/>
              <a:ext cx="333095" cy="109456"/>
            </a:xfrm>
            <a:prstGeom prst="rect">
              <a:avLst/>
            </a:prstGeom>
          </p:spPr>
          <p:txBody>
            <a:bodyPr anchor="ctr" rtlCol="false" tIns="50800" lIns="50800" bIns="50800" rIns="50800"/>
            <a:lstStyle/>
            <a:p>
              <a:pPr algn="just">
                <a:lnSpc>
                  <a:spcPts val="1400"/>
                </a:lnSpc>
              </a:pPr>
              <a:r>
                <a:rPr lang="en-US" sz="1000">
                  <a:solidFill>
                    <a:srgbClr val="000000"/>
                  </a:solidFill>
                  <a:latin typeface="Times New Roman"/>
                  <a:ea typeface="Times New Roman"/>
                  <a:cs typeface="Times New Roman"/>
                  <a:sym typeface="Times New Roman"/>
                </a:rPr>
                <a:t>Tương tác cuối</a:t>
              </a:r>
            </a:p>
          </p:txBody>
        </p:sp>
      </p:grpSp>
      <p:grpSp>
        <p:nvGrpSpPr>
          <p:cNvPr name="Group 16" id="16"/>
          <p:cNvGrpSpPr/>
          <p:nvPr/>
        </p:nvGrpSpPr>
        <p:grpSpPr>
          <a:xfrm rot="0">
            <a:off x="10794395" y="7295866"/>
            <a:ext cx="1264721" cy="270929"/>
            <a:chOff x="0" y="0"/>
            <a:chExt cx="333095" cy="71356"/>
          </a:xfrm>
        </p:grpSpPr>
        <p:sp>
          <p:nvSpPr>
            <p:cNvPr name="Freeform 17" id="17"/>
            <p:cNvSpPr/>
            <p:nvPr/>
          </p:nvSpPr>
          <p:spPr>
            <a:xfrm flipH="false" flipV="false" rot="0">
              <a:off x="0" y="0"/>
              <a:ext cx="333095" cy="71356"/>
            </a:xfrm>
            <a:custGeom>
              <a:avLst/>
              <a:gdLst/>
              <a:ahLst/>
              <a:cxnLst/>
              <a:rect r="r" b="b" t="t" l="l"/>
              <a:pathLst>
                <a:path h="71356" w="333095">
                  <a:moveTo>
                    <a:pt x="0" y="0"/>
                  </a:moveTo>
                  <a:lnTo>
                    <a:pt x="333095" y="0"/>
                  </a:lnTo>
                  <a:lnTo>
                    <a:pt x="333095" y="71356"/>
                  </a:lnTo>
                  <a:lnTo>
                    <a:pt x="0" y="71356"/>
                  </a:lnTo>
                  <a:close/>
                </a:path>
              </a:pathLst>
            </a:custGeom>
            <a:solidFill>
              <a:srgbClr val="FFFFFF"/>
            </a:solidFill>
          </p:spPr>
        </p:sp>
        <p:sp>
          <p:nvSpPr>
            <p:cNvPr name="TextBox 18" id="18"/>
            <p:cNvSpPr txBox="true"/>
            <p:nvPr/>
          </p:nvSpPr>
          <p:spPr>
            <a:xfrm>
              <a:off x="0" y="-38100"/>
              <a:ext cx="333095" cy="109456"/>
            </a:xfrm>
            <a:prstGeom prst="rect">
              <a:avLst/>
            </a:prstGeom>
          </p:spPr>
          <p:txBody>
            <a:bodyPr anchor="ctr" rtlCol="false" tIns="50800" lIns="50800" bIns="50800" rIns="50800"/>
            <a:lstStyle/>
            <a:p>
              <a:pPr algn="just">
                <a:lnSpc>
                  <a:spcPts val="1400"/>
                </a:lnSpc>
              </a:pPr>
              <a:r>
                <a:rPr lang="en-US" sz="1000">
                  <a:solidFill>
                    <a:srgbClr val="000000"/>
                  </a:solidFill>
                  <a:latin typeface="Times New Roman"/>
                  <a:ea typeface="Times New Roman"/>
                  <a:cs typeface="Times New Roman"/>
                  <a:sym typeface="Times New Roman"/>
                </a:rPr>
                <a:t>Tần suất sử dụng</a:t>
              </a:r>
            </a:p>
          </p:txBody>
        </p:sp>
      </p:grpSp>
      <p:grpSp>
        <p:nvGrpSpPr>
          <p:cNvPr name="Group 19" id="19"/>
          <p:cNvGrpSpPr/>
          <p:nvPr/>
        </p:nvGrpSpPr>
        <p:grpSpPr>
          <a:xfrm rot="0">
            <a:off x="10794395" y="8162563"/>
            <a:ext cx="1264721" cy="270929"/>
            <a:chOff x="0" y="0"/>
            <a:chExt cx="333095" cy="71356"/>
          </a:xfrm>
        </p:grpSpPr>
        <p:sp>
          <p:nvSpPr>
            <p:cNvPr name="Freeform 20" id="20"/>
            <p:cNvSpPr/>
            <p:nvPr/>
          </p:nvSpPr>
          <p:spPr>
            <a:xfrm flipH="false" flipV="false" rot="0">
              <a:off x="0" y="0"/>
              <a:ext cx="333095" cy="71356"/>
            </a:xfrm>
            <a:custGeom>
              <a:avLst/>
              <a:gdLst/>
              <a:ahLst/>
              <a:cxnLst/>
              <a:rect r="r" b="b" t="t" l="l"/>
              <a:pathLst>
                <a:path h="71356" w="333095">
                  <a:moveTo>
                    <a:pt x="0" y="0"/>
                  </a:moveTo>
                  <a:lnTo>
                    <a:pt x="333095" y="0"/>
                  </a:lnTo>
                  <a:lnTo>
                    <a:pt x="333095" y="71356"/>
                  </a:lnTo>
                  <a:lnTo>
                    <a:pt x="0" y="71356"/>
                  </a:lnTo>
                  <a:close/>
                </a:path>
              </a:pathLst>
            </a:custGeom>
            <a:solidFill>
              <a:srgbClr val="FFFFFF"/>
            </a:solidFill>
          </p:spPr>
        </p:sp>
        <p:sp>
          <p:nvSpPr>
            <p:cNvPr name="TextBox 21" id="21"/>
            <p:cNvSpPr txBox="true"/>
            <p:nvPr/>
          </p:nvSpPr>
          <p:spPr>
            <a:xfrm>
              <a:off x="0" y="-38100"/>
              <a:ext cx="333095" cy="109456"/>
            </a:xfrm>
            <a:prstGeom prst="rect">
              <a:avLst/>
            </a:prstGeom>
          </p:spPr>
          <p:txBody>
            <a:bodyPr anchor="ctr" rtlCol="false" tIns="50800" lIns="50800" bIns="50800" rIns="50800"/>
            <a:lstStyle/>
            <a:p>
              <a:pPr algn="just">
                <a:lnSpc>
                  <a:spcPts val="1400"/>
                </a:lnSpc>
              </a:pPr>
              <a:r>
                <a:rPr lang="en-US" sz="1000">
                  <a:solidFill>
                    <a:srgbClr val="000000"/>
                  </a:solidFill>
                  <a:latin typeface="Times New Roman"/>
                  <a:ea typeface="Times New Roman"/>
                  <a:cs typeface="Times New Roman"/>
                  <a:sym typeface="Times New Roman"/>
                </a:rPr>
                <a:t>Thời gian gắn bó</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7892324" y="2664147"/>
            <a:ext cx="7443524" cy="5825403"/>
          </a:xfrm>
          <a:custGeom>
            <a:avLst/>
            <a:gdLst/>
            <a:ahLst/>
            <a:cxnLst/>
            <a:rect r="r" b="b" t="t" l="l"/>
            <a:pathLst>
              <a:path h="5825403" w="7443524">
                <a:moveTo>
                  <a:pt x="0" y="0"/>
                </a:moveTo>
                <a:lnTo>
                  <a:pt x="7443524" y="0"/>
                </a:lnTo>
                <a:lnTo>
                  <a:pt x="7443524" y="5825403"/>
                </a:lnTo>
                <a:lnTo>
                  <a:pt x="0" y="5825403"/>
                </a:lnTo>
                <a:lnTo>
                  <a:pt x="0" y="0"/>
                </a:lnTo>
                <a:close/>
              </a:path>
            </a:pathLst>
          </a:custGeom>
          <a:blipFill>
            <a:blip r:embed="rId3"/>
            <a:stretch>
              <a:fillRect l="-8956" t="0" r="-8508" b="0"/>
            </a:stretch>
          </a:blipFill>
        </p:spPr>
      </p:sp>
      <p:sp>
        <p:nvSpPr>
          <p:cNvPr name="TextBox 4" id="4"/>
          <p:cNvSpPr txBox="true"/>
          <p:nvPr/>
        </p:nvSpPr>
        <p:spPr>
          <a:xfrm rot="0">
            <a:off x="1028700" y="2492450"/>
            <a:ext cx="4726384"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Canva Sans Bold"/>
                <a:ea typeface="Canva Sans Bold"/>
                <a:cs typeface="Canva Sans Bold"/>
                <a:sym typeface="Canva Sans Bold"/>
              </a:rPr>
              <a:t>VII. Cấu trúc thư mục của dự án</a:t>
            </a:r>
          </a:p>
        </p:txBody>
      </p:sp>
      <p:sp>
        <p:nvSpPr>
          <p:cNvPr name="TextBox 5" id="5"/>
          <p:cNvSpPr txBox="true"/>
          <p:nvPr/>
        </p:nvSpPr>
        <p:spPr>
          <a:xfrm rot="0">
            <a:off x="1028700" y="3408932"/>
            <a:ext cx="6253561" cy="3855084"/>
          </a:xfrm>
          <a:prstGeom prst="rect">
            <a:avLst/>
          </a:prstGeom>
        </p:spPr>
        <p:txBody>
          <a:bodyPr anchor="t" rtlCol="false" tIns="0" lIns="0" bIns="0" rIns="0">
            <a:spAutoFit/>
          </a:bodyPr>
          <a:lstStyle/>
          <a:p>
            <a:pPr algn="just">
              <a:lnSpc>
                <a:spcPts val="2240"/>
              </a:lnSpc>
            </a:pPr>
            <a:r>
              <a:rPr lang="en-US" sz="1600" b="true">
                <a:solidFill>
                  <a:srgbClr val="000000"/>
                </a:solidFill>
                <a:latin typeface="Canva Sans Bold"/>
                <a:ea typeface="Canva Sans Bold"/>
                <a:cs typeface="Canva Sans Bold"/>
                <a:sym typeface="Canva Sans Bold"/>
              </a:rPr>
              <a:t>backend/</a:t>
            </a:r>
            <a:r>
              <a:rPr lang="en-US" sz="1600">
                <a:solidFill>
                  <a:srgbClr val="000000"/>
                </a:solidFill>
                <a:latin typeface="Canva Sans"/>
                <a:ea typeface="Canva Sans"/>
                <a:cs typeface="Canva Sans"/>
                <a:sym typeface="Canva Sans"/>
              </a:rPr>
              <a:t>: Dịch vụ API trung gian nhận yêu cầu, chuẩn hóa dữ liệu đầu vào thành các biến đặc trưng và kết nối gọi dự đoán trực tuyến từ mô hình Cloud.</a:t>
            </a:r>
          </a:p>
          <a:p>
            <a:pPr algn="just">
              <a:lnSpc>
                <a:spcPts val="2240"/>
              </a:lnSpc>
            </a:pPr>
          </a:p>
          <a:p>
            <a:pPr algn="just">
              <a:lnSpc>
                <a:spcPts val="2240"/>
              </a:lnSpc>
            </a:pPr>
            <a:r>
              <a:rPr lang="en-US" sz="1600" b="true">
                <a:solidFill>
                  <a:srgbClr val="000000"/>
                </a:solidFill>
                <a:latin typeface="Canva Sans Bold"/>
                <a:ea typeface="Canva Sans Bold"/>
                <a:cs typeface="Canva Sans Bold"/>
                <a:sym typeface="Canva Sans Bold"/>
              </a:rPr>
              <a:t>data_pipeline/</a:t>
            </a:r>
            <a:r>
              <a:rPr lang="en-US" sz="1600">
                <a:solidFill>
                  <a:srgbClr val="000000"/>
                </a:solidFill>
                <a:latin typeface="Canva Sans"/>
                <a:ea typeface="Canva Sans"/>
                <a:cs typeface="Canva Sans"/>
                <a:sym typeface="Canva Sans"/>
              </a:rPr>
              <a:t>: Đường ống tự động hóa tiền xử lý, mã hóa và nạp dữ liệu khách hàng thô vào cơ sở dữ liệu đệm (Redis).</a:t>
            </a:r>
          </a:p>
          <a:p>
            <a:pPr algn="just">
              <a:lnSpc>
                <a:spcPts val="2240"/>
              </a:lnSpc>
            </a:pPr>
          </a:p>
          <a:p>
            <a:pPr algn="just">
              <a:lnSpc>
                <a:spcPts val="2240"/>
              </a:lnSpc>
            </a:pPr>
            <a:r>
              <a:rPr lang="en-US" sz="1600" b="true">
                <a:solidFill>
                  <a:srgbClr val="000000"/>
                </a:solidFill>
                <a:latin typeface="Canva Sans Bold"/>
                <a:ea typeface="Canva Sans Bold"/>
                <a:cs typeface="Canva Sans Bold"/>
                <a:sym typeface="Canva Sans Bold"/>
              </a:rPr>
              <a:t>frontend/</a:t>
            </a:r>
            <a:r>
              <a:rPr lang="en-US" sz="1600">
                <a:solidFill>
                  <a:srgbClr val="000000"/>
                </a:solidFill>
                <a:latin typeface="Canva Sans"/>
                <a:ea typeface="Canva Sans"/>
                <a:cs typeface="Canva Sans"/>
                <a:sym typeface="Canva Sans"/>
              </a:rPr>
              <a:t>: Giao diện web tương tác hỗ trợ nhập liệu, tải tệp CSV hoặc tra cứu hồ sơ khách hàng để hiển thị kết quả dự đoán và xác suất rủi ro.</a:t>
            </a:r>
          </a:p>
          <a:p>
            <a:pPr algn="just">
              <a:lnSpc>
                <a:spcPts val="2240"/>
              </a:lnSpc>
            </a:pPr>
          </a:p>
          <a:p>
            <a:pPr algn="just">
              <a:lnSpc>
                <a:spcPts val="2240"/>
              </a:lnSpc>
              <a:spcBef>
                <a:spcPct val="0"/>
              </a:spcBef>
            </a:pPr>
            <a:r>
              <a:rPr lang="en-US" b="true" sz="1600">
                <a:solidFill>
                  <a:srgbClr val="000000"/>
                </a:solidFill>
                <a:latin typeface="Canva Sans Bold"/>
                <a:ea typeface="Canva Sans Bold"/>
                <a:cs typeface="Canva Sans Bold"/>
                <a:sym typeface="Canva Sans Bold"/>
              </a:rPr>
              <a:t>notebooks/</a:t>
            </a:r>
            <a:r>
              <a:rPr lang="en-US" sz="1600">
                <a:solidFill>
                  <a:srgbClr val="000000"/>
                </a:solidFill>
                <a:latin typeface="Canva Sans"/>
                <a:ea typeface="Canva Sans"/>
                <a:cs typeface="Canva Sans"/>
                <a:sym typeface="Canva Sans"/>
              </a:rPr>
              <a:t>: Môi trường nghiên cứu thử nghiệm thuật toán, phân tích dữ liệu và huấn luyện mô hình Machine Learning ngoại tuyến (offline).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2410793"/>
            <a:ext cx="3853855"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Canva Sans Bold"/>
                <a:ea typeface="Canva Sans Bold"/>
                <a:cs typeface="Canva Sans Bold"/>
                <a:sym typeface="Canva Sans Bold"/>
              </a:rPr>
              <a:t>VIII. Giao diện người dùng</a:t>
            </a:r>
          </a:p>
        </p:txBody>
      </p:sp>
      <p:sp>
        <p:nvSpPr>
          <p:cNvPr name="TextBox 4" id="4"/>
          <p:cNvSpPr txBox="true"/>
          <p:nvPr/>
        </p:nvSpPr>
        <p:spPr>
          <a:xfrm rot="0">
            <a:off x="5042892" y="1771874"/>
            <a:ext cx="8202216"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Canva Sans Bold"/>
                <a:ea typeface="Canva Sans Bold"/>
                <a:cs typeface="Canva Sans Bold"/>
                <a:sym typeface="Canva Sans Bold"/>
              </a:rPr>
              <a:t>CUSTOMER CHURN PREDICTION SYSTEM</a:t>
            </a:r>
          </a:p>
        </p:txBody>
      </p:sp>
      <p:grpSp>
        <p:nvGrpSpPr>
          <p:cNvPr name="Group 5" id="5"/>
          <p:cNvGrpSpPr/>
          <p:nvPr/>
        </p:nvGrpSpPr>
        <p:grpSpPr>
          <a:xfrm rot="0">
            <a:off x="10121412" y="3129402"/>
            <a:ext cx="5868555" cy="6132002"/>
            <a:chOff x="0" y="0"/>
            <a:chExt cx="1545628" cy="1615013"/>
          </a:xfrm>
        </p:grpSpPr>
        <p:sp>
          <p:nvSpPr>
            <p:cNvPr name="Freeform 6" id="6"/>
            <p:cNvSpPr/>
            <p:nvPr/>
          </p:nvSpPr>
          <p:spPr>
            <a:xfrm flipH="false" flipV="false" rot="0">
              <a:off x="0" y="0"/>
              <a:ext cx="1545628" cy="1615013"/>
            </a:xfrm>
            <a:custGeom>
              <a:avLst/>
              <a:gdLst/>
              <a:ahLst/>
              <a:cxnLst/>
              <a:rect r="r" b="b" t="t" l="l"/>
              <a:pathLst>
                <a:path h="1615013" w="1545628">
                  <a:moveTo>
                    <a:pt x="22427" y="0"/>
                  </a:moveTo>
                  <a:lnTo>
                    <a:pt x="1523201" y="0"/>
                  </a:lnTo>
                  <a:cubicBezTo>
                    <a:pt x="1535587" y="0"/>
                    <a:pt x="1545628" y="10041"/>
                    <a:pt x="1545628" y="22427"/>
                  </a:cubicBezTo>
                  <a:lnTo>
                    <a:pt x="1545628" y="1592586"/>
                  </a:lnTo>
                  <a:cubicBezTo>
                    <a:pt x="1545628" y="1598534"/>
                    <a:pt x="1543265" y="1604238"/>
                    <a:pt x="1539059" y="1608444"/>
                  </a:cubicBezTo>
                  <a:cubicBezTo>
                    <a:pt x="1534853" y="1612650"/>
                    <a:pt x="1529149" y="1615013"/>
                    <a:pt x="1523201" y="1615013"/>
                  </a:cubicBezTo>
                  <a:lnTo>
                    <a:pt x="22427" y="1615013"/>
                  </a:lnTo>
                  <a:cubicBezTo>
                    <a:pt x="10041" y="1615013"/>
                    <a:pt x="0" y="1604972"/>
                    <a:pt x="0" y="1592586"/>
                  </a:cubicBezTo>
                  <a:lnTo>
                    <a:pt x="0" y="22427"/>
                  </a:lnTo>
                  <a:cubicBezTo>
                    <a:pt x="0" y="10041"/>
                    <a:pt x="10041" y="0"/>
                    <a:pt x="22427" y="0"/>
                  </a:cubicBezTo>
                  <a:close/>
                </a:path>
              </a:pathLst>
            </a:custGeom>
            <a:solidFill>
              <a:srgbClr val="B8BEC9"/>
            </a:solidFill>
          </p:spPr>
        </p:sp>
        <p:sp>
          <p:nvSpPr>
            <p:cNvPr name="TextBox 7" id="7"/>
            <p:cNvSpPr txBox="true"/>
            <p:nvPr/>
          </p:nvSpPr>
          <p:spPr>
            <a:xfrm>
              <a:off x="0" y="-38100"/>
              <a:ext cx="1545628" cy="1653113"/>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1115370" y="3129402"/>
            <a:ext cx="8028630" cy="6128898"/>
            <a:chOff x="0" y="0"/>
            <a:chExt cx="2114536" cy="1614195"/>
          </a:xfrm>
        </p:grpSpPr>
        <p:sp>
          <p:nvSpPr>
            <p:cNvPr name="Freeform 9" id="9"/>
            <p:cNvSpPr/>
            <p:nvPr/>
          </p:nvSpPr>
          <p:spPr>
            <a:xfrm flipH="false" flipV="false" rot="0">
              <a:off x="0" y="0"/>
              <a:ext cx="2114536" cy="1614195"/>
            </a:xfrm>
            <a:custGeom>
              <a:avLst/>
              <a:gdLst/>
              <a:ahLst/>
              <a:cxnLst/>
              <a:rect r="r" b="b" t="t" l="l"/>
              <a:pathLst>
                <a:path h="1614195" w="2114536">
                  <a:moveTo>
                    <a:pt x="16393" y="0"/>
                  </a:moveTo>
                  <a:lnTo>
                    <a:pt x="2098143" y="0"/>
                  </a:lnTo>
                  <a:cubicBezTo>
                    <a:pt x="2107197" y="0"/>
                    <a:pt x="2114536" y="7339"/>
                    <a:pt x="2114536" y="16393"/>
                  </a:cubicBezTo>
                  <a:lnTo>
                    <a:pt x="2114536" y="1597802"/>
                  </a:lnTo>
                  <a:cubicBezTo>
                    <a:pt x="2114536" y="1606856"/>
                    <a:pt x="2107197" y="1614195"/>
                    <a:pt x="2098143" y="1614195"/>
                  </a:cubicBezTo>
                  <a:lnTo>
                    <a:pt x="16393" y="1614195"/>
                  </a:lnTo>
                  <a:cubicBezTo>
                    <a:pt x="7339" y="1614195"/>
                    <a:pt x="0" y="1606856"/>
                    <a:pt x="0" y="1597802"/>
                  </a:cubicBezTo>
                  <a:lnTo>
                    <a:pt x="0" y="16393"/>
                  </a:lnTo>
                  <a:cubicBezTo>
                    <a:pt x="0" y="7339"/>
                    <a:pt x="7339" y="0"/>
                    <a:pt x="16393" y="0"/>
                  </a:cubicBezTo>
                  <a:close/>
                </a:path>
              </a:pathLst>
            </a:custGeom>
            <a:solidFill>
              <a:srgbClr val="B8BEC9"/>
            </a:solidFill>
          </p:spPr>
        </p:sp>
        <p:sp>
          <p:nvSpPr>
            <p:cNvPr name="TextBox 10" id="10"/>
            <p:cNvSpPr txBox="true"/>
            <p:nvPr/>
          </p:nvSpPr>
          <p:spPr>
            <a:xfrm>
              <a:off x="0" y="-38100"/>
              <a:ext cx="2114536" cy="1652295"/>
            </a:xfrm>
            <a:prstGeom prst="rect">
              <a:avLst/>
            </a:prstGeom>
          </p:spPr>
          <p:txBody>
            <a:bodyPr anchor="ctr" rtlCol="false" tIns="50800" lIns="50800" bIns="50800" rIns="50800"/>
            <a:lstStyle/>
            <a:p>
              <a:pPr algn="ctr">
                <a:lnSpc>
                  <a:spcPts val="3359"/>
                </a:lnSpc>
              </a:pPr>
            </a:p>
          </p:txBody>
        </p:sp>
      </p:grpSp>
      <p:sp>
        <p:nvSpPr>
          <p:cNvPr name="TextBox 11" id="11"/>
          <p:cNvSpPr txBox="true"/>
          <p:nvPr/>
        </p:nvSpPr>
        <p:spPr>
          <a:xfrm rot="0">
            <a:off x="1222633" y="2836667"/>
            <a:ext cx="10487067" cy="264160"/>
          </a:xfrm>
          <a:prstGeom prst="rect">
            <a:avLst/>
          </a:prstGeom>
        </p:spPr>
        <p:txBody>
          <a:bodyPr anchor="t" rtlCol="false" tIns="0" lIns="0" bIns="0" rIns="0">
            <a:spAutoFit/>
          </a:bodyPr>
          <a:lstStyle/>
          <a:p>
            <a:pPr algn="just">
              <a:lnSpc>
                <a:spcPts val="2239"/>
              </a:lnSpc>
            </a:pPr>
            <a:r>
              <a:rPr lang="en-US" sz="1599" spc="-75">
                <a:solidFill>
                  <a:srgbClr val="000000"/>
                </a:solidFill>
                <a:latin typeface="Canva Sans"/>
                <a:ea typeface="Canva Sans"/>
                <a:cs typeface="Canva Sans"/>
                <a:sym typeface="Canva Sans"/>
              </a:rPr>
              <a:t>Hệ thố</a:t>
            </a:r>
            <a:r>
              <a:rPr lang="en-US" sz="1599" spc="-75">
                <a:solidFill>
                  <a:srgbClr val="000000"/>
                </a:solidFill>
                <a:latin typeface="Canva Sans"/>
                <a:ea typeface="Canva Sans"/>
                <a:cs typeface="Canva Sans"/>
                <a:sym typeface="Canva Sans"/>
              </a:rPr>
              <a:t>ng cung cấp một bảng điều khiển (Dashboard) trực quan giúp thao tác nghiệp vụ dễ dàng:</a:t>
            </a:r>
          </a:p>
        </p:txBody>
      </p:sp>
      <p:sp>
        <p:nvSpPr>
          <p:cNvPr name="Freeform 12" id="12"/>
          <p:cNvSpPr/>
          <p:nvPr/>
        </p:nvSpPr>
        <p:spPr>
          <a:xfrm flipH="false" flipV="false" rot="0">
            <a:off x="1194222" y="3310411"/>
            <a:ext cx="7870926" cy="5883323"/>
          </a:xfrm>
          <a:custGeom>
            <a:avLst/>
            <a:gdLst/>
            <a:ahLst/>
            <a:cxnLst/>
            <a:rect r="r" b="b" t="t" l="l"/>
            <a:pathLst>
              <a:path h="5883323" w="7870926">
                <a:moveTo>
                  <a:pt x="0" y="0"/>
                </a:moveTo>
                <a:lnTo>
                  <a:pt x="7870926" y="0"/>
                </a:lnTo>
                <a:lnTo>
                  <a:pt x="7870926" y="5883322"/>
                </a:lnTo>
                <a:lnTo>
                  <a:pt x="0" y="5883322"/>
                </a:lnTo>
                <a:lnTo>
                  <a:pt x="0" y="0"/>
                </a:lnTo>
                <a:close/>
              </a:path>
            </a:pathLst>
          </a:custGeom>
          <a:blipFill>
            <a:blip r:embed="rId3"/>
            <a:stretch>
              <a:fillRect l="0" t="-1135" r="-9560" b="0"/>
            </a:stretch>
          </a:blipFill>
        </p:spPr>
      </p:sp>
      <p:sp>
        <p:nvSpPr>
          <p:cNvPr name="Freeform 13" id="13"/>
          <p:cNvSpPr/>
          <p:nvPr/>
        </p:nvSpPr>
        <p:spPr>
          <a:xfrm flipH="false" flipV="false" rot="0">
            <a:off x="10199026" y="3310411"/>
            <a:ext cx="5713327" cy="5883323"/>
          </a:xfrm>
          <a:custGeom>
            <a:avLst/>
            <a:gdLst/>
            <a:ahLst/>
            <a:cxnLst/>
            <a:rect r="r" b="b" t="t" l="l"/>
            <a:pathLst>
              <a:path h="5883323" w="5713327">
                <a:moveTo>
                  <a:pt x="0" y="0"/>
                </a:moveTo>
                <a:lnTo>
                  <a:pt x="5713327" y="0"/>
                </a:lnTo>
                <a:lnTo>
                  <a:pt x="5713327" y="5883322"/>
                </a:lnTo>
                <a:lnTo>
                  <a:pt x="0" y="5883322"/>
                </a:lnTo>
                <a:lnTo>
                  <a:pt x="0" y="0"/>
                </a:lnTo>
                <a:close/>
              </a:path>
            </a:pathLst>
          </a:custGeom>
          <a:blipFill>
            <a:blip r:embed="rId4"/>
            <a:stretch>
              <a:fillRect l="0" t="0" r="0" b="0"/>
            </a:stretch>
          </a:blipFill>
        </p:spPr>
      </p:sp>
      <p:grpSp>
        <p:nvGrpSpPr>
          <p:cNvPr name="Group 14" id="14"/>
          <p:cNvGrpSpPr/>
          <p:nvPr/>
        </p:nvGrpSpPr>
        <p:grpSpPr>
          <a:xfrm rot="0">
            <a:off x="1314064" y="3157977"/>
            <a:ext cx="139330" cy="13933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17" id="17"/>
          <p:cNvGrpSpPr/>
          <p:nvPr/>
        </p:nvGrpSpPr>
        <p:grpSpPr>
          <a:xfrm rot="0">
            <a:off x="1533133" y="3157977"/>
            <a:ext cx="139330" cy="13933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20" id="20"/>
          <p:cNvGrpSpPr/>
          <p:nvPr/>
        </p:nvGrpSpPr>
        <p:grpSpPr>
          <a:xfrm rot="0">
            <a:off x="1748663" y="3157977"/>
            <a:ext cx="139330" cy="13933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C25F"/>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23" id="23"/>
          <p:cNvGrpSpPr/>
          <p:nvPr/>
        </p:nvGrpSpPr>
        <p:grpSpPr>
          <a:xfrm rot="0">
            <a:off x="10300083" y="3157977"/>
            <a:ext cx="139330" cy="139330"/>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26" id="26"/>
          <p:cNvGrpSpPr/>
          <p:nvPr/>
        </p:nvGrpSpPr>
        <p:grpSpPr>
          <a:xfrm rot="0">
            <a:off x="10519152" y="3157977"/>
            <a:ext cx="139330" cy="139330"/>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29" id="29"/>
          <p:cNvGrpSpPr/>
          <p:nvPr/>
        </p:nvGrpSpPr>
        <p:grpSpPr>
          <a:xfrm rot="0">
            <a:off x="10734683" y="3157977"/>
            <a:ext cx="139330" cy="139330"/>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C25F"/>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54852" y="9197340"/>
            <a:ext cx="19080555" cy="3086100"/>
            <a:chOff x="0" y="0"/>
            <a:chExt cx="5025331" cy="812800"/>
          </a:xfrm>
        </p:grpSpPr>
        <p:sp>
          <p:nvSpPr>
            <p:cNvPr name="Freeform 4" id="4"/>
            <p:cNvSpPr/>
            <p:nvPr/>
          </p:nvSpPr>
          <p:spPr>
            <a:xfrm flipH="false" flipV="false" rot="0">
              <a:off x="0" y="0"/>
              <a:ext cx="5025332" cy="812800"/>
            </a:xfrm>
            <a:custGeom>
              <a:avLst/>
              <a:gdLst/>
              <a:ahLst/>
              <a:cxnLst/>
              <a:rect r="r" b="b" t="t" l="l"/>
              <a:pathLst>
                <a:path h="812800" w="5025332">
                  <a:moveTo>
                    <a:pt x="0" y="0"/>
                  </a:moveTo>
                  <a:lnTo>
                    <a:pt x="5025332" y="0"/>
                  </a:lnTo>
                  <a:lnTo>
                    <a:pt x="5025332" y="812800"/>
                  </a:lnTo>
                  <a:lnTo>
                    <a:pt x="0" y="812800"/>
                  </a:lnTo>
                  <a:close/>
                </a:path>
              </a:pathLst>
            </a:custGeom>
            <a:solidFill>
              <a:srgbClr val="F1F5FA"/>
            </a:solidFill>
          </p:spPr>
        </p:sp>
        <p:sp>
          <p:nvSpPr>
            <p:cNvPr name="TextBox 5" id="5"/>
            <p:cNvSpPr txBox="true"/>
            <p:nvPr/>
          </p:nvSpPr>
          <p:spPr>
            <a:xfrm>
              <a:off x="0" y="-38100"/>
              <a:ext cx="5025331" cy="850900"/>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6371853" y="3285751"/>
            <a:ext cx="5005664" cy="3373143"/>
            <a:chOff x="0" y="0"/>
            <a:chExt cx="6674218" cy="4497524"/>
          </a:xfrm>
        </p:grpSpPr>
        <p:grpSp>
          <p:nvGrpSpPr>
            <p:cNvPr name="Group 7" id="7"/>
            <p:cNvGrpSpPr/>
            <p:nvPr/>
          </p:nvGrpSpPr>
          <p:grpSpPr>
            <a:xfrm rot="0">
              <a:off x="0" y="0"/>
              <a:ext cx="6674218" cy="4497524"/>
              <a:chOff x="0" y="0"/>
              <a:chExt cx="1211387" cy="816312"/>
            </a:xfrm>
          </p:grpSpPr>
          <p:sp>
            <p:nvSpPr>
              <p:cNvPr name="Freeform 8" id="8"/>
              <p:cNvSpPr/>
              <p:nvPr/>
            </p:nvSpPr>
            <p:spPr>
              <a:xfrm flipH="false" flipV="false" rot="0">
                <a:off x="0" y="0"/>
                <a:ext cx="1211387" cy="816312"/>
              </a:xfrm>
              <a:custGeom>
                <a:avLst/>
                <a:gdLst/>
                <a:ahLst/>
                <a:cxnLst/>
                <a:rect r="r" b="b" t="t" l="l"/>
                <a:pathLst>
                  <a:path h="816312" w="1211387">
                    <a:moveTo>
                      <a:pt x="28615" y="0"/>
                    </a:moveTo>
                    <a:lnTo>
                      <a:pt x="1182773" y="0"/>
                    </a:lnTo>
                    <a:cubicBezTo>
                      <a:pt x="1198576" y="0"/>
                      <a:pt x="1211387" y="12811"/>
                      <a:pt x="1211387" y="28615"/>
                    </a:cubicBezTo>
                    <a:lnTo>
                      <a:pt x="1211387" y="787697"/>
                    </a:lnTo>
                    <a:cubicBezTo>
                      <a:pt x="1211387" y="795286"/>
                      <a:pt x="1208373" y="802564"/>
                      <a:pt x="1203006" y="807931"/>
                    </a:cubicBezTo>
                    <a:cubicBezTo>
                      <a:pt x="1197640" y="813297"/>
                      <a:pt x="1190362" y="816312"/>
                      <a:pt x="1182773" y="816312"/>
                    </a:cubicBezTo>
                    <a:lnTo>
                      <a:pt x="28615" y="816312"/>
                    </a:lnTo>
                    <a:cubicBezTo>
                      <a:pt x="12811" y="816312"/>
                      <a:pt x="0" y="803501"/>
                      <a:pt x="0" y="787697"/>
                    </a:cubicBezTo>
                    <a:lnTo>
                      <a:pt x="0" y="28615"/>
                    </a:lnTo>
                    <a:cubicBezTo>
                      <a:pt x="0" y="12811"/>
                      <a:pt x="12811" y="0"/>
                      <a:pt x="28615" y="0"/>
                    </a:cubicBezTo>
                    <a:close/>
                  </a:path>
                </a:pathLst>
              </a:custGeom>
              <a:solidFill>
                <a:srgbClr val="1F3A5F"/>
              </a:solidFill>
            </p:spPr>
          </p:sp>
          <p:sp>
            <p:nvSpPr>
              <p:cNvPr name="TextBox 9" id="9"/>
              <p:cNvSpPr txBox="true"/>
              <p:nvPr/>
            </p:nvSpPr>
            <p:spPr>
              <a:xfrm>
                <a:off x="0" y="-38100"/>
                <a:ext cx="1211387" cy="854412"/>
              </a:xfrm>
              <a:prstGeom prst="rect">
                <a:avLst/>
              </a:prstGeom>
            </p:spPr>
            <p:txBody>
              <a:bodyPr anchor="ctr" rtlCol="false" tIns="50800" lIns="50800" bIns="50800" rIns="50800"/>
              <a:lstStyle/>
              <a:p>
                <a:pPr algn="ctr">
                  <a:lnSpc>
                    <a:spcPts val="3359"/>
                  </a:lnSpc>
                </a:pPr>
              </a:p>
            </p:txBody>
          </p:sp>
        </p:grpSp>
        <p:sp>
          <p:nvSpPr>
            <p:cNvPr name="Freeform 10" id="10"/>
            <p:cNvSpPr/>
            <p:nvPr/>
          </p:nvSpPr>
          <p:spPr>
            <a:xfrm flipH="false" flipV="false" rot="0">
              <a:off x="76243" y="76348"/>
              <a:ext cx="6527584" cy="4344829"/>
            </a:xfrm>
            <a:custGeom>
              <a:avLst/>
              <a:gdLst/>
              <a:ahLst/>
              <a:cxnLst/>
              <a:rect r="r" b="b" t="t" l="l"/>
              <a:pathLst>
                <a:path h="4344829" w="6527584">
                  <a:moveTo>
                    <a:pt x="0" y="0"/>
                  </a:moveTo>
                  <a:lnTo>
                    <a:pt x="6527584" y="0"/>
                  </a:lnTo>
                  <a:lnTo>
                    <a:pt x="6527584" y="4344828"/>
                  </a:lnTo>
                  <a:lnTo>
                    <a:pt x="0" y="4344828"/>
                  </a:lnTo>
                  <a:lnTo>
                    <a:pt x="0" y="0"/>
                  </a:lnTo>
                  <a:close/>
                </a:path>
              </a:pathLst>
            </a:custGeom>
            <a:blipFill>
              <a:blip r:embed="rId3"/>
              <a:stretch>
                <a:fillRect l="-39741" t="-50813" r="-133409" b="0"/>
              </a:stretch>
            </a:blipFill>
          </p:spPr>
        </p:sp>
      </p:grpSp>
      <p:grpSp>
        <p:nvGrpSpPr>
          <p:cNvPr name="Group 11" id="11"/>
          <p:cNvGrpSpPr/>
          <p:nvPr/>
        </p:nvGrpSpPr>
        <p:grpSpPr>
          <a:xfrm rot="0">
            <a:off x="12008708" y="3356124"/>
            <a:ext cx="5005664" cy="3386591"/>
            <a:chOff x="0" y="0"/>
            <a:chExt cx="6674218" cy="4515455"/>
          </a:xfrm>
        </p:grpSpPr>
        <p:grpSp>
          <p:nvGrpSpPr>
            <p:cNvPr name="Group 12" id="12"/>
            <p:cNvGrpSpPr/>
            <p:nvPr/>
          </p:nvGrpSpPr>
          <p:grpSpPr>
            <a:xfrm rot="0">
              <a:off x="0" y="0"/>
              <a:ext cx="6674218" cy="4515455"/>
              <a:chOff x="0" y="0"/>
              <a:chExt cx="1218213" cy="824184"/>
            </a:xfrm>
          </p:grpSpPr>
          <p:sp>
            <p:nvSpPr>
              <p:cNvPr name="Freeform 13" id="13"/>
              <p:cNvSpPr/>
              <p:nvPr/>
            </p:nvSpPr>
            <p:spPr>
              <a:xfrm flipH="false" flipV="false" rot="0">
                <a:off x="0" y="0"/>
                <a:ext cx="1218213" cy="824184"/>
              </a:xfrm>
              <a:custGeom>
                <a:avLst/>
                <a:gdLst/>
                <a:ahLst/>
                <a:cxnLst/>
                <a:rect r="r" b="b" t="t" l="l"/>
                <a:pathLst>
                  <a:path h="824184" w="1218213">
                    <a:moveTo>
                      <a:pt x="28454" y="0"/>
                    </a:moveTo>
                    <a:lnTo>
                      <a:pt x="1189759" y="0"/>
                    </a:lnTo>
                    <a:cubicBezTo>
                      <a:pt x="1197306" y="0"/>
                      <a:pt x="1204543" y="2998"/>
                      <a:pt x="1209879" y="8334"/>
                    </a:cubicBezTo>
                    <a:cubicBezTo>
                      <a:pt x="1215215" y="13670"/>
                      <a:pt x="1218213" y="20908"/>
                      <a:pt x="1218213" y="28454"/>
                    </a:cubicBezTo>
                    <a:lnTo>
                      <a:pt x="1218213" y="795730"/>
                    </a:lnTo>
                    <a:cubicBezTo>
                      <a:pt x="1218213" y="811445"/>
                      <a:pt x="1205474" y="824184"/>
                      <a:pt x="1189759" y="824184"/>
                    </a:cubicBezTo>
                    <a:lnTo>
                      <a:pt x="28454" y="824184"/>
                    </a:lnTo>
                    <a:cubicBezTo>
                      <a:pt x="12739" y="824184"/>
                      <a:pt x="0" y="811445"/>
                      <a:pt x="0" y="795730"/>
                    </a:cubicBezTo>
                    <a:lnTo>
                      <a:pt x="0" y="28454"/>
                    </a:lnTo>
                    <a:cubicBezTo>
                      <a:pt x="0" y="12739"/>
                      <a:pt x="12739" y="0"/>
                      <a:pt x="28454" y="0"/>
                    </a:cubicBezTo>
                    <a:close/>
                  </a:path>
                </a:pathLst>
              </a:custGeom>
              <a:solidFill>
                <a:srgbClr val="1F3A5F"/>
              </a:solidFill>
            </p:spPr>
          </p:sp>
          <p:sp>
            <p:nvSpPr>
              <p:cNvPr name="TextBox 14" id="14"/>
              <p:cNvSpPr txBox="true"/>
              <p:nvPr/>
            </p:nvSpPr>
            <p:spPr>
              <a:xfrm>
                <a:off x="0" y="-38100"/>
                <a:ext cx="1218213" cy="862284"/>
              </a:xfrm>
              <a:prstGeom prst="rect">
                <a:avLst/>
              </a:prstGeom>
            </p:spPr>
            <p:txBody>
              <a:bodyPr anchor="ctr" rtlCol="false" tIns="50800" lIns="50800" bIns="50800" rIns="50800"/>
              <a:lstStyle/>
              <a:p>
                <a:pPr algn="ctr">
                  <a:lnSpc>
                    <a:spcPts val="3359"/>
                  </a:lnSpc>
                </a:pPr>
              </a:p>
            </p:txBody>
          </p:sp>
        </p:grpSp>
        <p:sp>
          <p:nvSpPr>
            <p:cNvPr name="Freeform 15" id="15"/>
            <p:cNvSpPr/>
            <p:nvPr/>
          </p:nvSpPr>
          <p:spPr>
            <a:xfrm flipH="false" flipV="false" rot="0">
              <a:off x="79877" y="86172"/>
              <a:ext cx="6514465" cy="4343111"/>
            </a:xfrm>
            <a:custGeom>
              <a:avLst/>
              <a:gdLst/>
              <a:ahLst/>
              <a:cxnLst/>
              <a:rect r="r" b="b" t="t" l="l"/>
              <a:pathLst>
                <a:path h="4343111" w="6514465">
                  <a:moveTo>
                    <a:pt x="0" y="0"/>
                  </a:moveTo>
                  <a:lnTo>
                    <a:pt x="6514465" y="0"/>
                  </a:lnTo>
                  <a:lnTo>
                    <a:pt x="6514465" y="4343111"/>
                  </a:lnTo>
                  <a:lnTo>
                    <a:pt x="0" y="4343111"/>
                  </a:lnTo>
                  <a:lnTo>
                    <a:pt x="0" y="0"/>
                  </a:lnTo>
                  <a:close/>
                </a:path>
              </a:pathLst>
            </a:custGeom>
            <a:blipFill>
              <a:blip r:embed="rId4"/>
              <a:stretch>
                <a:fillRect l="0" t="-1059" r="0" b="0"/>
              </a:stretch>
            </a:blipFill>
          </p:spPr>
        </p:sp>
      </p:grpSp>
      <p:grpSp>
        <p:nvGrpSpPr>
          <p:cNvPr name="Group 16" id="16"/>
          <p:cNvGrpSpPr/>
          <p:nvPr/>
        </p:nvGrpSpPr>
        <p:grpSpPr>
          <a:xfrm rot="0">
            <a:off x="1028700" y="3439945"/>
            <a:ext cx="4711961" cy="3218948"/>
            <a:chOff x="0" y="0"/>
            <a:chExt cx="6282615" cy="4291931"/>
          </a:xfrm>
        </p:grpSpPr>
        <p:grpSp>
          <p:nvGrpSpPr>
            <p:cNvPr name="Group 17" id="17"/>
            <p:cNvGrpSpPr/>
            <p:nvPr/>
          </p:nvGrpSpPr>
          <p:grpSpPr>
            <a:xfrm rot="0">
              <a:off x="0" y="0"/>
              <a:ext cx="6282615" cy="4291931"/>
              <a:chOff x="0" y="0"/>
              <a:chExt cx="1822437" cy="1244987"/>
            </a:xfrm>
          </p:grpSpPr>
          <p:sp>
            <p:nvSpPr>
              <p:cNvPr name="Freeform 18" id="18"/>
              <p:cNvSpPr/>
              <p:nvPr/>
            </p:nvSpPr>
            <p:spPr>
              <a:xfrm flipH="false" flipV="false" rot="0">
                <a:off x="0" y="0"/>
                <a:ext cx="1822437" cy="1244987"/>
              </a:xfrm>
              <a:custGeom>
                <a:avLst/>
                <a:gdLst/>
                <a:ahLst/>
                <a:cxnLst/>
                <a:rect r="r" b="b" t="t" l="l"/>
                <a:pathLst>
                  <a:path h="1244987" w="1822437">
                    <a:moveTo>
                      <a:pt x="14649" y="0"/>
                    </a:moveTo>
                    <a:lnTo>
                      <a:pt x="1807788" y="0"/>
                    </a:lnTo>
                    <a:cubicBezTo>
                      <a:pt x="1811674" y="0"/>
                      <a:pt x="1815399" y="1543"/>
                      <a:pt x="1818147" y="4291"/>
                    </a:cubicBezTo>
                    <a:cubicBezTo>
                      <a:pt x="1820894" y="7038"/>
                      <a:pt x="1822437" y="10764"/>
                      <a:pt x="1822437" y="14649"/>
                    </a:cubicBezTo>
                    <a:lnTo>
                      <a:pt x="1822437" y="1230338"/>
                    </a:lnTo>
                    <a:cubicBezTo>
                      <a:pt x="1822437" y="1234223"/>
                      <a:pt x="1820894" y="1237949"/>
                      <a:pt x="1818147" y="1240697"/>
                    </a:cubicBezTo>
                    <a:cubicBezTo>
                      <a:pt x="1815399" y="1243444"/>
                      <a:pt x="1811674" y="1244987"/>
                      <a:pt x="1807788" y="1244987"/>
                    </a:cubicBezTo>
                    <a:lnTo>
                      <a:pt x="14649" y="1244987"/>
                    </a:lnTo>
                    <a:cubicBezTo>
                      <a:pt x="10764" y="1244987"/>
                      <a:pt x="7038" y="1243444"/>
                      <a:pt x="4291" y="1240697"/>
                    </a:cubicBezTo>
                    <a:cubicBezTo>
                      <a:pt x="1543" y="1237949"/>
                      <a:pt x="0" y="1234223"/>
                      <a:pt x="0" y="1230338"/>
                    </a:cubicBezTo>
                    <a:lnTo>
                      <a:pt x="0" y="14649"/>
                    </a:lnTo>
                    <a:cubicBezTo>
                      <a:pt x="0" y="10764"/>
                      <a:pt x="1543" y="7038"/>
                      <a:pt x="4291" y="4291"/>
                    </a:cubicBezTo>
                    <a:cubicBezTo>
                      <a:pt x="7038" y="1543"/>
                      <a:pt x="10764" y="0"/>
                      <a:pt x="14649" y="0"/>
                    </a:cubicBezTo>
                    <a:close/>
                  </a:path>
                </a:pathLst>
              </a:custGeom>
              <a:solidFill>
                <a:srgbClr val="1F3A5F"/>
              </a:solidFill>
            </p:spPr>
          </p:sp>
          <p:sp>
            <p:nvSpPr>
              <p:cNvPr name="TextBox 19" id="19"/>
              <p:cNvSpPr txBox="true"/>
              <p:nvPr/>
            </p:nvSpPr>
            <p:spPr>
              <a:xfrm>
                <a:off x="0" y="-38100"/>
                <a:ext cx="1822437" cy="1283087"/>
              </a:xfrm>
              <a:prstGeom prst="rect">
                <a:avLst/>
              </a:prstGeom>
            </p:spPr>
            <p:txBody>
              <a:bodyPr anchor="ctr" rtlCol="false" tIns="66318" lIns="66318" bIns="66318" rIns="66318"/>
              <a:lstStyle/>
              <a:p>
                <a:pPr algn="ctr">
                  <a:lnSpc>
                    <a:spcPts val="3360"/>
                  </a:lnSpc>
                </a:pPr>
              </a:p>
            </p:txBody>
          </p:sp>
        </p:grpSp>
        <p:sp>
          <p:nvSpPr>
            <p:cNvPr name="Freeform 20" id="20"/>
            <p:cNvSpPr/>
            <p:nvPr/>
          </p:nvSpPr>
          <p:spPr>
            <a:xfrm flipH="false" flipV="false" rot="0">
              <a:off x="41420" y="51061"/>
              <a:ext cx="6199776" cy="4189809"/>
            </a:xfrm>
            <a:custGeom>
              <a:avLst/>
              <a:gdLst/>
              <a:ahLst/>
              <a:cxnLst/>
              <a:rect r="r" b="b" t="t" l="l"/>
              <a:pathLst>
                <a:path h="4189809" w="6199776">
                  <a:moveTo>
                    <a:pt x="0" y="0"/>
                  </a:moveTo>
                  <a:lnTo>
                    <a:pt x="6199776" y="0"/>
                  </a:lnTo>
                  <a:lnTo>
                    <a:pt x="6199776" y="4189809"/>
                  </a:lnTo>
                  <a:lnTo>
                    <a:pt x="0" y="4189809"/>
                  </a:lnTo>
                  <a:lnTo>
                    <a:pt x="0" y="0"/>
                  </a:lnTo>
                  <a:close/>
                </a:path>
              </a:pathLst>
            </a:custGeom>
            <a:blipFill>
              <a:blip r:embed="rId5"/>
              <a:stretch>
                <a:fillRect l="0" t="0" r="0" b="-8759"/>
              </a:stretch>
            </a:blipFill>
          </p:spPr>
        </p:sp>
      </p:grpSp>
      <p:sp>
        <p:nvSpPr>
          <p:cNvPr name="TextBox 21" id="21"/>
          <p:cNvSpPr txBox="true"/>
          <p:nvPr/>
        </p:nvSpPr>
        <p:spPr>
          <a:xfrm rot="0">
            <a:off x="1028700" y="2410793"/>
            <a:ext cx="8075018"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Canva Sans Bold"/>
                <a:ea typeface="Canva Sans Bold"/>
                <a:cs typeface="Canva Sans Bold"/>
                <a:sym typeface="Canva Sans Bold"/>
              </a:rPr>
              <a:t>IX. Quản lý đặc trưng, thí nghiệm và triển khai mô hình</a:t>
            </a:r>
          </a:p>
        </p:txBody>
      </p:sp>
      <p:sp>
        <p:nvSpPr>
          <p:cNvPr name="TextBox 22" id="22"/>
          <p:cNvSpPr txBox="true"/>
          <p:nvPr/>
        </p:nvSpPr>
        <p:spPr>
          <a:xfrm rot="0">
            <a:off x="1775900" y="6846785"/>
            <a:ext cx="2761324"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Canva Sans Bold"/>
                <a:ea typeface="Canva Sans Bold"/>
                <a:cs typeface="Canva Sans Bold"/>
                <a:sym typeface="Canva Sans Bold"/>
              </a:rPr>
              <a:t>Bảng feature store</a:t>
            </a:r>
          </a:p>
        </p:txBody>
      </p:sp>
      <p:sp>
        <p:nvSpPr>
          <p:cNvPr name="TextBox 23" id="23"/>
          <p:cNvSpPr txBox="true"/>
          <p:nvPr/>
        </p:nvSpPr>
        <p:spPr>
          <a:xfrm rot="0">
            <a:off x="7394170" y="6846785"/>
            <a:ext cx="2383367"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Canva Sans Bold"/>
                <a:ea typeface="Canva Sans Bold"/>
                <a:cs typeface="Canva Sans Bold"/>
                <a:sym typeface="Canva Sans Bold"/>
              </a:rPr>
              <a:t>Register Models</a:t>
            </a:r>
          </a:p>
        </p:txBody>
      </p:sp>
      <p:sp>
        <p:nvSpPr>
          <p:cNvPr name="TextBox 24" id="24"/>
          <p:cNvSpPr txBox="true"/>
          <p:nvPr/>
        </p:nvSpPr>
        <p:spPr>
          <a:xfrm rot="0">
            <a:off x="13155027" y="6846785"/>
            <a:ext cx="2082139"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Canva Sans Bold"/>
                <a:ea typeface="Canva Sans Bold"/>
                <a:cs typeface="Canva Sans Bold"/>
                <a:sym typeface="Canva Sans Bold"/>
              </a:rPr>
              <a:t>Deploy model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54852" y="9197340"/>
            <a:ext cx="19080555" cy="3086100"/>
            <a:chOff x="0" y="0"/>
            <a:chExt cx="5025331" cy="812800"/>
          </a:xfrm>
        </p:grpSpPr>
        <p:sp>
          <p:nvSpPr>
            <p:cNvPr name="Freeform 4" id="4"/>
            <p:cNvSpPr/>
            <p:nvPr/>
          </p:nvSpPr>
          <p:spPr>
            <a:xfrm flipH="false" flipV="false" rot="0">
              <a:off x="0" y="0"/>
              <a:ext cx="5025332" cy="812800"/>
            </a:xfrm>
            <a:custGeom>
              <a:avLst/>
              <a:gdLst/>
              <a:ahLst/>
              <a:cxnLst/>
              <a:rect r="r" b="b" t="t" l="l"/>
              <a:pathLst>
                <a:path h="812800" w="5025332">
                  <a:moveTo>
                    <a:pt x="0" y="0"/>
                  </a:moveTo>
                  <a:lnTo>
                    <a:pt x="5025332" y="0"/>
                  </a:lnTo>
                  <a:lnTo>
                    <a:pt x="5025332" y="812800"/>
                  </a:lnTo>
                  <a:lnTo>
                    <a:pt x="0" y="812800"/>
                  </a:lnTo>
                  <a:close/>
                </a:path>
              </a:pathLst>
            </a:custGeom>
            <a:solidFill>
              <a:srgbClr val="F1F5FA"/>
            </a:solidFill>
          </p:spPr>
        </p:sp>
        <p:sp>
          <p:nvSpPr>
            <p:cNvPr name="TextBox 5" id="5"/>
            <p:cNvSpPr txBox="true"/>
            <p:nvPr/>
          </p:nvSpPr>
          <p:spPr>
            <a:xfrm>
              <a:off x="0" y="-38100"/>
              <a:ext cx="5025331" cy="850900"/>
            </a:xfrm>
            <a:prstGeom prst="rect">
              <a:avLst/>
            </a:prstGeom>
          </p:spPr>
          <p:txBody>
            <a:bodyPr anchor="ctr" rtlCol="false" tIns="50800" lIns="50800" bIns="50800" rIns="50800"/>
            <a:lstStyle/>
            <a:p>
              <a:pPr algn="ctr">
                <a:lnSpc>
                  <a:spcPts val="3359"/>
                </a:lnSpc>
              </a:pPr>
            </a:p>
          </p:txBody>
        </p:sp>
      </p:grpSp>
      <p:graphicFrame>
        <p:nvGraphicFramePr>
          <p:cNvPr name="Table 6" id="6"/>
          <p:cNvGraphicFramePr>
            <a:graphicFrameLocks noGrp="true"/>
          </p:cNvGraphicFramePr>
          <p:nvPr/>
        </p:nvGraphicFramePr>
        <p:xfrm>
          <a:off x="1019175" y="2251542"/>
          <a:ext cx="15986547" cy="6814778"/>
        </p:xfrm>
        <a:graphic>
          <a:graphicData uri="http://schemas.openxmlformats.org/drawingml/2006/table">
            <a:tbl>
              <a:tblPr/>
              <a:tblGrid>
                <a:gridCol w="841337"/>
                <a:gridCol w="2537416"/>
                <a:gridCol w="7116215"/>
                <a:gridCol w="2489979"/>
                <a:gridCol w="3001600"/>
              </a:tblGrid>
              <a:tr h="1109249">
                <a:tc>
                  <a:txBody>
                    <a:bodyPr anchor="t" rtlCol="false"/>
                    <a:lstStyle/>
                    <a:p>
                      <a:pPr algn="ctr">
                        <a:lnSpc>
                          <a:spcPts val="1820"/>
                        </a:lnSpc>
                        <a:defRPr/>
                      </a:pPr>
                      <a:r>
                        <a:rPr lang="en-US" b="true" sz="1300">
                          <a:solidFill>
                            <a:srgbClr val="000000"/>
                          </a:solidFill>
                          <a:latin typeface="Open Sans Bold"/>
                          <a:ea typeface="Open Sans Bold"/>
                          <a:cs typeface="Open Sans Bold"/>
                          <a:sym typeface="Open Sans Bold"/>
                        </a:rPr>
                        <a:t>STT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820"/>
                        </a:lnSpc>
                        <a:defRPr/>
                      </a:pPr>
                      <a:r>
                        <a:rPr lang="en-US" b="true" sz="1300">
                          <a:solidFill>
                            <a:srgbClr val="000000"/>
                          </a:solidFill>
                          <a:latin typeface="Open Sans Bold"/>
                          <a:ea typeface="Open Sans Bold"/>
                          <a:cs typeface="Open Sans Bold"/>
                          <a:sym typeface="Open Sans Bold"/>
                        </a:rPr>
                        <a:t>Tên công việc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820"/>
                        </a:lnSpc>
                        <a:defRPr/>
                      </a:pPr>
                      <a:r>
                        <a:rPr lang="en-US" b="true" sz="1300">
                          <a:solidFill>
                            <a:srgbClr val="000000"/>
                          </a:solidFill>
                          <a:latin typeface="Open Sans Bold"/>
                          <a:ea typeface="Open Sans Bold"/>
                          <a:cs typeface="Open Sans Bold"/>
                          <a:sym typeface="Open Sans Bold"/>
                        </a:rPr>
                        <a:t>Mô tả công việc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820"/>
                        </a:lnSpc>
                        <a:defRPr/>
                      </a:pPr>
                      <a:r>
                        <a:rPr lang="en-US" b="true" sz="1300">
                          <a:solidFill>
                            <a:srgbClr val="000000"/>
                          </a:solidFill>
                          <a:latin typeface="Open Sans Bold"/>
                          <a:ea typeface="Open Sans Bold"/>
                          <a:cs typeface="Open Sans Bold"/>
                          <a:sym typeface="Open Sans Bold"/>
                        </a:rPr>
                        <a:t>Người đảm nhiệm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820"/>
                        </a:lnSpc>
                        <a:defRPr/>
                      </a:pPr>
                      <a:r>
                        <a:rPr lang="en-US" b="true" sz="1300">
                          <a:solidFill>
                            <a:srgbClr val="000000"/>
                          </a:solidFill>
                          <a:latin typeface="Open Sans Bold"/>
                          <a:ea typeface="Open Sans Bold"/>
                          <a:cs typeface="Open Sans Bold"/>
                          <a:sym typeface="Open Sans Bold"/>
                        </a:rPr>
                        <a:t>Thời gian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14839">
                <a:tc>
                  <a:txBody>
                    <a:bodyPr anchor="t" rtlCol="false"/>
                    <a:lstStyle/>
                    <a:p>
                      <a:pPr algn="just">
                        <a:lnSpc>
                          <a:spcPts val="1820"/>
                        </a:lnSpc>
                        <a:defRPr/>
                      </a:pPr>
                      <a:r>
                        <a:rPr lang="en-US" sz="1300">
                          <a:solidFill>
                            <a:srgbClr val="000000"/>
                          </a:solidFill>
                          <a:latin typeface="Open Sans"/>
                          <a:ea typeface="Open Sans"/>
                          <a:cs typeface="Open Sans"/>
                          <a:sym typeface="Open Sans"/>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1820"/>
                        </a:lnSpc>
                        <a:defRPr/>
                      </a:pPr>
                      <a:r>
                        <a:rPr lang="en-US" sz="1300">
                          <a:solidFill>
                            <a:srgbClr val="000000"/>
                          </a:solidFill>
                          <a:latin typeface="Open Sans"/>
                          <a:ea typeface="Open Sans"/>
                          <a:cs typeface="Open Sans"/>
                          <a:sym typeface="Open Sans"/>
                        </a:rPr>
                        <a:t>Thu thập &amp; xử lý dữ liệu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1820"/>
                        </a:lnSpc>
                        <a:defRPr/>
                      </a:pPr>
                      <a:r>
                        <a:rPr lang="en-US" sz="1300">
                          <a:solidFill>
                            <a:srgbClr val="000000"/>
                          </a:solidFill>
                          <a:latin typeface="Open Sans"/>
                          <a:ea typeface="Open Sans"/>
                          <a:cs typeface="Open Sans"/>
                          <a:sym typeface="Open Sans"/>
                        </a:rPr>
                        <a:t>Thu thập dữ liệu, xử lý bằng Spark/Databricks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820"/>
                        </a:lnSpc>
                        <a:defRPr/>
                      </a:pPr>
                      <a:r>
                        <a:rPr lang="en-US" sz="1300">
                          <a:solidFill>
                            <a:srgbClr val="000000"/>
                          </a:solidFill>
                          <a:latin typeface="Open Sans"/>
                          <a:ea typeface="Open Sans"/>
                          <a:cs typeface="Open Sans"/>
                          <a:sym typeface="Open Sans"/>
                        </a:rPr>
                        <a:t>Nguyễn Hà Mạnh Khang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820"/>
                        </a:lnSpc>
                        <a:defRPr/>
                      </a:pPr>
                      <a:r>
                        <a:rPr lang="en-US" sz="1300">
                          <a:solidFill>
                            <a:srgbClr val="000000"/>
                          </a:solidFill>
                          <a:latin typeface="Open Sans"/>
                          <a:ea typeface="Open Sans"/>
                          <a:cs typeface="Open Sans"/>
                          <a:sym typeface="Open Sans"/>
                        </a:rPr>
                        <a:t>20/02/2026 - 06/03/2026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09249">
                <a:tc>
                  <a:txBody>
                    <a:bodyPr anchor="t" rtlCol="false"/>
                    <a:lstStyle/>
                    <a:p>
                      <a:pPr algn="just">
                        <a:lnSpc>
                          <a:spcPts val="1820"/>
                        </a:lnSpc>
                        <a:defRPr/>
                      </a:pPr>
                      <a:r>
                        <a:rPr lang="en-US" sz="1300">
                          <a:solidFill>
                            <a:srgbClr val="000000"/>
                          </a:solidFill>
                          <a:latin typeface="Open Sans"/>
                          <a:ea typeface="Open Sans"/>
                          <a:cs typeface="Open Sans"/>
                          <a:sym typeface="Open Sans"/>
                        </a:rPr>
                        <a:t>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1820"/>
                        </a:lnSpc>
                        <a:defRPr/>
                      </a:pPr>
                      <a:r>
                        <a:rPr lang="en-US" sz="1300">
                          <a:solidFill>
                            <a:srgbClr val="000000"/>
                          </a:solidFill>
                          <a:latin typeface="Open Sans"/>
                          <a:ea typeface="Open Sans"/>
                          <a:cs typeface="Open Sans"/>
                          <a:sym typeface="Open Sans"/>
                        </a:rPr>
                        <a:t>Xây dựng &amp; quản lý đặc trưng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1820"/>
                        </a:lnSpc>
                        <a:defRPr/>
                      </a:pPr>
                      <a:r>
                        <a:rPr lang="en-US" sz="1300">
                          <a:solidFill>
                            <a:srgbClr val="000000"/>
                          </a:solidFill>
                          <a:latin typeface="Open Sans"/>
                          <a:ea typeface="Open Sans"/>
                          <a:cs typeface="Open Sans"/>
                          <a:sym typeface="Open Sans"/>
                        </a:rPr>
                        <a:t>Tạo feature bằng Feast (Offline &amp; Online)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820"/>
                        </a:lnSpc>
                        <a:defRPr/>
                      </a:pPr>
                      <a:r>
                        <a:rPr lang="en-US" sz="1300">
                          <a:solidFill>
                            <a:srgbClr val="000000"/>
                          </a:solidFill>
                          <a:latin typeface="Open Sans"/>
                          <a:ea typeface="Open Sans"/>
                          <a:cs typeface="Open Sans"/>
                          <a:sym typeface="Open Sans"/>
                        </a:rPr>
                        <a:t>Trịnh Quang Hiên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820"/>
                        </a:lnSpc>
                        <a:defRPr/>
                      </a:pPr>
                      <a:r>
                        <a:rPr lang="en-US" sz="1300">
                          <a:solidFill>
                            <a:srgbClr val="000000"/>
                          </a:solidFill>
                          <a:latin typeface="Open Sans"/>
                          <a:ea typeface="Open Sans"/>
                          <a:cs typeface="Open Sans"/>
                          <a:sym typeface="Open Sans"/>
                        </a:rPr>
                        <a:t>20/02/2026 - 06/03/2026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29120">
                <a:tc>
                  <a:txBody>
                    <a:bodyPr anchor="t" rtlCol="false"/>
                    <a:lstStyle/>
                    <a:p>
                      <a:pPr algn="just">
                        <a:lnSpc>
                          <a:spcPts val="1820"/>
                        </a:lnSpc>
                        <a:defRPr/>
                      </a:pPr>
                      <a:r>
                        <a:rPr lang="en-US" sz="1300">
                          <a:solidFill>
                            <a:srgbClr val="000000"/>
                          </a:solidFill>
                          <a:latin typeface="Open Sans"/>
                          <a:ea typeface="Open Sans"/>
                          <a:cs typeface="Open Sans"/>
                          <a:sym typeface="Open Sans"/>
                        </a:rPr>
                        <a:t>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1820"/>
                        </a:lnSpc>
                        <a:defRPr/>
                      </a:pPr>
                      <a:r>
                        <a:rPr lang="en-US" sz="1300">
                          <a:solidFill>
                            <a:srgbClr val="000000"/>
                          </a:solidFill>
                          <a:latin typeface="Open Sans"/>
                          <a:ea typeface="Open Sans"/>
                          <a:cs typeface="Open Sans"/>
                          <a:sym typeface="Open Sans"/>
                        </a:rPr>
                        <a:t>Huấn luyện &amp; theo dõi mô hình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1820"/>
                        </a:lnSpc>
                        <a:defRPr/>
                      </a:pPr>
                      <a:r>
                        <a:rPr lang="en-US" sz="1300">
                          <a:solidFill>
                            <a:srgbClr val="000000"/>
                          </a:solidFill>
                          <a:latin typeface="Open Sans"/>
                          <a:ea typeface="Open Sans"/>
                          <a:cs typeface="Open Sans"/>
                          <a:sym typeface="Open Sans"/>
                        </a:rPr>
                        <a:t>Train model churn và tracking bằng MLflow</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820"/>
                        </a:lnSpc>
                        <a:defRPr/>
                      </a:pPr>
                      <a:r>
                        <a:rPr lang="en-US" sz="1300">
                          <a:solidFill>
                            <a:srgbClr val="000000"/>
                          </a:solidFill>
                          <a:latin typeface="Open Sans"/>
                          <a:ea typeface="Open Sans"/>
                          <a:cs typeface="Open Sans"/>
                          <a:sym typeface="Open Sans"/>
                        </a:rPr>
                        <a:t>Trịnh Quang Hiên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820"/>
                        </a:lnSpc>
                        <a:defRPr/>
                      </a:pPr>
                      <a:r>
                        <a:rPr lang="en-US" sz="1300">
                          <a:solidFill>
                            <a:srgbClr val="000000"/>
                          </a:solidFill>
                          <a:latin typeface="Open Sans"/>
                          <a:ea typeface="Open Sans"/>
                          <a:cs typeface="Open Sans"/>
                          <a:sym typeface="Open Sans"/>
                        </a:rPr>
                        <a:t>20/02/2026 - 06/03/2026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74748">
                <a:tc>
                  <a:txBody>
                    <a:bodyPr anchor="t" rtlCol="false"/>
                    <a:lstStyle/>
                    <a:p>
                      <a:pPr algn="just">
                        <a:lnSpc>
                          <a:spcPts val="1820"/>
                        </a:lnSpc>
                        <a:defRPr/>
                      </a:pPr>
                      <a:r>
                        <a:rPr lang="en-US" sz="1300">
                          <a:solidFill>
                            <a:srgbClr val="000000"/>
                          </a:solidFill>
                          <a:latin typeface="Open Sans"/>
                          <a:ea typeface="Open Sans"/>
                          <a:cs typeface="Open Sans"/>
                          <a:sym typeface="Open Sans"/>
                        </a:rPr>
                        <a:t>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1820"/>
                        </a:lnSpc>
                        <a:defRPr/>
                      </a:pPr>
                      <a:r>
                        <a:rPr lang="en-US" sz="1300">
                          <a:solidFill>
                            <a:srgbClr val="000000"/>
                          </a:solidFill>
                          <a:latin typeface="Open Sans"/>
                          <a:ea typeface="Open Sans"/>
                          <a:cs typeface="Open Sans"/>
                          <a:sym typeface="Open Sans"/>
                        </a:rPr>
                        <a:t>Quản lý &amp; lựa chọn 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1820"/>
                        </a:lnSpc>
                        <a:defRPr/>
                      </a:pPr>
                      <a:r>
                        <a:rPr lang="en-US" sz="1300">
                          <a:solidFill>
                            <a:srgbClr val="000000"/>
                          </a:solidFill>
                          <a:latin typeface="Open Sans"/>
                          <a:ea typeface="Open Sans"/>
                          <a:cs typeface="Open Sans"/>
                          <a:sym typeface="Open Sans"/>
                        </a:rPr>
                        <a:t>Lưu trữ, version và chọn model tốt nhất bằng MLflow Model Registry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820"/>
                        </a:lnSpc>
                        <a:defRPr/>
                      </a:pPr>
                      <a:r>
                        <a:rPr lang="en-US" sz="1300">
                          <a:solidFill>
                            <a:srgbClr val="000000"/>
                          </a:solidFill>
                          <a:latin typeface="Open Sans"/>
                          <a:ea typeface="Open Sans"/>
                          <a:cs typeface="Open Sans"/>
                          <a:sym typeface="Open Sans"/>
                        </a:rPr>
                        <a:t>Nguyễn Hà Mạnh Khang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820"/>
                        </a:lnSpc>
                        <a:defRPr/>
                      </a:pPr>
                      <a:r>
                        <a:rPr lang="en-US" sz="1300">
                          <a:solidFill>
                            <a:srgbClr val="000000"/>
                          </a:solidFill>
                          <a:latin typeface="Open Sans"/>
                          <a:ea typeface="Open Sans"/>
                          <a:cs typeface="Open Sans"/>
                          <a:sym typeface="Open Sans"/>
                        </a:rPr>
                        <a:t>20/02/2026 - 12/04/2026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56187">
                <a:tc>
                  <a:txBody>
                    <a:bodyPr anchor="t" rtlCol="false"/>
                    <a:lstStyle/>
                    <a:p>
                      <a:pPr algn="just">
                        <a:lnSpc>
                          <a:spcPts val="1820"/>
                        </a:lnSpc>
                        <a:defRPr/>
                      </a:pPr>
                      <a:r>
                        <a:rPr lang="en-US" sz="1300">
                          <a:solidFill>
                            <a:srgbClr val="000000"/>
                          </a:solidFill>
                          <a:latin typeface="Open Sans"/>
                          <a:ea typeface="Open Sans"/>
                          <a:cs typeface="Open Sans"/>
                          <a:sym typeface="Open Sans"/>
                        </a:rPr>
                        <a:t>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1820"/>
                        </a:lnSpc>
                        <a:defRPr/>
                      </a:pPr>
                      <a:r>
                        <a:rPr lang="en-US" sz="1300">
                          <a:solidFill>
                            <a:srgbClr val="000000"/>
                          </a:solidFill>
                          <a:latin typeface="Open Sans"/>
                          <a:ea typeface="Open Sans"/>
                          <a:cs typeface="Open Sans"/>
                          <a:sym typeface="Open Sans"/>
                        </a:rPr>
                        <a:t>Triển khai và dự đoán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1820"/>
                        </a:lnSpc>
                        <a:defRPr/>
                      </a:pPr>
                      <a:r>
                        <a:rPr lang="en-US" sz="1300">
                          <a:solidFill>
                            <a:srgbClr val="000000"/>
                          </a:solidFill>
                          <a:latin typeface="Open Sans"/>
                          <a:ea typeface="Open Sans"/>
                          <a:cs typeface="Open Sans"/>
                          <a:sym typeface="Open Sans"/>
                        </a:rPr>
                        <a:t>Deploy FastAPI + Docker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820"/>
                        </a:lnSpc>
                        <a:defRPr/>
                      </a:pPr>
                      <a:r>
                        <a:rPr lang="en-US" sz="1300">
                          <a:solidFill>
                            <a:srgbClr val="000000"/>
                          </a:solidFill>
                          <a:latin typeface="Open Sans"/>
                          <a:ea typeface="Open Sans"/>
                          <a:cs typeface="Open Sans"/>
                          <a:sym typeface="Open Sans"/>
                        </a:rPr>
                        <a:t>Huỳnh Võ Tấn Hiên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820"/>
                        </a:lnSpc>
                        <a:defRPr/>
                      </a:pPr>
                      <a:r>
                        <a:rPr lang="en-US" sz="1300">
                          <a:solidFill>
                            <a:srgbClr val="000000"/>
                          </a:solidFill>
                          <a:latin typeface="Open Sans"/>
                          <a:ea typeface="Open Sans"/>
                          <a:cs typeface="Open Sans"/>
                          <a:sym typeface="Open Sans"/>
                        </a:rPr>
                        <a:t>07/03/2026 - 12/04/2026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21388">
                <a:tc>
                  <a:txBody>
                    <a:bodyPr anchor="t" rtlCol="false"/>
                    <a:lstStyle/>
                    <a:p>
                      <a:pPr algn="just">
                        <a:lnSpc>
                          <a:spcPts val="1820"/>
                        </a:lnSpc>
                        <a:defRPr/>
                      </a:pPr>
                      <a:r>
                        <a:rPr lang="en-US" sz="1300">
                          <a:solidFill>
                            <a:srgbClr val="000000"/>
                          </a:solidFill>
                          <a:latin typeface="Open Sans"/>
                          <a:ea typeface="Open Sans"/>
                          <a:cs typeface="Open Sans"/>
                          <a:sym typeface="Open Sans"/>
                        </a:rPr>
                        <a:t>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1820"/>
                        </a:lnSpc>
                        <a:defRPr/>
                      </a:pPr>
                      <a:r>
                        <a:rPr lang="en-US" sz="1300">
                          <a:solidFill>
                            <a:srgbClr val="000000"/>
                          </a:solidFill>
                          <a:latin typeface="Open Sans"/>
                          <a:ea typeface="Open Sans"/>
                          <a:cs typeface="Open Sans"/>
                          <a:sym typeface="Open Sans"/>
                        </a:rPr>
                        <a:t>Giám sát &amp; tái huấn luyện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1820"/>
                        </a:lnSpc>
                        <a:defRPr/>
                      </a:pPr>
                      <a:r>
                        <a:rPr lang="en-US" sz="1300">
                          <a:solidFill>
                            <a:srgbClr val="000000"/>
                          </a:solidFill>
                          <a:latin typeface="Open Sans"/>
                          <a:ea typeface="Open Sans"/>
                          <a:cs typeface="Open Sans"/>
                          <a:sym typeface="Open Sans"/>
                        </a:rPr>
                        <a:t>Theo dõi hiệu suất, phát hiện drift và retrain 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820"/>
                        </a:lnSpc>
                        <a:defRPr/>
                      </a:pPr>
                      <a:r>
                        <a:rPr lang="en-US" sz="1300">
                          <a:solidFill>
                            <a:srgbClr val="000000"/>
                          </a:solidFill>
                          <a:latin typeface="Open Sans"/>
                          <a:ea typeface="Open Sans"/>
                          <a:cs typeface="Open Sans"/>
                          <a:sym typeface="Open Sans"/>
                        </a:rPr>
                        <a:t>Võ Khương Duy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650"/>
                        </a:lnSpc>
                        <a:defRPr/>
                      </a:pPr>
                      <a:r>
                        <a:rPr lang="en-US" sz="1300">
                          <a:solidFill>
                            <a:srgbClr val="000000"/>
                          </a:solidFill>
                          <a:latin typeface="Open Sans"/>
                          <a:ea typeface="Open Sans"/>
                          <a:cs typeface="Open Sans"/>
                          <a:sym typeface="Open Sans"/>
                        </a:rPr>
                        <a:t>13/04/2026 – 07/05/2026</a:t>
                      </a:r>
                      <a:endParaRPr lang="en-US" sz="1100"/>
                    </a:p>
                    <a:p>
                      <a:pPr algn="ctr">
                        <a:lnSpc>
                          <a:spcPts val="65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019175" y="1753786"/>
            <a:ext cx="4197548"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Open Sans Bold"/>
                <a:ea typeface="Open Sans Bold"/>
                <a:cs typeface="Open Sans Bold"/>
                <a:sym typeface="Open Sans Bold"/>
              </a:rPr>
              <a:t>X</a:t>
            </a:r>
            <a:r>
              <a:rPr lang="en-US" b="true" sz="2400">
                <a:solidFill>
                  <a:srgbClr val="000000"/>
                </a:solidFill>
                <a:latin typeface="Open Sans Bold"/>
                <a:ea typeface="Open Sans Bold"/>
                <a:cs typeface="Open Sans Bold"/>
                <a:sym typeface="Open Sans Bold"/>
              </a:rPr>
              <a:t>. Bảng công việc và tiến độ</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54852" y="8892541"/>
            <a:ext cx="19080555" cy="3086100"/>
            <a:chOff x="0" y="0"/>
            <a:chExt cx="5025331" cy="812800"/>
          </a:xfrm>
        </p:grpSpPr>
        <p:sp>
          <p:nvSpPr>
            <p:cNvPr name="Freeform 4" id="4"/>
            <p:cNvSpPr/>
            <p:nvPr/>
          </p:nvSpPr>
          <p:spPr>
            <a:xfrm flipH="false" flipV="false" rot="0">
              <a:off x="0" y="0"/>
              <a:ext cx="5025332" cy="812800"/>
            </a:xfrm>
            <a:custGeom>
              <a:avLst/>
              <a:gdLst/>
              <a:ahLst/>
              <a:cxnLst/>
              <a:rect r="r" b="b" t="t" l="l"/>
              <a:pathLst>
                <a:path h="812800" w="5025332">
                  <a:moveTo>
                    <a:pt x="0" y="0"/>
                  </a:moveTo>
                  <a:lnTo>
                    <a:pt x="5025332" y="0"/>
                  </a:lnTo>
                  <a:lnTo>
                    <a:pt x="5025332" y="812800"/>
                  </a:lnTo>
                  <a:lnTo>
                    <a:pt x="0" y="812800"/>
                  </a:lnTo>
                  <a:close/>
                </a:path>
              </a:pathLst>
            </a:custGeom>
            <a:solidFill>
              <a:srgbClr val="F1F5FA"/>
            </a:solidFill>
          </p:spPr>
        </p:sp>
        <p:sp>
          <p:nvSpPr>
            <p:cNvPr name="TextBox 5" id="5"/>
            <p:cNvSpPr txBox="true"/>
            <p:nvPr/>
          </p:nvSpPr>
          <p:spPr>
            <a:xfrm>
              <a:off x="0" y="-38100"/>
              <a:ext cx="5025331" cy="850900"/>
            </a:xfrm>
            <a:prstGeom prst="rect">
              <a:avLst/>
            </a:prstGeom>
          </p:spPr>
          <p:txBody>
            <a:bodyPr anchor="ctr" rtlCol="false" tIns="50800" lIns="50800" bIns="50800" rIns="50800"/>
            <a:lstStyle/>
            <a:p>
              <a:pPr algn="ctr">
                <a:lnSpc>
                  <a:spcPts val="3359"/>
                </a:lnSpc>
              </a:pPr>
            </a:p>
          </p:txBody>
        </p:sp>
      </p:grpSp>
      <p:graphicFrame>
        <p:nvGraphicFramePr>
          <p:cNvPr name="Table 6" id="6"/>
          <p:cNvGraphicFramePr>
            <a:graphicFrameLocks noGrp="true"/>
          </p:cNvGraphicFramePr>
          <p:nvPr/>
        </p:nvGraphicFramePr>
        <p:xfrm>
          <a:off x="1028700" y="2510869"/>
          <a:ext cx="15930954" cy="6991350"/>
        </p:xfrm>
        <a:graphic>
          <a:graphicData uri="http://schemas.openxmlformats.org/drawingml/2006/table">
            <a:tbl>
              <a:tblPr/>
              <a:tblGrid>
                <a:gridCol w="5313183"/>
                <a:gridCol w="3520957"/>
                <a:gridCol w="3610029"/>
                <a:gridCol w="3486786"/>
              </a:tblGrid>
              <a:tr h="794907">
                <a:tc rowSpan="2">
                  <a:txBody>
                    <a:bodyPr anchor="t" rtlCol="false"/>
                    <a:lstStyle/>
                    <a:p>
                      <a:pPr algn="ctr">
                        <a:lnSpc>
                          <a:spcPts val="2520"/>
                        </a:lnSpc>
                        <a:defRPr/>
                      </a:pPr>
                      <a:r>
                        <a:rPr lang="en-US" b="true" sz="1800">
                          <a:solidFill>
                            <a:srgbClr val="000000"/>
                          </a:solidFill>
                          <a:latin typeface="Open Sans Bold"/>
                          <a:ea typeface="Open Sans Bold"/>
                          <a:cs typeface="Open Sans Bold"/>
                          <a:sym typeface="Open Sans Bold"/>
                        </a:rPr>
                        <a:t>Công việc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gridSpan="3">
                  <a:txBody>
                    <a:bodyPr anchor="t" rtlCol="false"/>
                    <a:lstStyle/>
                    <a:p>
                      <a:pPr algn="ctr">
                        <a:lnSpc>
                          <a:spcPts val="2520"/>
                        </a:lnSpc>
                        <a:defRPr/>
                      </a:pPr>
                      <a:r>
                        <a:rPr lang="en-US" b="true" sz="1800">
                          <a:solidFill>
                            <a:srgbClr val="000000"/>
                          </a:solidFill>
                          <a:latin typeface="Open Sans Bold"/>
                          <a:ea typeface="Open Sans Bold"/>
                          <a:cs typeface="Open Sans Bold"/>
                          <a:sym typeface="Open Sans Bold"/>
                        </a:rPr>
                        <a:t>Thời gian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hMerge="true">
                  <a:txBody>
                    <a:bodyPr anchor="t" rtlCol="false"/>
                    <a:lstStyle/>
                    <a:p>
                      <a:pPr algn="ctr">
                        <a:lnSpc>
                          <a:spcPts val="2520"/>
                        </a:lnSpc>
                        <a:defRPr/>
                      </a:pPr>
                      <a:r>
                        <a:rPr lang="en-US" b="true" sz="1800">
                          <a:solidFill>
                            <a:srgbClr val="000000"/>
                          </a:solidFill>
                          <a:latin typeface="Open Sans Bold"/>
                          <a:ea typeface="Open Sans Bold"/>
                          <a:cs typeface="Open Sans Bold"/>
                          <a:sym typeface="Open Sans Bold"/>
                        </a:rPr>
                        <a:t>Thời gian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hMerge="true">
                  <a:txBody>
                    <a:bodyPr anchor="t" rtlCol="false"/>
                    <a:lstStyle/>
                    <a:p>
                      <a:pPr algn="ctr">
                        <a:lnSpc>
                          <a:spcPts val="2520"/>
                        </a:lnSpc>
                        <a:defRPr/>
                      </a:pPr>
                      <a:r>
                        <a:rPr lang="en-US" b="true" sz="1800">
                          <a:solidFill>
                            <a:srgbClr val="000000"/>
                          </a:solidFill>
                          <a:latin typeface="Open Sans Bold"/>
                          <a:ea typeface="Open Sans Bold"/>
                          <a:cs typeface="Open Sans Bold"/>
                          <a:sym typeface="Open Sans Bold"/>
                        </a:rPr>
                        <a:t>Thời gian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27002">
                <a:tc vMerge="true">
                  <a:txBody>
                    <a:bodyPr anchor="t" rtlCol="false"/>
                    <a:lstStyle/>
                    <a:p>
                      <a:pPr algn="ctr">
                        <a:lnSpc>
                          <a:spcPts val="2520"/>
                        </a:lnSpc>
                        <a:defRPr/>
                      </a:pPr>
                      <a:r>
                        <a:rPr lang="en-US" b="true" sz="1800">
                          <a:solidFill>
                            <a:srgbClr val="000000"/>
                          </a:solidFill>
                          <a:latin typeface="Open Sans Bold"/>
                          <a:ea typeface="Open Sans Bold"/>
                          <a:cs typeface="Open Sans Bold"/>
                          <a:sym typeface="Open Sans Bold"/>
                        </a:rPr>
                        <a:t>Công việc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b="true" sz="1800">
                          <a:solidFill>
                            <a:srgbClr val="000000"/>
                          </a:solidFill>
                          <a:latin typeface="Open Sans Bold"/>
                          <a:ea typeface="Open Sans Bold"/>
                          <a:cs typeface="Open Sans Bold"/>
                          <a:sym typeface="Open Sans Bold"/>
                        </a:rPr>
                        <a:t>1</a:t>
                      </a:r>
                      <a:endParaRPr lang="en-US" sz="1100"/>
                    </a:p>
                    <a:p>
                      <a:pPr algn="ctr">
                        <a:lnSpc>
                          <a:spcPts val="2520"/>
                        </a:lnSpc>
                      </a:pPr>
                      <a:r>
                        <a:rPr lang="en-US" b="true" sz="1800">
                          <a:solidFill>
                            <a:srgbClr val="000000"/>
                          </a:solidFill>
                          <a:latin typeface="Open Sans Bold"/>
                          <a:ea typeface="Open Sans Bold"/>
                          <a:cs typeface="Open Sans Bold"/>
                          <a:sym typeface="Open Sans Bold"/>
                        </a:rPr>
                        <a:t>(20/2-6/3 </a:t>
                      </a:r>
                    </a:p>
                    <a:p>
                      <a:pPr algn="ctr">
                        <a:lnSpc>
                          <a:spcPts val="2520"/>
                        </a:lnSpc>
                      </a:pPr>
                      <a:r>
                        <a:rPr lang="en-US" b="true" sz="1800">
                          <a:solidFill>
                            <a:srgbClr val="000000"/>
                          </a:solidFill>
                          <a:latin typeface="Open Sans Bold"/>
                          <a:ea typeface="Open Sans Bold"/>
                          <a:cs typeface="Open Sans Bold"/>
                          <a:sym typeface="Open Sans Bold"/>
                        </a:rPr>
                        <a:t>14 ngày)</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b="true" sz="1800">
                          <a:solidFill>
                            <a:srgbClr val="000000"/>
                          </a:solidFill>
                          <a:latin typeface="Open Sans Bold"/>
                          <a:ea typeface="Open Sans Bold"/>
                          <a:cs typeface="Open Sans Bold"/>
                          <a:sym typeface="Open Sans Bold"/>
                        </a:rPr>
                        <a:t>2</a:t>
                      </a:r>
                      <a:endParaRPr lang="en-US" sz="1100"/>
                    </a:p>
                    <a:p>
                      <a:pPr algn="ctr">
                        <a:lnSpc>
                          <a:spcPts val="2520"/>
                        </a:lnSpc>
                      </a:pPr>
                      <a:r>
                        <a:rPr lang="en-US" b="true" sz="1800">
                          <a:solidFill>
                            <a:srgbClr val="000000"/>
                          </a:solidFill>
                          <a:latin typeface="Open Sans Bold"/>
                          <a:ea typeface="Open Sans Bold"/>
                          <a:cs typeface="Open Sans Bold"/>
                          <a:sym typeface="Open Sans Bold"/>
                        </a:rPr>
                        <a:t>(7/3-12/04 </a:t>
                      </a:r>
                    </a:p>
                    <a:p>
                      <a:pPr algn="ctr">
                        <a:lnSpc>
                          <a:spcPts val="2520"/>
                        </a:lnSpc>
                      </a:pPr>
                      <a:r>
                        <a:rPr lang="en-US" b="true" sz="1800">
                          <a:solidFill>
                            <a:srgbClr val="000000"/>
                          </a:solidFill>
                          <a:latin typeface="Open Sans Bold"/>
                          <a:ea typeface="Open Sans Bold"/>
                          <a:cs typeface="Open Sans Bold"/>
                          <a:sym typeface="Open Sans Bold"/>
                        </a:rPr>
                        <a:t>36 ngày)</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b="true" sz="1800">
                          <a:solidFill>
                            <a:srgbClr val="000000"/>
                          </a:solidFill>
                          <a:latin typeface="Open Sans Bold"/>
                          <a:ea typeface="Open Sans Bold"/>
                          <a:cs typeface="Open Sans Bold"/>
                          <a:sym typeface="Open Sans Bold"/>
                        </a:rPr>
                        <a:t>3</a:t>
                      </a:r>
                      <a:endParaRPr lang="en-US" sz="1100"/>
                    </a:p>
                    <a:p>
                      <a:pPr algn="ctr">
                        <a:lnSpc>
                          <a:spcPts val="2520"/>
                        </a:lnSpc>
                      </a:pPr>
                      <a:r>
                        <a:rPr lang="en-US" b="true" sz="1800">
                          <a:solidFill>
                            <a:srgbClr val="000000"/>
                          </a:solidFill>
                          <a:latin typeface="Open Sans Bold"/>
                          <a:ea typeface="Open Sans Bold"/>
                          <a:cs typeface="Open Sans Bold"/>
                          <a:sym typeface="Open Sans Bold"/>
                        </a:rPr>
                        <a:t>(13/4-07/05</a:t>
                      </a:r>
                    </a:p>
                    <a:p>
                      <a:pPr algn="ctr">
                        <a:lnSpc>
                          <a:spcPts val="2520"/>
                        </a:lnSpc>
                      </a:pPr>
                      <a:r>
                        <a:rPr lang="en-US" b="true" sz="1800">
                          <a:solidFill>
                            <a:srgbClr val="000000"/>
                          </a:solidFill>
                          <a:latin typeface="Open Sans Bold"/>
                          <a:ea typeface="Open Sans Bold"/>
                          <a:cs typeface="Open Sans Bold"/>
                          <a:sym typeface="Open Sans Bold"/>
                        </a:rPr>
                        <a:t> 24 ngày)</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4907">
                <a:tc>
                  <a:txBody>
                    <a:bodyPr anchor="t" rtlCol="false"/>
                    <a:lstStyle/>
                    <a:p>
                      <a:pPr algn="ctr">
                        <a:lnSpc>
                          <a:spcPts val="2520"/>
                        </a:lnSpc>
                        <a:defRPr/>
                      </a:pPr>
                      <a:r>
                        <a:rPr lang="en-US" sz="1800">
                          <a:solidFill>
                            <a:srgbClr val="000000"/>
                          </a:solidFill>
                          <a:latin typeface="Open Sans"/>
                          <a:ea typeface="Open Sans"/>
                          <a:cs typeface="Open Sans"/>
                          <a:sym typeface="Open Sans"/>
                        </a:rPr>
                        <a:t>Thu thập &amp; xử lý dữ liệu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4907">
                <a:tc>
                  <a:txBody>
                    <a:bodyPr anchor="t" rtlCol="false"/>
                    <a:lstStyle/>
                    <a:p>
                      <a:pPr algn="ctr">
                        <a:lnSpc>
                          <a:spcPts val="2520"/>
                        </a:lnSpc>
                        <a:defRPr/>
                      </a:pPr>
                      <a:r>
                        <a:rPr lang="en-US" sz="1800">
                          <a:solidFill>
                            <a:srgbClr val="000000"/>
                          </a:solidFill>
                          <a:latin typeface="Open Sans"/>
                          <a:ea typeface="Open Sans"/>
                          <a:cs typeface="Open Sans"/>
                          <a:sym typeface="Open Sans"/>
                        </a:rPr>
                        <a:t>Xây dựng &amp; quản lý đặc trưng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4907">
                <a:tc>
                  <a:txBody>
                    <a:bodyPr anchor="t" rtlCol="false"/>
                    <a:lstStyle/>
                    <a:p>
                      <a:pPr algn="ctr">
                        <a:lnSpc>
                          <a:spcPts val="2520"/>
                        </a:lnSpc>
                        <a:defRPr/>
                      </a:pPr>
                      <a:r>
                        <a:rPr lang="en-US" sz="1800">
                          <a:solidFill>
                            <a:srgbClr val="000000"/>
                          </a:solidFill>
                          <a:latin typeface="Open Sans"/>
                          <a:ea typeface="Open Sans"/>
                          <a:cs typeface="Open Sans"/>
                          <a:sym typeface="Open Sans"/>
                        </a:rPr>
                        <a:t>Huấn luyện &amp; theo dõi mô hình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4907">
                <a:tc>
                  <a:txBody>
                    <a:bodyPr anchor="t" rtlCol="false"/>
                    <a:lstStyle/>
                    <a:p>
                      <a:pPr algn="ctr">
                        <a:lnSpc>
                          <a:spcPts val="2520"/>
                        </a:lnSpc>
                        <a:defRPr/>
                      </a:pPr>
                      <a:r>
                        <a:rPr lang="en-US" sz="1800">
                          <a:solidFill>
                            <a:srgbClr val="000000"/>
                          </a:solidFill>
                          <a:latin typeface="Open Sans"/>
                          <a:ea typeface="Open Sans"/>
                          <a:cs typeface="Open Sans"/>
                          <a:sym typeface="Open Sans"/>
                        </a:rPr>
                        <a:t>Quản lý &amp; lựa chọn 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gridSpan="2">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hMerge="true">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4907">
                <a:tc>
                  <a:txBody>
                    <a:bodyPr anchor="t" rtlCol="false"/>
                    <a:lstStyle/>
                    <a:p>
                      <a:pPr algn="ctr">
                        <a:lnSpc>
                          <a:spcPts val="2520"/>
                        </a:lnSpc>
                        <a:defRPr/>
                      </a:pPr>
                      <a:r>
                        <a:rPr lang="en-US" sz="1800">
                          <a:solidFill>
                            <a:srgbClr val="000000"/>
                          </a:solidFill>
                          <a:latin typeface="Open Sans"/>
                          <a:ea typeface="Open Sans"/>
                          <a:cs typeface="Open Sans"/>
                          <a:sym typeface="Open Sans"/>
                        </a:rPr>
                        <a:t>Triển khai &amp; dự đoán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4907">
                <a:tc>
                  <a:txBody>
                    <a:bodyPr anchor="t" rtlCol="false"/>
                    <a:lstStyle/>
                    <a:p>
                      <a:pPr algn="ctr">
                        <a:lnSpc>
                          <a:spcPts val="2520"/>
                        </a:lnSpc>
                        <a:defRPr/>
                      </a:pPr>
                      <a:r>
                        <a:rPr lang="en-US" sz="1800">
                          <a:solidFill>
                            <a:srgbClr val="000000"/>
                          </a:solidFill>
                          <a:latin typeface="Open Sans"/>
                          <a:ea typeface="Open Sans"/>
                          <a:cs typeface="Open Sans"/>
                          <a:sym typeface="Open Sans"/>
                        </a:rPr>
                        <a:t>Giám sát &amp; tái huấn luyện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028700" y="1819354"/>
            <a:ext cx="4298553"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Open Sans Bold"/>
                <a:ea typeface="Open Sans Bold"/>
                <a:cs typeface="Open Sans Bold"/>
                <a:sym typeface="Open Sans Bold"/>
              </a:rPr>
              <a:t>XI</a:t>
            </a:r>
            <a:r>
              <a:rPr lang="en-US" b="true" sz="2400">
                <a:solidFill>
                  <a:srgbClr val="000000"/>
                </a:solidFill>
                <a:latin typeface="Open Sans Bold"/>
                <a:ea typeface="Open Sans Bold"/>
                <a:cs typeface="Open Sans Bold"/>
                <a:sym typeface="Open Sans Bold"/>
              </a:rPr>
              <a:t>. Bảng công việc và tiến độ</a:t>
            </a:r>
          </a:p>
        </p:txBody>
      </p:sp>
      <p:sp>
        <p:nvSpPr>
          <p:cNvPr name="AutoShape 8" id="8"/>
          <p:cNvSpPr/>
          <p:nvPr/>
        </p:nvSpPr>
        <p:spPr>
          <a:xfrm>
            <a:off x="6727781" y="5095216"/>
            <a:ext cx="3036872" cy="0"/>
          </a:xfrm>
          <a:prstGeom prst="line">
            <a:avLst/>
          </a:prstGeom>
          <a:ln cap="flat" w="85725">
            <a:solidFill>
              <a:srgbClr val="000000"/>
            </a:solidFill>
            <a:prstDash val="solid"/>
            <a:headEnd type="arrow" len="sm" w="med"/>
            <a:tailEnd type="arrow" len="sm" w="med"/>
          </a:ln>
        </p:spPr>
      </p:sp>
      <p:sp>
        <p:nvSpPr>
          <p:cNvPr name="AutoShape 9" id="9"/>
          <p:cNvSpPr/>
          <p:nvPr/>
        </p:nvSpPr>
        <p:spPr>
          <a:xfrm>
            <a:off x="6727781" y="5889383"/>
            <a:ext cx="3036872" cy="0"/>
          </a:xfrm>
          <a:prstGeom prst="line">
            <a:avLst/>
          </a:prstGeom>
          <a:ln cap="flat" w="85725">
            <a:solidFill>
              <a:srgbClr val="000000"/>
            </a:solidFill>
            <a:prstDash val="solid"/>
            <a:headEnd type="arrow" len="sm" w="med"/>
            <a:tailEnd type="arrow" len="sm" w="med"/>
          </a:ln>
        </p:spPr>
      </p:sp>
      <p:sp>
        <p:nvSpPr>
          <p:cNvPr name="AutoShape 10" id="10"/>
          <p:cNvSpPr/>
          <p:nvPr/>
        </p:nvSpPr>
        <p:spPr>
          <a:xfrm>
            <a:off x="6727781" y="6660908"/>
            <a:ext cx="3036872" cy="0"/>
          </a:xfrm>
          <a:prstGeom prst="line">
            <a:avLst/>
          </a:prstGeom>
          <a:ln cap="flat" w="85725">
            <a:solidFill>
              <a:srgbClr val="000000"/>
            </a:solidFill>
            <a:prstDash val="solid"/>
            <a:headEnd type="arrow" len="sm" w="med"/>
            <a:tailEnd type="arrow" len="sm" w="med"/>
          </a:ln>
        </p:spPr>
      </p:sp>
      <p:sp>
        <p:nvSpPr>
          <p:cNvPr name="AutoShape 11" id="11"/>
          <p:cNvSpPr/>
          <p:nvPr/>
        </p:nvSpPr>
        <p:spPr>
          <a:xfrm>
            <a:off x="10299181" y="8262711"/>
            <a:ext cx="3036872" cy="0"/>
          </a:xfrm>
          <a:prstGeom prst="line">
            <a:avLst/>
          </a:prstGeom>
          <a:ln cap="flat" w="85725">
            <a:solidFill>
              <a:srgbClr val="000000"/>
            </a:solidFill>
            <a:prstDash val="solid"/>
            <a:headEnd type="arrow" len="sm" w="med"/>
            <a:tailEnd type="arrow" len="sm" w="med"/>
          </a:ln>
        </p:spPr>
      </p:sp>
      <p:sp>
        <p:nvSpPr>
          <p:cNvPr name="AutoShape 12" id="12"/>
          <p:cNvSpPr/>
          <p:nvPr/>
        </p:nvSpPr>
        <p:spPr>
          <a:xfrm>
            <a:off x="13500497" y="9215438"/>
            <a:ext cx="3318195" cy="0"/>
          </a:xfrm>
          <a:prstGeom prst="line">
            <a:avLst/>
          </a:prstGeom>
          <a:ln cap="flat" w="85725">
            <a:solidFill>
              <a:srgbClr val="000000"/>
            </a:solidFill>
            <a:prstDash val="solid"/>
            <a:headEnd type="arrow" len="sm" w="med"/>
            <a:tailEnd type="arrow" len="sm" w="med"/>
          </a:ln>
        </p:spPr>
      </p:sp>
      <p:sp>
        <p:nvSpPr>
          <p:cNvPr name="AutoShape 13" id="13"/>
          <p:cNvSpPr/>
          <p:nvPr/>
        </p:nvSpPr>
        <p:spPr>
          <a:xfrm>
            <a:off x="6737306" y="7461810"/>
            <a:ext cx="6598747" cy="0"/>
          </a:xfrm>
          <a:prstGeom prst="line">
            <a:avLst/>
          </a:prstGeom>
          <a:ln cap="flat" w="85725">
            <a:solidFill>
              <a:srgbClr val="000000"/>
            </a:solidFill>
            <a:prstDash val="solid"/>
            <a:headEnd type="arrow" len="sm" w="med"/>
            <a:tailEnd type="arrow" len="sm" w="med"/>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54852" y="9197340"/>
            <a:ext cx="19080555" cy="3086100"/>
            <a:chOff x="0" y="0"/>
            <a:chExt cx="5025331" cy="812800"/>
          </a:xfrm>
        </p:grpSpPr>
        <p:sp>
          <p:nvSpPr>
            <p:cNvPr name="Freeform 4" id="4"/>
            <p:cNvSpPr/>
            <p:nvPr/>
          </p:nvSpPr>
          <p:spPr>
            <a:xfrm flipH="false" flipV="false" rot="0">
              <a:off x="0" y="0"/>
              <a:ext cx="5025332" cy="812800"/>
            </a:xfrm>
            <a:custGeom>
              <a:avLst/>
              <a:gdLst/>
              <a:ahLst/>
              <a:cxnLst/>
              <a:rect r="r" b="b" t="t" l="l"/>
              <a:pathLst>
                <a:path h="812800" w="5025332">
                  <a:moveTo>
                    <a:pt x="0" y="0"/>
                  </a:moveTo>
                  <a:lnTo>
                    <a:pt x="5025332" y="0"/>
                  </a:lnTo>
                  <a:lnTo>
                    <a:pt x="5025332" y="812800"/>
                  </a:lnTo>
                  <a:lnTo>
                    <a:pt x="0" y="812800"/>
                  </a:lnTo>
                  <a:close/>
                </a:path>
              </a:pathLst>
            </a:custGeom>
            <a:solidFill>
              <a:srgbClr val="F1F5FA"/>
            </a:solidFill>
          </p:spPr>
        </p:sp>
        <p:sp>
          <p:nvSpPr>
            <p:cNvPr name="TextBox 5" id="5"/>
            <p:cNvSpPr txBox="true"/>
            <p:nvPr/>
          </p:nvSpPr>
          <p:spPr>
            <a:xfrm>
              <a:off x="0" y="-38100"/>
              <a:ext cx="5025331" cy="850900"/>
            </a:xfrm>
            <a:prstGeom prst="rect">
              <a:avLst/>
            </a:prstGeom>
          </p:spPr>
          <p:txBody>
            <a:bodyPr anchor="ctr" rtlCol="false" tIns="50800" lIns="50800" bIns="50800" rIns="50800"/>
            <a:lstStyle/>
            <a:p>
              <a:pPr algn="ctr">
                <a:lnSpc>
                  <a:spcPts val="3359"/>
                </a:lnSpc>
              </a:pPr>
            </a:p>
          </p:txBody>
        </p:sp>
      </p:grpSp>
      <p:sp>
        <p:nvSpPr>
          <p:cNvPr name="TextBox 6" id="6"/>
          <p:cNvSpPr txBox="true"/>
          <p:nvPr/>
        </p:nvSpPr>
        <p:spPr>
          <a:xfrm rot="0">
            <a:off x="1019175" y="1929579"/>
            <a:ext cx="3017242"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Open Sans Bold"/>
                <a:ea typeface="Open Sans Bold"/>
                <a:cs typeface="Open Sans Bold"/>
                <a:sym typeface="Open Sans Bold"/>
              </a:rPr>
              <a:t>XII</a:t>
            </a:r>
            <a:r>
              <a:rPr lang="en-US" b="true" sz="2400">
                <a:solidFill>
                  <a:srgbClr val="000000"/>
                </a:solidFill>
                <a:latin typeface="Open Sans Bold"/>
                <a:ea typeface="Open Sans Bold"/>
                <a:cs typeface="Open Sans Bold"/>
                <a:sym typeface="Open Sans Bold"/>
              </a:rPr>
              <a:t>. Các lỗi gặp phải </a:t>
            </a:r>
          </a:p>
        </p:txBody>
      </p:sp>
      <p:sp>
        <p:nvSpPr>
          <p:cNvPr name="TextBox 7" id="7"/>
          <p:cNvSpPr txBox="true"/>
          <p:nvPr/>
        </p:nvSpPr>
        <p:spPr>
          <a:xfrm rot="0">
            <a:off x="1028700" y="2447925"/>
            <a:ext cx="16230600" cy="5844541"/>
          </a:xfrm>
          <a:prstGeom prst="rect">
            <a:avLst/>
          </a:prstGeom>
        </p:spPr>
        <p:txBody>
          <a:bodyPr anchor="t" rtlCol="false" tIns="0" lIns="0" bIns="0" rIns="0">
            <a:spAutoFit/>
          </a:bodyPr>
          <a:lstStyle/>
          <a:p>
            <a:pPr algn="just">
              <a:lnSpc>
                <a:spcPts val="3359"/>
              </a:lnSpc>
              <a:spcBef>
                <a:spcPct val="0"/>
              </a:spcBef>
            </a:pPr>
            <a:r>
              <a:rPr lang="en-US" b="true" sz="2400" i="true">
                <a:solidFill>
                  <a:srgbClr val="000000"/>
                </a:solidFill>
                <a:latin typeface="Open Sans Bold Italics"/>
                <a:ea typeface="Open Sans Bold Italics"/>
                <a:cs typeface="Open Sans Bold Italics"/>
                <a:sym typeface="Open Sans Bold Italics"/>
              </a:rPr>
              <a:t>1. Khó khăn trong việc tiếp cận công nghệ mới:</a:t>
            </a:r>
            <a:r>
              <a:rPr lang="en-US" b="true" sz="2400">
                <a:solidFill>
                  <a:srgbClr val="000000"/>
                </a:solidFill>
                <a:latin typeface="Open Sans Bold"/>
                <a:ea typeface="Open Sans Bold"/>
                <a:cs typeface="Open Sans Bold"/>
                <a:sym typeface="Open Sans Bold"/>
              </a:rPr>
              <a:t> </a:t>
            </a:r>
            <a:r>
              <a:rPr lang="en-US" sz="2400">
                <a:solidFill>
                  <a:srgbClr val="000000"/>
                </a:solidFill>
                <a:latin typeface="Open Sans"/>
                <a:ea typeface="Open Sans"/>
                <a:cs typeface="Open Sans"/>
                <a:sym typeface="Open Sans"/>
              </a:rPr>
              <a:t>Việc phải làm quen với nhiều công cụ mới như, Spark/Databricks, MLflow, Feast,… đòi hỏi thời gian tìm hiểu và thực hành, đặc biệt khi các công cụ này có tài liệu phức tạp. </a:t>
            </a:r>
          </a:p>
          <a:p>
            <a:pPr algn="just">
              <a:lnSpc>
                <a:spcPts val="3359"/>
              </a:lnSpc>
              <a:spcBef>
                <a:spcPct val="0"/>
              </a:spcBef>
            </a:pPr>
            <a:r>
              <a:rPr lang="en-US" b="true" sz="2400" i="true">
                <a:solidFill>
                  <a:srgbClr val="000000"/>
                </a:solidFill>
                <a:latin typeface="Open Sans Bold Italics"/>
                <a:ea typeface="Open Sans Bold Italics"/>
                <a:cs typeface="Open Sans Bold Italics"/>
                <a:sym typeface="Open Sans Bold Italics"/>
              </a:rPr>
              <a:t>2. Lỗi trong quá trình cài đặt và cấu hình:</a:t>
            </a:r>
            <a:r>
              <a:rPr lang="en-US" b="true" sz="2400">
                <a:solidFill>
                  <a:srgbClr val="000000"/>
                </a:solidFill>
                <a:latin typeface="Open Sans Bold"/>
                <a:ea typeface="Open Sans Bold"/>
                <a:cs typeface="Open Sans Bold"/>
                <a:sym typeface="Open Sans Bold"/>
              </a:rPr>
              <a:t> </a:t>
            </a:r>
            <a:r>
              <a:rPr lang="en-US" sz="2400">
                <a:solidFill>
                  <a:srgbClr val="000000"/>
                </a:solidFill>
                <a:latin typeface="Open Sans"/>
                <a:ea typeface="Open Sans"/>
                <a:cs typeface="Open Sans"/>
                <a:sym typeface="Open Sans"/>
              </a:rPr>
              <a:t>Việc thiết lập môi trường (Feature Store, MLflow,…) đôi khi gặp lỗi về cấu hình, version không tương thích hoặc kết nối giữa các thành phần. </a:t>
            </a:r>
          </a:p>
          <a:p>
            <a:pPr algn="just">
              <a:lnSpc>
                <a:spcPts val="3359"/>
              </a:lnSpc>
              <a:spcBef>
                <a:spcPct val="0"/>
              </a:spcBef>
            </a:pPr>
            <a:r>
              <a:rPr lang="en-US" b="true" sz="2400" i="true">
                <a:solidFill>
                  <a:srgbClr val="000000"/>
                </a:solidFill>
                <a:latin typeface="Open Sans Bold Italics"/>
                <a:ea typeface="Open Sans Bold Italics"/>
                <a:cs typeface="Open Sans Bold Italics"/>
                <a:sym typeface="Open Sans Bold Italics"/>
              </a:rPr>
              <a:t>3. Lỗi khi chạy pipeline:</a:t>
            </a:r>
            <a:r>
              <a:rPr lang="en-US" b="true" sz="2400">
                <a:solidFill>
                  <a:srgbClr val="000000"/>
                </a:solidFill>
                <a:latin typeface="Open Sans Bold"/>
                <a:ea typeface="Open Sans Bold"/>
                <a:cs typeface="Open Sans Bold"/>
                <a:sym typeface="Open Sans Bold"/>
              </a:rPr>
              <a:t> </a:t>
            </a:r>
            <a:r>
              <a:rPr lang="en-US" sz="2400">
                <a:solidFill>
                  <a:srgbClr val="000000"/>
                </a:solidFill>
                <a:latin typeface="Open Sans"/>
                <a:ea typeface="Open Sans"/>
                <a:cs typeface="Open Sans"/>
                <a:sym typeface="Open Sans"/>
              </a:rPr>
              <a:t>Trong quá trình xử lý dữ liệu hoặc huấn luyện mô hình, thường xảy ra lỗi (data sai format, missing value,…) và cần debug, kiểm tra lại từng bước. </a:t>
            </a:r>
          </a:p>
          <a:p>
            <a:pPr algn="just">
              <a:lnSpc>
                <a:spcPts val="3359"/>
              </a:lnSpc>
              <a:spcBef>
                <a:spcPct val="0"/>
              </a:spcBef>
            </a:pPr>
            <a:r>
              <a:rPr lang="en-US" b="true" sz="2400" i="true">
                <a:solidFill>
                  <a:srgbClr val="000000"/>
                </a:solidFill>
                <a:latin typeface="Open Sans Bold Italics"/>
                <a:ea typeface="Open Sans Bold Italics"/>
                <a:cs typeface="Open Sans Bold Italics"/>
                <a:sym typeface="Open Sans Bold Italics"/>
              </a:rPr>
              <a:t>4. Khó khăn trong việc hiểu và triển khai:</a:t>
            </a:r>
            <a:r>
              <a:rPr lang="en-US" b="true" sz="2400">
                <a:solidFill>
                  <a:srgbClr val="000000"/>
                </a:solidFill>
                <a:latin typeface="Open Sans Bold"/>
                <a:ea typeface="Open Sans Bold"/>
                <a:cs typeface="Open Sans Bold"/>
                <a:sym typeface="Open Sans Bold"/>
              </a:rPr>
              <a:t> </a:t>
            </a:r>
            <a:r>
              <a:rPr lang="en-US" sz="2400">
                <a:solidFill>
                  <a:srgbClr val="000000"/>
                </a:solidFill>
                <a:latin typeface="Open Sans"/>
                <a:ea typeface="Open Sans"/>
                <a:cs typeface="Open Sans"/>
                <a:sym typeface="Open Sans"/>
              </a:rPr>
              <a:t>Một số khái niệm như Feature Store, Model Registry, Data Drift,… khá trừu tượng, cần thời gian để hiểu và áp dụng đúng vào bài toán thực tế. </a:t>
            </a:r>
          </a:p>
          <a:p>
            <a:pPr algn="just">
              <a:lnSpc>
                <a:spcPts val="3359"/>
              </a:lnSpc>
              <a:spcBef>
                <a:spcPct val="0"/>
              </a:spcBef>
            </a:pPr>
            <a:r>
              <a:rPr lang="en-US" b="true" sz="2400" i="true">
                <a:solidFill>
                  <a:srgbClr val="000000"/>
                </a:solidFill>
                <a:latin typeface="Open Sans Bold Italics"/>
                <a:ea typeface="Open Sans Bold Italics"/>
                <a:cs typeface="Open Sans Bold Italics"/>
                <a:sym typeface="Open Sans Bold Italics"/>
              </a:rPr>
              <a:t>5. Vấn đề đồng bộ dữ liệu:</a:t>
            </a:r>
            <a:r>
              <a:rPr lang="en-US" b="true" sz="2400">
                <a:solidFill>
                  <a:srgbClr val="000000"/>
                </a:solidFill>
                <a:latin typeface="Open Sans Bold"/>
                <a:ea typeface="Open Sans Bold"/>
                <a:cs typeface="Open Sans Bold"/>
                <a:sym typeface="Open Sans Bold"/>
              </a:rPr>
              <a:t> </a:t>
            </a:r>
            <a:r>
              <a:rPr lang="en-US" sz="2400">
                <a:solidFill>
                  <a:srgbClr val="000000"/>
                </a:solidFill>
                <a:latin typeface="Open Sans"/>
                <a:ea typeface="Open Sans"/>
                <a:cs typeface="Open Sans"/>
                <a:sym typeface="Open Sans"/>
              </a:rPr>
              <a:t>Đảm bảo dữ liệu giữa training (Offline Store) và inference (Online Store) luôn nhất quán là một thách thức. </a:t>
            </a:r>
          </a:p>
          <a:p>
            <a:pPr algn="just">
              <a:lnSpc>
                <a:spcPts val="3359"/>
              </a:lnSpc>
              <a:spcBef>
                <a:spcPct val="0"/>
              </a:spcBef>
            </a:pPr>
            <a:r>
              <a:rPr lang="en-US" b="true" sz="2400" i="true">
                <a:solidFill>
                  <a:srgbClr val="000000"/>
                </a:solidFill>
                <a:latin typeface="Open Sans Bold Italics"/>
                <a:ea typeface="Open Sans Bold Italics"/>
                <a:cs typeface="Open Sans Bold Italics"/>
                <a:sym typeface="Open Sans Bold Italics"/>
              </a:rPr>
              <a:t>6. Tối ưu hiệu suất hệ thống:</a:t>
            </a:r>
            <a:r>
              <a:rPr lang="en-US" b="true" sz="2400">
                <a:solidFill>
                  <a:srgbClr val="000000"/>
                </a:solidFill>
                <a:latin typeface="Open Sans Bold"/>
                <a:ea typeface="Open Sans Bold"/>
                <a:cs typeface="Open Sans Bold"/>
                <a:sym typeface="Open Sans Bold"/>
              </a:rPr>
              <a:t> </a:t>
            </a:r>
            <a:r>
              <a:rPr lang="en-US" sz="2400">
                <a:solidFill>
                  <a:srgbClr val="000000"/>
                </a:solidFill>
                <a:latin typeface="Open Sans"/>
                <a:ea typeface="Open Sans"/>
                <a:cs typeface="Open Sans"/>
                <a:sym typeface="Open Sans"/>
              </a:rPr>
              <a:t>Việc xử lý dữ liệu lớn và dự đoán đòi hỏi tối ưu pipeline để tránh độ trễ cao.</a:t>
            </a:r>
          </a:p>
          <a:p>
            <a:pPr algn="just">
              <a:lnSpc>
                <a:spcPts val="3359"/>
              </a:lnSpc>
              <a:spcBef>
                <a:spcPct val="0"/>
              </a:spcBef>
            </a:pPr>
            <a:r>
              <a:rPr lang="en-US" b="true" sz="2400" i="true">
                <a:solidFill>
                  <a:srgbClr val="000000"/>
                </a:solidFill>
                <a:latin typeface="Open Sans Bold Italics"/>
                <a:ea typeface="Open Sans Bold Italics"/>
                <a:cs typeface="Open Sans Bold Italics"/>
                <a:sym typeface="Open Sans Bold Italics"/>
              </a:rPr>
              <a:t>7. Khó khăn do overfitting mô hình:</a:t>
            </a:r>
            <a:r>
              <a:rPr lang="en-US" sz="2400">
                <a:solidFill>
                  <a:srgbClr val="000000"/>
                </a:solidFill>
                <a:latin typeface="Open Sans"/>
                <a:ea typeface="Open Sans"/>
                <a:cs typeface="Open Sans"/>
                <a:sym typeface="Open Sans"/>
              </a:rPr>
              <a:t> Mô hình đạt hiệu năng rất cao trên tập huấn luyện và cross-validation nhưng giảm mạnh trên tập test, cho thấy khả năng tổng quát hóa kém và dễ bị overfitting, cần thêm bước điều chỉnh và kiểm soát mô hình.</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DAHGpOJ6jpg</dc:identifier>
  <dcterms:modified xsi:type="dcterms:W3CDTF">2011-08-01T06:04:30Z</dcterms:modified>
  <cp:revision>1</cp:revision>
  <dc:title>Slide_baocao</dc:title>
</cp:coreProperties>
</file>