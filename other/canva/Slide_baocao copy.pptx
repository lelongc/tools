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anva Sans Bold" charset="1" panose="020B0803030501040103"/>
      <p:regular r:id="rId20"/>
    </p:embeddedFont>
    <p:embeddedFont>
      <p:font typeface="Canva Sans" charset="1" panose="020B05030305010401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971446" y="2330523"/>
            <a:ext cx="14345107" cy="1554480"/>
          </a:xfrm>
          <a:prstGeom prst="rect">
            <a:avLst/>
          </a:prstGeom>
        </p:spPr>
        <p:txBody>
          <a:bodyPr anchor="t" rtlCol="false" tIns="0" lIns="0" bIns="0" rIns="0">
            <a:spAutoFit/>
          </a:bodyPr>
          <a:lstStyle/>
          <a:p>
            <a:pPr algn="ctr">
              <a:lnSpc>
                <a:spcPts val="4799"/>
              </a:lnSpc>
            </a:pPr>
            <a:r>
              <a:rPr lang="en-US" sz="3999" b="true">
                <a:solidFill>
                  <a:srgbClr val="1E3A8A"/>
                </a:solidFill>
                <a:latin typeface="Canva Sans Bold"/>
                <a:ea typeface="Canva Sans Bold"/>
                <a:cs typeface="Canva Sans Bold"/>
                <a:sym typeface="Canva Sans Bold"/>
              </a:rPr>
              <a:t>TÌM HIỂU VỀ HỆ THỐNG DẤU CÂU</a:t>
            </a:r>
          </a:p>
          <a:p>
            <a:pPr algn="ctr">
              <a:lnSpc>
                <a:spcPts val="4799"/>
              </a:lnSpc>
            </a:pPr>
            <a:r>
              <a:rPr lang="en-US" sz="3999" b="true">
                <a:solidFill>
                  <a:srgbClr val="1E3A8A"/>
                </a:solidFill>
                <a:latin typeface="Canva Sans Bold"/>
                <a:ea typeface="Canva Sans Bold"/>
                <a:cs typeface="Canva Sans Bold"/>
                <a:sym typeface="Canva Sans Bold"/>
              </a:rPr>
              <a:t>TRONG TIẾNG VIỆT</a:t>
            </a:r>
          </a:p>
        </p:txBody>
      </p:sp>
      <p:grpSp>
        <p:nvGrpSpPr>
          <p:cNvPr name="Group 5" id="5"/>
          <p:cNvGrpSpPr/>
          <p:nvPr/>
        </p:nvGrpSpPr>
        <p:grpSpPr>
          <a:xfrm rot="0">
            <a:off x="957881" y="4477975"/>
            <a:ext cx="16372237" cy="3630930"/>
            <a:chOff x="0" y="0"/>
            <a:chExt cx="21829650" cy="4841240"/>
          </a:xfrm>
        </p:grpSpPr>
        <p:sp>
          <p:nvSpPr>
            <p:cNvPr name="Freeform 6" id="6"/>
            <p:cNvSpPr/>
            <p:nvPr/>
          </p:nvSpPr>
          <p:spPr>
            <a:xfrm flipH="false" flipV="false" rot="0">
              <a:off x="0" y="0"/>
              <a:ext cx="21829519" cy="4841240"/>
            </a:xfrm>
            <a:custGeom>
              <a:avLst/>
              <a:gdLst/>
              <a:ahLst/>
              <a:cxnLst/>
              <a:rect r="r" b="b" t="t" l="l"/>
              <a:pathLst>
                <a:path h="4841240" w="21829519">
                  <a:moveTo>
                    <a:pt x="0" y="806831"/>
                  </a:moveTo>
                  <a:cubicBezTo>
                    <a:pt x="0" y="361315"/>
                    <a:pt x="465122" y="0"/>
                    <a:pt x="1038637" y="0"/>
                  </a:cubicBezTo>
                  <a:lnTo>
                    <a:pt x="20790881" y="0"/>
                  </a:lnTo>
                  <a:cubicBezTo>
                    <a:pt x="21364559" y="0"/>
                    <a:pt x="21829519" y="361315"/>
                    <a:pt x="21829519" y="806831"/>
                  </a:cubicBezTo>
                  <a:lnTo>
                    <a:pt x="21829519" y="4034409"/>
                  </a:lnTo>
                  <a:cubicBezTo>
                    <a:pt x="21829519" y="4480052"/>
                    <a:pt x="21364395" y="4841240"/>
                    <a:pt x="20790881" y="4841240"/>
                  </a:cubicBezTo>
                  <a:lnTo>
                    <a:pt x="1038637" y="4841240"/>
                  </a:lnTo>
                  <a:cubicBezTo>
                    <a:pt x="465122" y="4841240"/>
                    <a:pt x="0" y="4479925"/>
                    <a:pt x="0" y="4034409"/>
                  </a:cubicBezTo>
                  <a:close/>
                </a:path>
              </a:pathLst>
            </a:custGeom>
            <a:solidFill>
              <a:srgbClr val="FFFFFF"/>
            </a:solidFill>
            <a:ln w="19050" cap="sq">
              <a:solidFill>
                <a:srgbClr val="CBD5E1"/>
              </a:solidFill>
              <a:prstDash val="solid"/>
              <a:miter/>
            </a:ln>
          </p:spPr>
        </p:sp>
        <p:sp>
          <p:nvSpPr>
            <p:cNvPr name="TextBox 7" id="7"/>
            <p:cNvSpPr txBox="true"/>
            <p:nvPr/>
          </p:nvSpPr>
          <p:spPr>
            <a:xfrm>
              <a:off x="0" y="0"/>
              <a:ext cx="21829650" cy="4841240"/>
            </a:xfrm>
            <a:prstGeom prst="rect">
              <a:avLst/>
            </a:prstGeom>
          </p:spPr>
          <p:txBody>
            <a:bodyPr anchor="ctr" rtlCol="false" tIns="50800" lIns="50800" bIns="50800" rIns="50800"/>
            <a:lstStyle/>
            <a:p>
              <a:pPr algn="ctr">
                <a:lnSpc>
                  <a:spcPts val="3479"/>
                </a:lnSpc>
              </a:pPr>
              <a:r>
                <a:rPr lang="en-US" sz="2899" b="true">
                  <a:solidFill>
                    <a:srgbClr val="0F4C81"/>
                  </a:solidFill>
                  <a:latin typeface="Canva Sans Bold"/>
                  <a:ea typeface="Canva Sans Bold"/>
                  <a:cs typeface="Canva Sans Bold"/>
                  <a:sym typeface="Canva Sans Bold"/>
                </a:rPr>
                <a:t>ĐỀ TÀI: TÌM HIỂU VAI TRÒ, TÁC DỤNG, VỊ TRÍ VÀ VÍ DỤ CỦA CÁC DẤU CÂU THÔNG DỤNG</a:t>
              </a:r>
            </a:p>
            <a:p>
              <a:pPr algn="ctr">
                <a:lnSpc>
                  <a:spcPts val="3479"/>
                </a:lnSpc>
              </a:pPr>
            </a:p>
            <a:p>
              <a:pPr algn="ctr">
                <a:lnSpc>
                  <a:spcPts val="3239"/>
                </a:lnSpc>
              </a:pPr>
              <a:r>
                <a:rPr lang="en-US" sz="2699" b="true">
                  <a:solidFill>
                    <a:srgbClr val="1E3A8A"/>
                  </a:solidFill>
                  <a:latin typeface="Canva Sans Bold"/>
                  <a:ea typeface="Canva Sans Bold"/>
                  <a:cs typeface="Canva Sans Bold"/>
                  <a:sym typeface="Canva Sans Bold"/>
                </a:rPr>
                <a:t>Lớp: DHCNTP21A — Nhóm thực hiện: Nhóm 5</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280160" y="1727835"/>
            <a:ext cx="13807440" cy="649605"/>
          </a:xfrm>
          <a:prstGeom prst="rect">
            <a:avLst/>
          </a:prstGeom>
        </p:spPr>
        <p:txBody>
          <a:bodyPr anchor="t" rtlCol="false" tIns="0" lIns="0" bIns="0" rIns="0">
            <a:spAutoFit/>
          </a:bodyPr>
          <a:lstStyle/>
          <a:p>
            <a:pPr algn="l">
              <a:lnSpc>
                <a:spcPts val="3120"/>
              </a:lnSpc>
            </a:pPr>
            <a:r>
              <a:rPr lang="en-US" sz="2600" b="true">
                <a:solidFill>
                  <a:srgbClr val="1E3A8A"/>
                </a:solidFill>
                <a:latin typeface="Canva Sans Bold"/>
                <a:ea typeface="Canva Sans Bold"/>
                <a:cs typeface="Canva Sans Bold"/>
                <a:sym typeface="Canva Sans Bold"/>
              </a:rPr>
              <a:t>Danh sách thành viên Nhóm 5 — Lớp: DHCNTP21A</a:t>
            </a:r>
          </a:p>
        </p:txBody>
      </p:sp>
      <p:graphicFrame>
        <p:nvGraphicFramePr>
          <p:cNvPr name="Table 5" id="5"/>
          <p:cNvGraphicFramePr>
            <a:graphicFrameLocks noGrp="true"/>
          </p:cNvGraphicFramePr>
          <p:nvPr/>
        </p:nvGraphicFramePr>
        <p:xfrm>
          <a:off x="1188720" y="2560320"/>
          <a:ext cx="13970000" cy="6453188"/>
        </p:xfrm>
        <a:graphic>
          <a:graphicData uri="http://schemas.openxmlformats.org/drawingml/2006/table">
            <a:tbl>
              <a:tblPr/>
              <a:tblGrid>
                <a:gridCol w="1095686"/>
                <a:gridCol w="4382745"/>
                <a:gridCol w="3013137"/>
                <a:gridCol w="5478431"/>
              </a:tblGrid>
              <a:tr h="676774">
                <a:tc>
                  <a:txBody>
                    <a:bodyPr anchor="t" rtlCol="false"/>
                    <a:lstStyle/>
                    <a:p>
                      <a:pPr algn="ctr">
                        <a:lnSpc>
                          <a:spcPts val="2879"/>
                        </a:lnSpc>
                        <a:defRPr/>
                      </a:pPr>
                      <a:r>
                        <a:rPr lang="en-US" sz="2399" b="true">
                          <a:solidFill>
                            <a:srgbClr val="FFFFFF"/>
                          </a:solidFill>
                          <a:latin typeface="Canva Sans Bold"/>
                          <a:ea typeface="Canva Sans Bold"/>
                          <a:cs typeface="Canva Sans Bold"/>
                          <a:sym typeface="Canva Sans Bold"/>
                        </a:rPr>
                        <a:t>STT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3A8A"/>
                    </a:solidFill>
                  </a:tcPr>
                </a:tc>
                <a:tc>
                  <a:txBody>
                    <a:bodyPr anchor="t" rtlCol="false"/>
                    <a:lstStyle/>
                    <a:p>
                      <a:pPr algn="ctr">
                        <a:lnSpc>
                          <a:spcPts val="2879"/>
                        </a:lnSpc>
                        <a:defRPr/>
                      </a:pPr>
                      <a:r>
                        <a:rPr lang="en-US" sz="2399" b="true">
                          <a:solidFill>
                            <a:srgbClr val="FFFFFF"/>
                          </a:solidFill>
                          <a:latin typeface="Canva Sans Bold"/>
                          <a:ea typeface="Canva Sans Bold"/>
                          <a:cs typeface="Canva Sans Bold"/>
                          <a:sym typeface="Canva Sans Bold"/>
                        </a:rPr>
                        <a:t>Họ và tên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3A8A"/>
                    </a:solidFill>
                  </a:tcPr>
                </a:tc>
                <a:tc>
                  <a:txBody>
                    <a:bodyPr anchor="t" rtlCol="false"/>
                    <a:lstStyle/>
                    <a:p>
                      <a:pPr algn="ctr">
                        <a:lnSpc>
                          <a:spcPts val="2879"/>
                        </a:lnSpc>
                        <a:defRPr/>
                      </a:pPr>
                      <a:r>
                        <a:rPr lang="en-US" sz="2399" b="true">
                          <a:solidFill>
                            <a:srgbClr val="FFFFFF"/>
                          </a:solidFill>
                          <a:latin typeface="Canva Sans Bold"/>
                          <a:ea typeface="Canva Sans Bold"/>
                          <a:cs typeface="Canva Sans Bold"/>
                          <a:sym typeface="Canva Sans Bold"/>
                        </a:rPr>
                        <a:t>MSSV</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3A8A"/>
                    </a:solidFill>
                  </a:tcPr>
                </a:tc>
                <a:tc>
                  <a:txBody>
                    <a:bodyPr anchor="t" rtlCol="false"/>
                    <a:lstStyle/>
                    <a:p>
                      <a:pPr algn="ctr">
                        <a:lnSpc>
                          <a:spcPts val="2879"/>
                        </a:lnSpc>
                        <a:defRPr/>
                      </a:pPr>
                      <a:r>
                        <a:rPr lang="en-US" sz="2399" b="true">
                          <a:solidFill>
                            <a:srgbClr val="FFFFFF"/>
                          </a:solidFill>
                          <a:latin typeface="Canva Sans Bold"/>
                          <a:ea typeface="Canva Sans Bold"/>
                          <a:cs typeface="Canva Sans Bold"/>
                          <a:sym typeface="Canva Sans Bold"/>
                        </a:rPr>
                        <a:t>Nhiệm vụ phân công trong bài</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3A8A"/>
                    </a:solidFill>
                  </a:tcPr>
                </a:tc>
              </a:tr>
              <a:tr h="972268">
                <a:tc>
                  <a:txBody>
                    <a:bodyPr anchor="t" rtlCol="false"/>
                    <a:lstStyle/>
                    <a:p>
                      <a:pPr algn="ctr">
                        <a:lnSpc>
                          <a:spcPts val="2639"/>
                        </a:lnSpc>
                        <a:defRPr/>
                      </a:pPr>
                      <a:r>
                        <a:rPr lang="en-US" sz="2199">
                          <a:solidFill>
                            <a:srgbClr val="1E293B"/>
                          </a:solidFill>
                          <a:latin typeface="Canva Sans"/>
                          <a:ea typeface="Canva Sans"/>
                          <a:cs typeface="Canva Sans"/>
                          <a:sym typeface="Canva Sans"/>
                        </a:rPr>
                        <a:t>1</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639"/>
                        </a:lnSpc>
                        <a:defRPr/>
                      </a:pPr>
                      <a:r>
                        <a:rPr lang="en-US" sz="2199" b="true">
                          <a:solidFill>
                            <a:srgbClr val="1E293B"/>
                          </a:solidFill>
                          <a:latin typeface="Canva Sans Bold"/>
                          <a:ea typeface="Canva Sans Bold"/>
                          <a:cs typeface="Canva Sans Bold"/>
                          <a:sym typeface="Canva Sans Bold"/>
                        </a:rPr>
                        <a:t>Trịnh Quang Hiên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E293B"/>
                          </a:solidFill>
                          <a:latin typeface="Canva Sans"/>
                          <a:ea typeface="Canva Sans"/>
                          <a:cs typeface="Canva Sans"/>
                          <a:sym typeface="Canva Sans"/>
                        </a:rPr>
                        <a:t>23632591</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639"/>
                        </a:lnSpc>
                        <a:defRPr/>
                      </a:pPr>
                      <a:r>
                        <a:rPr lang="en-US" sz="2199" b="true">
                          <a:solidFill>
                            <a:srgbClr val="1E3A8A"/>
                          </a:solidFill>
                          <a:latin typeface="Canva Sans Bold"/>
                          <a:ea typeface="Canva Sans Bold"/>
                          <a:cs typeface="Canva Sans Bold"/>
                          <a:sym typeface="Canva Sans Bold"/>
                        </a:rPr>
                        <a:t>Nhóm trưởng | Thuyết trình &amp; Duyệt nội dung toàn bài</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38646">
                <a:tc>
                  <a:txBody>
                    <a:bodyPr anchor="t" rtlCol="false"/>
                    <a:lstStyle/>
                    <a:p>
                      <a:pPr algn="ctr">
                        <a:lnSpc>
                          <a:spcPts val="2639"/>
                        </a:lnSpc>
                        <a:defRPr/>
                      </a:pPr>
                      <a:r>
                        <a:rPr lang="en-US" sz="2199">
                          <a:solidFill>
                            <a:srgbClr val="1E293B"/>
                          </a:solidFill>
                          <a:latin typeface="Canva Sans"/>
                          <a:ea typeface="Canva Sans"/>
                          <a:cs typeface="Canva Sans"/>
                          <a:sym typeface="Canva Sans"/>
                        </a:rPr>
                        <a:t>2</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639"/>
                        </a:lnSpc>
                        <a:defRPr/>
                      </a:pPr>
                      <a:r>
                        <a:rPr lang="en-US" sz="2199" b="true">
                          <a:solidFill>
                            <a:srgbClr val="1E293B"/>
                          </a:solidFill>
                          <a:latin typeface="Canva Sans Bold"/>
                          <a:ea typeface="Canva Sans Bold"/>
                          <a:cs typeface="Canva Sans Bold"/>
                          <a:sym typeface="Canva Sans Bold"/>
                        </a:rPr>
                        <a:t>Nguyễn Văn Nhật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ctr">
                        <a:lnSpc>
                          <a:spcPts val="2639"/>
                        </a:lnSpc>
                        <a:defRPr/>
                      </a:pPr>
                      <a:r>
                        <a:rPr lang="en-US" sz="2199">
                          <a:solidFill>
                            <a:srgbClr val="1E293B"/>
                          </a:solidFill>
                          <a:latin typeface="Canva Sans"/>
                          <a:ea typeface="Canva Sans"/>
                          <a:cs typeface="Canva Sans"/>
                          <a:sym typeface="Canva Sans"/>
                        </a:rPr>
                        <a:t>24725801</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639"/>
                        </a:lnSpc>
                        <a:defRPr/>
                      </a:pPr>
                      <a:r>
                        <a:rPr lang="en-US" sz="2199">
                          <a:solidFill>
                            <a:srgbClr val="1E293B"/>
                          </a:solidFill>
                          <a:latin typeface="Canva Sans"/>
                          <a:ea typeface="Canva Sans"/>
                          <a:cs typeface="Canva Sans"/>
                          <a:sym typeface="Canva Sans"/>
                        </a:rPr>
                        <a:t>Nội dung 2: Tìm hiểu Dấu hai chấm (:)</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638646">
                <a:tc>
                  <a:txBody>
                    <a:bodyPr anchor="t" rtlCol="false"/>
                    <a:lstStyle/>
                    <a:p>
                      <a:pPr algn="ctr">
                        <a:lnSpc>
                          <a:spcPts val="2639"/>
                        </a:lnSpc>
                        <a:defRPr/>
                      </a:pPr>
                      <a:r>
                        <a:rPr lang="en-US" sz="2199">
                          <a:solidFill>
                            <a:srgbClr val="1E293B"/>
                          </a:solidFill>
                          <a:latin typeface="Canva Sans"/>
                          <a:ea typeface="Canva Sans"/>
                          <a:cs typeface="Canva Sans"/>
                          <a:sym typeface="Canva Sans"/>
                        </a:rPr>
                        <a:t>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639"/>
                        </a:lnSpc>
                        <a:defRPr/>
                      </a:pPr>
                      <a:r>
                        <a:rPr lang="en-US" sz="2199" b="true">
                          <a:solidFill>
                            <a:srgbClr val="1E293B"/>
                          </a:solidFill>
                          <a:latin typeface="Canva Sans Bold"/>
                          <a:ea typeface="Canva Sans Bold"/>
                          <a:cs typeface="Canva Sans Bold"/>
                          <a:sym typeface="Canva Sans Bold"/>
                        </a:rPr>
                        <a:t>Nguyễn Văn Minh</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E293B"/>
                          </a:solidFill>
                          <a:latin typeface="Canva Sans"/>
                          <a:ea typeface="Canva Sans"/>
                          <a:cs typeface="Canva Sans"/>
                          <a:sym typeface="Canva Sans"/>
                        </a:rPr>
                        <a:t>25688761</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639"/>
                        </a:lnSpc>
                        <a:defRPr/>
                      </a:pPr>
                      <a:r>
                        <a:rPr lang="en-US" sz="2199">
                          <a:solidFill>
                            <a:srgbClr val="1E293B"/>
                          </a:solidFill>
                          <a:latin typeface="Canva Sans"/>
                          <a:ea typeface="Canva Sans"/>
                          <a:cs typeface="Canva Sans"/>
                          <a:sym typeface="Canva Sans"/>
                        </a:rPr>
                        <a:t>Nội dung 1: Tìm hiểu Dấu phẩy (,)</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38646">
                <a:tc>
                  <a:txBody>
                    <a:bodyPr anchor="t" rtlCol="false"/>
                    <a:lstStyle/>
                    <a:p>
                      <a:pPr algn="ctr">
                        <a:lnSpc>
                          <a:spcPts val="2639"/>
                        </a:lnSpc>
                        <a:defRPr/>
                      </a:pPr>
                      <a:r>
                        <a:rPr lang="en-US" sz="2199">
                          <a:solidFill>
                            <a:srgbClr val="1E293B"/>
                          </a:solidFill>
                          <a:latin typeface="Canva Sans"/>
                          <a:ea typeface="Canva Sans"/>
                          <a:cs typeface="Canva Sans"/>
                          <a:sym typeface="Canva Sans"/>
                        </a:rPr>
                        <a:t>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639"/>
                        </a:lnSpc>
                        <a:defRPr/>
                      </a:pPr>
                      <a:r>
                        <a:rPr lang="en-US" sz="2199" b="true">
                          <a:solidFill>
                            <a:srgbClr val="1E293B"/>
                          </a:solidFill>
                          <a:latin typeface="Canva Sans Bold"/>
                          <a:ea typeface="Canva Sans Bold"/>
                          <a:cs typeface="Canva Sans Bold"/>
                          <a:sym typeface="Canva Sans Bold"/>
                        </a:rPr>
                        <a:t>Nguyễn Ngọc Lợi</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ctr">
                        <a:lnSpc>
                          <a:spcPts val="2639"/>
                        </a:lnSpc>
                        <a:defRPr/>
                      </a:pPr>
                      <a:r>
                        <a:rPr lang="en-US" sz="2199">
                          <a:solidFill>
                            <a:srgbClr val="1E293B"/>
                          </a:solidFill>
                          <a:latin typeface="Canva Sans"/>
                          <a:ea typeface="Canva Sans"/>
                          <a:cs typeface="Canva Sans"/>
                          <a:sym typeface="Canva Sans"/>
                        </a:rPr>
                        <a:t>25708311</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639"/>
                        </a:lnSpc>
                        <a:defRPr/>
                      </a:pPr>
                      <a:r>
                        <a:rPr lang="en-US" sz="2199">
                          <a:solidFill>
                            <a:srgbClr val="1E293B"/>
                          </a:solidFill>
                          <a:latin typeface="Canva Sans"/>
                          <a:ea typeface="Canva Sans"/>
                          <a:cs typeface="Canva Sans"/>
                          <a:sym typeface="Canva Sans"/>
                        </a:rPr>
                        <a:t>Nội dung 1: Tìm hiểu Dấu chấm (.)</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638646">
                <a:tc>
                  <a:txBody>
                    <a:bodyPr anchor="t" rtlCol="false"/>
                    <a:lstStyle/>
                    <a:p>
                      <a:pPr algn="ctr">
                        <a:lnSpc>
                          <a:spcPts val="2639"/>
                        </a:lnSpc>
                        <a:defRPr/>
                      </a:pPr>
                      <a:r>
                        <a:rPr lang="en-US" sz="2199">
                          <a:solidFill>
                            <a:srgbClr val="1E293B"/>
                          </a:solidFill>
                          <a:latin typeface="Canva Sans"/>
                          <a:ea typeface="Canva Sans"/>
                          <a:cs typeface="Canva Sans"/>
                          <a:sym typeface="Canva Sans"/>
                        </a:rPr>
                        <a:t>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639"/>
                        </a:lnSpc>
                        <a:defRPr/>
                      </a:pPr>
                      <a:r>
                        <a:rPr lang="en-US" sz="2199" b="true">
                          <a:solidFill>
                            <a:srgbClr val="1E293B"/>
                          </a:solidFill>
                          <a:latin typeface="Canva Sans Bold"/>
                          <a:ea typeface="Canva Sans Bold"/>
                          <a:cs typeface="Canva Sans Bold"/>
                          <a:sym typeface="Canva Sans Bold"/>
                        </a:rPr>
                        <a:t>Võ Khương Duy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E293B"/>
                          </a:solidFill>
                          <a:latin typeface="Canva Sans"/>
                          <a:ea typeface="Canva Sans"/>
                          <a:cs typeface="Canva Sans"/>
                          <a:sym typeface="Canva Sans"/>
                        </a:rPr>
                        <a:t>23646941</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639"/>
                        </a:lnSpc>
                        <a:defRPr/>
                      </a:pPr>
                      <a:r>
                        <a:rPr lang="en-US" sz="2199">
                          <a:solidFill>
                            <a:srgbClr val="1E293B"/>
                          </a:solidFill>
                          <a:latin typeface="Canva Sans"/>
                          <a:ea typeface="Canva Sans"/>
                          <a:cs typeface="Canva Sans"/>
                          <a:sym typeface="Canva Sans"/>
                        </a:rPr>
                        <a:t>Làm Slide Nội dung 2 &amp; Slide kết thúc</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38646">
                <a:tc>
                  <a:txBody>
                    <a:bodyPr anchor="t" rtlCol="false"/>
                    <a:lstStyle/>
                    <a:p>
                      <a:pPr algn="ctr">
                        <a:lnSpc>
                          <a:spcPts val="2639"/>
                        </a:lnSpc>
                        <a:defRPr/>
                      </a:pPr>
                      <a:r>
                        <a:rPr lang="en-US" sz="2199">
                          <a:solidFill>
                            <a:srgbClr val="1E293B"/>
                          </a:solidFill>
                          <a:latin typeface="Canva Sans"/>
                          <a:ea typeface="Canva Sans"/>
                          <a:cs typeface="Canva Sans"/>
                          <a:sym typeface="Canva Sans"/>
                        </a:rPr>
                        <a:t>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639"/>
                        </a:lnSpc>
                        <a:defRPr/>
                      </a:pPr>
                      <a:r>
                        <a:rPr lang="en-US" sz="2199" b="true">
                          <a:solidFill>
                            <a:srgbClr val="1E293B"/>
                          </a:solidFill>
                          <a:latin typeface="Canva Sans Bold"/>
                          <a:ea typeface="Canva Sans Bold"/>
                          <a:cs typeface="Canva Sans Bold"/>
                          <a:sym typeface="Canva Sans Bold"/>
                        </a:rPr>
                        <a:t>Lê Đình Công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ctr">
                        <a:lnSpc>
                          <a:spcPts val="2639"/>
                        </a:lnSpc>
                        <a:defRPr/>
                      </a:pPr>
                      <a:r>
                        <a:rPr lang="en-US" sz="2199">
                          <a:solidFill>
                            <a:srgbClr val="1E293B"/>
                          </a:solidFill>
                          <a:latin typeface="Canva Sans"/>
                          <a:ea typeface="Canva Sans"/>
                          <a:cs typeface="Canva Sans"/>
                          <a:sym typeface="Canva Sans"/>
                        </a:rPr>
                        <a:t>24727921</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639"/>
                        </a:lnSpc>
                        <a:defRPr/>
                      </a:pPr>
                      <a:r>
                        <a:rPr lang="en-US" sz="2199">
                          <a:solidFill>
                            <a:srgbClr val="1E293B"/>
                          </a:solidFill>
                          <a:latin typeface="Canva Sans"/>
                          <a:ea typeface="Canva Sans"/>
                          <a:cs typeface="Canva Sans"/>
                          <a:sym typeface="Canva Sans"/>
                        </a:rPr>
                        <a:t>Nội dung 2: Tìm hiểu Dấu chấm than (!)</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972268">
                <a:tc>
                  <a:txBody>
                    <a:bodyPr anchor="t" rtlCol="false"/>
                    <a:lstStyle/>
                    <a:p>
                      <a:pPr algn="ctr">
                        <a:lnSpc>
                          <a:spcPts val="2639"/>
                        </a:lnSpc>
                        <a:defRPr/>
                      </a:pPr>
                      <a:r>
                        <a:rPr lang="en-US" sz="2199">
                          <a:solidFill>
                            <a:srgbClr val="1E293B"/>
                          </a:solidFill>
                          <a:latin typeface="Canva Sans"/>
                          <a:ea typeface="Canva Sans"/>
                          <a:cs typeface="Canva Sans"/>
                          <a:sym typeface="Canva Sans"/>
                        </a:rPr>
                        <a:t>7</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639"/>
                        </a:lnSpc>
                        <a:defRPr/>
                      </a:pPr>
                      <a:r>
                        <a:rPr lang="en-US" b="true" sz="2199">
                          <a:solidFill>
                            <a:srgbClr val="1E293B"/>
                          </a:solidFill>
                          <a:latin typeface="Canva Sans Bold"/>
                          <a:ea typeface="Canva Sans Bold"/>
                          <a:cs typeface="Canva Sans Bold"/>
                          <a:sym typeface="Canva Sans Bold"/>
                        </a:rPr>
                        <a:t>Lê Thành Long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E293B"/>
                          </a:solidFill>
                          <a:latin typeface="Canva Sans"/>
                          <a:ea typeface="Canva Sans"/>
                          <a:cs typeface="Canva Sans"/>
                          <a:sym typeface="Canva Sans"/>
                        </a:rPr>
                        <a:t>23630851</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639"/>
                        </a:lnSpc>
                        <a:defRPr/>
                      </a:pPr>
                      <a:r>
                        <a:rPr lang="en-US" sz="2199">
                          <a:solidFill>
                            <a:srgbClr val="1E293B"/>
                          </a:solidFill>
                          <a:latin typeface="Canva Sans"/>
                          <a:ea typeface="Canva Sans"/>
                          <a:cs typeface="Canva Sans"/>
                          <a:sym typeface="Canva Sans"/>
                        </a:rPr>
                        <a:t>Làm Slide Giới thiệu, Thành viên &amp; Nội dung 1</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38646">
                <a:tc>
                  <a:txBody>
                    <a:bodyPr anchor="t" rtlCol="false"/>
                    <a:lstStyle/>
                    <a:p>
                      <a:pPr algn="ctr">
                        <a:lnSpc>
                          <a:spcPts val="2639"/>
                        </a:lnSpc>
                        <a:defRPr/>
                      </a:pPr>
                      <a:r>
                        <a:rPr lang="en-US" sz="2199">
                          <a:solidFill>
                            <a:srgbClr val="1E293B"/>
                          </a:solidFill>
                          <a:latin typeface="Canva Sans"/>
                          <a:ea typeface="Canva Sans"/>
                          <a:cs typeface="Canva Sans"/>
                          <a:sym typeface="Canva Sans"/>
                        </a:rPr>
                        <a:t>8</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639"/>
                        </a:lnSpc>
                        <a:defRPr/>
                      </a:pPr>
                      <a:r>
                        <a:rPr lang="en-US" sz="2199" b="true">
                          <a:solidFill>
                            <a:srgbClr val="1E293B"/>
                          </a:solidFill>
                          <a:latin typeface="Canva Sans Bold"/>
                          <a:ea typeface="Canva Sans Bold"/>
                          <a:cs typeface="Canva Sans Bold"/>
                          <a:sym typeface="Canva Sans Bold"/>
                        </a:rPr>
                        <a:t>Trương Bảo Huy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ctr">
                        <a:lnSpc>
                          <a:spcPts val="2639"/>
                        </a:lnSpc>
                        <a:defRPr/>
                      </a:pPr>
                      <a:r>
                        <a:rPr lang="en-US" sz="2199">
                          <a:solidFill>
                            <a:srgbClr val="1E293B"/>
                          </a:solidFill>
                          <a:latin typeface="Canva Sans"/>
                          <a:ea typeface="Canva Sans"/>
                          <a:cs typeface="Canva Sans"/>
                          <a:sym typeface="Canva Sans"/>
                        </a:rPr>
                        <a:t>25639981</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639"/>
                        </a:lnSpc>
                        <a:defRPr/>
                      </a:pPr>
                      <a:r>
                        <a:rPr lang="en-US" sz="2199">
                          <a:solidFill>
                            <a:srgbClr val="1E293B"/>
                          </a:solidFill>
                          <a:latin typeface="Canva Sans"/>
                          <a:ea typeface="Canva Sans"/>
                          <a:cs typeface="Canva Sans"/>
                          <a:sym typeface="Canva Sans"/>
                        </a:rPr>
                        <a:t>Nội dung 1: Tìm hiểu Dấu hỏi (?)</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028700" y="1805341"/>
            <a:ext cx="13807440" cy="495267"/>
          </a:xfrm>
          <a:prstGeom prst="rect">
            <a:avLst/>
          </a:prstGeom>
        </p:spPr>
        <p:txBody>
          <a:bodyPr anchor="t" rtlCol="false" tIns="0" lIns="0" bIns="0" rIns="0">
            <a:spAutoFit/>
          </a:bodyPr>
          <a:lstStyle/>
          <a:p>
            <a:pPr algn="l">
              <a:lnSpc>
                <a:spcPts val="3959"/>
              </a:lnSpc>
            </a:pPr>
            <a:r>
              <a:rPr lang="en-US" sz="3299" b="true">
                <a:solidFill>
                  <a:srgbClr val="1E3A8A"/>
                </a:solidFill>
                <a:latin typeface="Canva Sans Bold"/>
                <a:ea typeface="Canva Sans Bold"/>
                <a:cs typeface="Canva Sans Bold"/>
                <a:sym typeface="Canva Sans Bold"/>
              </a:rPr>
              <a:t>Bố cục nội dung bài thuyết trình</a:t>
            </a:r>
          </a:p>
        </p:txBody>
      </p:sp>
      <p:grpSp>
        <p:nvGrpSpPr>
          <p:cNvPr name="Group 5" id="5"/>
          <p:cNvGrpSpPr/>
          <p:nvPr/>
        </p:nvGrpSpPr>
        <p:grpSpPr>
          <a:xfrm rot="0">
            <a:off x="1028700" y="2455125"/>
            <a:ext cx="15583066" cy="6803175"/>
            <a:chOff x="0" y="0"/>
            <a:chExt cx="16209183" cy="7076522"/>
          </a:xfrm>
        </p:grpSpPr>
        <p:sp>
          <p:nvSpPr>
            <p:cNvPr name="Freeform 6" id="6"/>
            <p:cNvSpPr/>
            <p:nvPr/>
          </p:nvSpPr>
          <p:spPr>
            <a:xfrm flipH="false" flipV="false" rot="0">
              <a:off x="0" y="0"/>
              <a:ext cx="16209183" cy="7076522"/>
            </a:xfrm>
            <a:custGeom>
              <a:avLst/>
              <a:gdLst/>
              <a:ahLst/>
              <a:cxnLst/>
              <a:rect r="r" b="b" t="t" l="l"/>
              <a:pathLst>
                <a:path h="7076522" w="16209183">
                  <a:moveTo>
                    <a:pt x="0" y="1179496"/>
                  </a:moveTo>
                  <a:cubicBezTo>
                    <a:pt x="0" y="528026"/>
                    <a:pt x="565192" y="0"/>
                    <a:pt x="1262516" y="0"/>
                  </a:cubicBezTo>
                  <a:lnTo>
                    <a:pt x="14946668" y="0"/>
                  </a:lnTo>
                  <a:cubicBezTo>
                    <a:pt x="15643870" y="0"/>
                    <a:pt x="16209183" y="528026"/>
                    <a:pt x="16209183" y="1179496"/>
                  </a:cubicBezTo>
                  <a:lnTo>
                    <a:pt x="16209183" y="5897026"/>
                  </a:lnTo>
                  <a:cubicBezTo>
                    <a:pt x="16209183" y="6548382"/>
                    <a:pt x="15643991" y="7076522"/>
                    <a:pt x="14946668" y="7076522"/>
                  </a:cubicBezTo>
                  <a:lnTo>
                    <a:pt x="1262516" y="7076522"/>
                  </a:lnTo>
                  <a:cubicBezTo>
                    <a:pt x="565192" y="7076522"/>
                    <a:pt x="0" y="6548496"/>
                    <a:pt x="0" y="5897026"/>
                  </a:cubicBezTo>
                  <a:close/>
                </a:path>
              </a:pathLst>
            </a:custGeom>
            <a:solidFill>
              <a:srgbClr val="FFFFFF"/>
            </a:solidFill>
            <a:ln w="19050" cap="sq">
              <a:solidFill>
                <a:srgbClr val="DAE2ED"/>
              </a:solidFill>
              <a:prstDash val="solid"/>
              <a:miter/>
            </a:ln>
          </p:spPr>
        </p:sp>
        <p:sp>
          <p:nvSpPr>
            <p:cNvPr name="TextBox 7" id="7"/>
            <p:cNvSpPr txBox="true"/>
            <p:nvPr/>
          </p:nvSpPr>
          <p:spPr>
            <a:xfrm>
              <a:off x="0" y="-9525"/>
              <a:ext cx="16209183" cy="7086047"/>
            </a:xfrm>
            <a:prstGeom prst="rect">
              <a:avLst/>
            </a:prstGeom>
          </p:spPr>
          <p:txBody>
            <a:bodyPr anchor="ctr" rtlCol="false" tIns="50800" lIns="50800" bIns="50800" rIns="50800"/>
            <a:lstStyle/>
            <a:p>
              <a:pPr algn="l">
                <a:lnSpc>
                  <a:spcPts val="3239"/>
                </a:lnSpc>
              </a:pPr>
            </a:p>
            <a:p>
              <a:pPr algn="l">
                <a:lnSpc>
                  <a:spcPts val="2879"/>
                </a:lnSpc>
              </a:pPr>
              <a:r>
                <a:rPr lang="en-US" sz="2399" b="true">
                  <a:solidFill>
                    <a:srgbClr val="1E3A8A"/>
                  </a:solidFill>
                  <a:latin typeface="Canva Sans Bold"/>
                  <a:ea typeface="Canva Sans Bold"/>
                  <a:cs typeface="Canva Sans Bold"/>
                  <a:sym typeface="Canva Sans Bold"/>
                </a:rPr>
                <a:t>• I. ĐẶT VẤN ĐỀ:</a:t>
              </a:r>
              <a:r>
                <a:rPr lang="en-US" sz="2399">
                  <a:solidFill>
                    <a:srgbClr val="1E293B"/>
                  </a:solidFill>
                  <a:latin typeface="Canva Sans"/>
                  <a:ea typeface="Canva Sans"/>
                  <a:cs typeface="Canva Sans"/>
                  <a:sym typeface="Canva Sans"/>
                </a:rPr>
                <a:t>Tầm quan trọng của hệ thống dấu câu và các hiểu lầm tai hại khi đặt sai dấu trong câu văn.</a:t>
              </a:r>
            </a:p>
            <a:p>
              <a:pPr algn="l">
                <a:lnSpc>
                  <a:spcPts val="2879"/>
                </a:lnSpc>
              </a:pPr>
            </a:p>
            <a:p>
              <a:pPr algn="l">
                <a:lnSpc>
                  <a:spcPts val="2879"/>
                </a:lnSpc>
              </a:pPr>
              <a:r>
                <a:rPr lang="en-US" sz="2399">
                  <a:solidFill>
                    <a:srgbClr val="1E3A8A"/>
                  </a:solidFill>
                  <a:latin typeface="Canva Sans"/>
                  <a:ea typeface="Canva Sans"/>
                  <a:cs typeface="Canva Sans"/>
                  <a:sym typeface="Canva Sans"/>
                </a:rPr>
                <a:t> </a:t>
              </a:r>
              <a:r>
                <a:rPr lang="en-US" sz="2399" b="true">
                  <a:solidFill>
                    <a:srgbClr val="1E3A8A"/>
                  </a:solidFill>
                  <a:latin typeface="Canva Sans Bold"/>
                  <a:ea typeface="Canva Sans Bold"/>
                  <a:cs typeface="Canva Sans Bold"/>
                  <a:sym typeface="Canva Sans Bold"/>
                </a:rPr>
                <a:t>II. Dấu Phẩy (,): </a:t>
              </a:r>
              <a:r>
                <a:rPr lang="en-US" sz="2399">
                  <a:solidFill>
                    <a:srgbClr val="1E293B"/>
                  </a:solidFill>
                  <a:latin typeface="Canva Sans"/>
                  <a:ea typeface="Canva Sans"/>
                  <a:cs typeface="Canva Sans"/>
                  <a:sym typeface="Canva Sans"/>
                </a:rPr>
                <a:t>Vị trí trong câu — Quy tắc khoảng trắng — Công dụng — 8 Ví dụ thực tế.</a:t>
              </a:r>
            </a:p>
            <a:p>
              <a:pPr algn="l">
                <a:lnSpc>
                  <a:spcPts val="2879"/>
                </a:lnSpc>
              </a:pPr>
            </a:p>
            <a:p>
              <a:pPr algn="l">
                <a:lnSpc>
                  <a:spcPts val="2879"/>
                </a:lnSpc>
              </a:pPr>
              <a:r>
                <a:rPr lang="en-US" sz="2399" b="true">
                  <a:solidFill>
                    <a:srgbClr val="1E3A8A"/>
                  </a:solidFill>
                  <a:latin typeface="Canva Sans Bold"/>
                  <a:ea typeface="Canva Sans Bold"/>
                  <a:cs typeface="Canva Sans Bold"/>
                  <a:sym typeface="Canva Sans Bold"/>
                </a:rPr>
                <a:t> III. Dấu Chấm (.): </a:t>
              </a:r>
              <a:r>
                <a:rPr lang="en-US" sz="2399">
                  <a:solidFill>
                    <a:srgbClr val="1E293B"/>
                  </a:solidFill>
                  <a:latin typeface="Canva Sans"/>
                  <a:ea typeface="Canva Sans"/>
                  <a:cs typeface="Canva Sans"/>
                  <a:sym typeface="Canva Sans"/>
                </a:rPr>
                <a:t>Vị trí kết thúc câu kể — Quy ước viết tắt, số tiền, ngày tháng — 8 Ví dụ thực tế.</a:t>
              </a:r>
            </a:p>
            <a:p>
              <a:pPr algn="l">
                <a:lnSpc>
                  <a:spcPts val="2879"/>
                </a:lnSpc>
              </a:pPr>
            </a:p>
            <a:p>
              <a:pPr algn="l">
                <a:lnSpc>
                  <a:spcPts val="2879"/>
                </a:lnSpc>
              </a:pPr>
              <a:r>
                <a:rPr lang="en-US" sz="2399" b="true">
                  <a:solidFill>
                    <a:srgbClr val="1E3A8A"/>
                  </a:solidFill>
                  <a:latin typeface="Canva Sans Bold"/>
                  <a:ea typeface="Canva Sans Bold"/>
                  <a:cs typeface="Canva Sans Bold"/>
                  <a:sym typeface="Canva Sans Bold"/>
                </a:rPr>
                <a:t> </a:t>
              </a:r>
              <a:r>
                <a:rPr lang="en-US" sz="2399" b="true">
                  <a:solidFill>
                    <a:srgbClr val="1E3A8A"/>
                  </a:solidFill>
                  <a:latin typeface="Canva Sans Bold"/>
                  <a:ea typeface="Canva Sans Bold"/>
                  <a:cs typeface="Canva Sans Bold"/>
                  <a:sym typeface="Canva Sans Bold"/>
                </a:rPr>
                <a:t>IV. Dấu Hỏi (?):</a:t>
              </a:r>
              <a:r>
                <a:rPr lang="en-US" sz="2399">
                  <a:solidFill>
                    <a:srgbClr val="1E3A8A"/>
                  </a:solidFill>
                  <a:latin typeface="Canva Sans"/>
                  <a:ea typeface="Canva Sans"/>
                  <a:cs typeface="Canva Sans"/>
                  <a:sym typeface="Canva Sans"/>
                </a:rPr>
                <a:t> </a:t>
              </a:r>
              <a:r>
                <a:rPr lang="en-US" sz="2399">
                  <a:solidFill>
                    <a:srgbClr val="1E293B"/>
                  </a:solidFill>
                  <a:latin typeface="Canva Sans"/>
                  <a:ea typeface="Canva Sans"/>
                  <a:cs typeface="Canva Sans"/>
                  <a:sym typeface="Canva Sans"/>
                </a:rPr>
                <a:t>Vị trí nghi vấn — Quy tắc viết — Ngữ điệu &amp; câu hỏi tu từ — 8 Ví dụ thực tế.</a:t>
              </a:r>
            </a:p>
            <a:p>
              <a:pPr algn="l">
                <a:lnSpc>
                  <a:spcPts val="2879"/>
                </a:lnSpc>
              </a:pPr>
            </a:p>
            <a:p>
              <a:pPr algn="l">
                <a:lnSpc>
                  <a:spcPts val="2879"/>
                </a:lnSpc>
              </a:pPr>
              <a:r>
                <a:rPr lang="en-US" sz="2399" b="true">
                  <a:solidFill>
                    <a:srgbClr val="1E3A8A"/>
                  </a:solidFill>
                  <a:latin typeface="Canva Sans Bold"/>
                  <a:ea typeface="Canva Sans Bold"/>
                  <a:cs typeface="Canva Sans Bold"/>
                  <a:sym typeface="Canva Sans Bold"/>
                </a:rPr>
                <a:t> V. Dấu Chấm Than (!):</a:t>
              </a:r>
              <a:r>
                <a:rPr lang="en-US" sz="2399">
                  <a:solidFill>
                    <a:srgbClr val="1E293B"/>
                  </a:solidFill>
                  <a:latin typeface="Canva Sans"/>
                  <a:ea typeface="Canva Sans"/>
                  <a:cs typeface="Canva Sans"/>
                  <a:sym typeface="Canva Sans"/>
                </a:rPr>
                <a:t> Vị trí cuối câu cảm/khiến — Quy tắc viết hoa sau dấu — Biểu đạt cảm xúc mạnh — 8 Ví dụ thực tế.</a:t>
              </a:r>
            </a:p>
            <a:p>
              <a:pPr algn="l">
                <a:lnSpc>
                  <a:spcPts val="2879"/>
                </a:lnSpc>
              </a:pPr>
            </a:p>
            <a:p>
              <a:pPr algn="l">
                <a:lnSpc>
                  <a:spcPts val="2879"/>
                </a:lnSpc>
              </a:pPr>
              <a:r>
                <a:rPr lang="en-US" sz="2399" b="true">
                  <a:solidFill>
                    <a:srgbClr val="1E3A8A"/>
                  </a:solidFill>
                  <a:latin typeface="Canva Sans Bold"/>
                  <a:ea typeface="Canva Sans Bold"/>
                  <a:cs typeface="Canva Sans Bold"/>
                  <a:sym typeface="Canva Sans Bold"/>
                </a:rPr>
                <a:t> VI. Dấu Hai Chấm (:):</a:t>
              </a:r>
              <a:r>
                <a:rPr lang="en-US" sz="2399">
                  <a:solidFill>
                    <a:srgbClr val="1E3A8A"/>
                  </a:solidFill>
                  <a:latin typeface="Canva Sans"/>
                  <a:ea typeface="Canva Sans"/>
                  <a:cs typeface="Canva Sans"/>
                  <a:sym typeface="Canva Sans"/>
                </a:rPr>
                <a:t> </a:t>
              </a:r>
              <a:r>
                <a:rPr lang="en-US" sz="2399">
                  <a:solidFill>
                    <a:srgbClr val="1E293B"/>
                  </a:solidFill>
                  <a:latin typeface="Canva Sans"/>
                  <a:ea typeface="Canva Sans"/>
                  <a:cs typeface="Canva Sans"/>
                  <a:sym typeface="Canva Sans"/>
                </a:rPr>
                <a:t>Vị trí trước phần bổ nghĩa — Quy tắc phối hợp ngoặc kép — Báo hiệu giải thích, liệt kê — 8 Ví dụ thực tế.</a:t>
              </a:r>
            </a:p>
            <a:p>
              <a:pPr algn="l">
                <a:lnSpc>
                  <a:spcPts val="2879"/>
                </a:lnSpc>
              </a:pPr>
            </a:p>
            <a:p>
              <a:pPr algn="l">
                <a:lnSpc>
                  <a:spcPts val="2879"/>
                </a:lnSpc>
              </a:pPr>
              <a:r>
                <a:rPr lang="en-US" sz="2399">
                  <a:solidFill>
                    <a:srgbClr val="1E3A8A"/>
                  </a:solidFill>
                  <a:latin typeface="Canva Sans"/>
                  <a:ea typeface="Canva Sans"/>
                  <a:cs typeface="Canva Sans"/>
                  <a:sym typeface="Canva Sans"/>
                </a:rPr>
                <a:t> </a:t>
              </a:r>
              <a:r>
                <a:rPr lang="en-US" sz="2399" b="true">
                  <a:solidFill>
                    <a:srgbClr val="1E3A8A"/>
                  </a:solidFill>
                  <a:latin typeface="Canva Sans Bold"/>
                  <a:ea typeface="Canva Sans Bold"/>
                  <a:cs typeface="Canva Sans Bold"/>
                  <a:sym typeface="Canva Sans Bold"/>
                </a:rPr>
                <a:t>VII. TỔNG KẾT &amp; BÀI HỌC VẬN DỤNG: </a:t>
              </a:r>
              <a:r>
                <a:rPr lang="en-US" sz="2399">
                  <a:solidFill>
                    <a:srgbClr val="1E293B"/>
                  </a:solidFill>
                  <a:latin typeface="Canva Sans"/>
                  <a:ea typeface="Canva Sans"/>
                  <a:cs typeface="Canva Sans"/>
                  <a:sym typeface="Canva Sans"/>
                </a:rPr>
                <a:t>Đúc kết các quy tắc soạn thảo văn bản chuẩn và liên hệ thực tế trong học tập.</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028700" y="1907313"/>
            <a:ext cx="13807440" cy="495267"/>
          </a:xfrm>
          <a:prstGeom prst="rect">
            <a:avLst/>
          </a:prstGeom>
        </p:spPr>
        <p:txBody>
          <a:bodyPr anchor="t" rtlCol="false" tIns="0" lIns="0" bIns="0" rIns="0">
            <a:spAutoFit/>
          </a:bodyPr>
          <a:lstStyle/>
          <a:p>
            <a:pPr algn="l">
              <a:lnSpc>
                <a:spcPts val="3959"/>
              </a:lnSpc>
            </a:pPr>
            <a:r>
              <a:rPr lang="en-US" sz="3299" b="true">
                <a:solidFill>
                  <a:srgbClr val="1E3A8A"/>
                </a:solidFill>
                <a:latin typeface="Canva Sans Bold"/>
                <a:ea typeface="Canva Sans Bold"/>
                <a:cs typeface="Canva Sans Bold"/>
                <a:sym typeface="Canva Sans Bold"/>
              </a:rPr>
              <a:t>I. Đặt vấn đề: Tầm quan trọng của dấu câu tiếng Việt</a:t>
            </a:r>
          </a:p>
        </p:txBody>
      </p:sp>
      <p:grpSp>
        <p:nvGrpSpPr>
          <p:cNvPr name="Group 5" id="5"/>
          <p:cNvGrpSpPr/>
          <p:nvPr/>
        </p:nvGrpSpPr>
        <p:grpSpPr>
          <a:xfrm rot="0">
            <a:off x="1028700" y="2604321"/>
            <a:ext cx="15307752" cy="6653979"/>
            <a:chOff x="0" y="0"/>
            <a:chExt cx="20106769" cy="8740017"/>
          </a:xfrm>
        </p:grpSpPr>
        <p:sp>
          <p:nvSpPr>
            <p:cNvPr name="Freeform 6" id="6"/>
            <p:cNvSpPr/>
            <p:nvPr/>
          </p:nvSpPr>
          <p:spPr>
            <a:xfrm flipH="false" flipV="false" rot="0">
              <a:off x="0" y="0"/>
              <a:ext cx="20106768" cy="8740017"/>
            </a:xfrm>
            <a:custGeom>
              <a:avLst/>
              <a:gdLst/>
              <a:ahLst/>
              <a:cxnLst/>
              <a:rect r="r" b="b" t="t" l="l"/>
              <a:pathLst>
                <a:path h="8740017" w="20106768">
                  <a:moveTo>
                    <a:pt x="0" y="1456775"/>
                  </a:moveTo>
                  <a:cubicBezTo>
                    <a:pt x="0" y="652188"/>
                    <a:pt x="565144" y="0"/>
                    <a:pt x="1262346" y="0"/>
                  </a:cubicBezTo>
                  <a:lnTo>
                    <a:pt x="18844422" y="0"/>
                  </a:lnTo>
                  <a:cubicBezTo>
                    <a:pt x="19541624" y="0"/>
                    <a:pt x="20106768" y="652188"/>
                    <a:pt x="20106768" y="1456775"/>
                  </a:cubicBezTo>
                  <a:lnTo>
                    <a:pt x="20106768" y="7283242"/>
                  </a:lnTo>
                  <a:cubicBezTo>
                    <a:pt x="20106768" y="8087830"/>
                    <a:pt x="19541624" y="8740017"/>
                    <a:pt x="18844422" y="8740017"/>
                  </a:cubicBezTo>
                  <a:lnTo>
                    <a:pt x="1262346" y="8740017"/>
                  </a:lnTo>
                  <a:cubicBezTo>
                    <a:pt x="565144" y="8740017"/>
                    <a:pt x="0" y="8087828"/>
                    <a:pt x="0" y="7283242"/>
                  </a:cubicBezTo>
                  <a:close/>
                </a:path>
              </a:pathLst>
            </a:custGeom>
            <a:solidFill>
              <a:srgbClr val="FFFFFF"/>
            </a:solidFill>
            <a:ln w="19050" cap="sq">
              <a:solidFill>
                <a:srgbClr val="DAE2ED"/>
              </a:solidFill>
              <a:prstDash val="solid"/>
              <a:miter/>
            </a:ln>
          </p:spPr>
        </p:sp>
        <p:sp>
          <p:nvSpPr>
            <p:cNvPr name="TextBox 7" id="7"/>
            <p:cNvSpPr txBox="true"/>
            <p:nvPr/>
          </p:nvSpPr>
          <p:spPr>
            <a:xfrm>
              <a:off x="0" y="0"/>
              <a:ext cx="20106769" cy="8740017"/>
            </a:xfrm>
            <a:prstGeom prst="rect">
              <a:avLst/>
            </a:prstGeom>
          </p:spPr>
          <p:txBody>
            <a:bodyPr anchor="ctr" rtlCol="false" tIns="50800" lIns="50800" bIns="50800" rIns="50800"/>
            <a:lstStyle/>
            <a:p>
              <a:pPr algn="l">
                <a:lnSpc>
                  <a:spcPts val="3359"/>
                </a:lnSpc>
              </a:pPr>
              <a:r>
                <a:rPr lang="en-US" sz="2799" b="true">
                  <a:solidFill>
                    <a:srgbClr val="1E3A8A"/>
                  </a:solidFill>
                  <a:latin typeface="Canva Sans Bold"/>
                  <a:ea typeface="Canva Sans Bold"/>
                  <a:cs typeface="Canva Sans Bold"/>
                  <a:sym typeface="Canva Sans Bold"/>
                </a:rPr>
                <a:t>Tầm quan trọng của hệ thống dấu câu tiếng Việt</a:t>
              </a:r>
            </a:p>
            <a:p>
              <a:pPr algn="l">
                <a:lnSpc>
                  <a:spcPts val="335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Dấu câu là phương tiện diễn đạt trực quan trong văn bản viết:</a:t>
              </a:r>
            </a:p>
            <a:p>
              <a:pPr algn="l">
                <a:lnSpc>
                  <a:spcPts val="2999"/>
                </a:lnSpc>
              </a:pPr>
              <a:r>
                <a:rPr lang="en-US" sz="2499">
                  <a:solidFill>
                    <a:srgbClr val="1E293B"/>
                  </a:solidFill>
                  <a:latin typeface="Canva Sans"/>
                  <a:ea typeface="Canva Sans"/>
                  <a:cs typeface="Canva Sans"/>
                  <a:sym typeface="Canva Sans"/>
                </a:rPr>
                <a:t>Dấu câu giúp người viết phân định rõ ràng các vế câu, tạo quãng ngắt nghỉ nhịp nhàng và hướng dẫn người đọc tiếp thu đúng mạch ý.</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Tầm quan trọng của việc dùng đúng dấu câu:</a:t>
              </a:r>
            </a:p>
            <a:p>
              <a:pPr algn="l">
                <a:lnSpc>
                  <a:spcPts val="2999"/>
                </a:lnSpc>
              </a:pPr>
              <a:r>
                <a:rPr lang="en-US" sz="2499">
                  <a:solidFill>
                    <a:srgbClr val="1E293B"/>
                  </a:solidFill>
                  <a:latin typeface="Canva Sans"/>
                  <a:ea typeface="Canva Sans"/>
                  <a:cs typeface="Canva Sans"/>
                  <a:sym typeface="Canva Sans"/>
                </a:rPr>
                <a:t>Dùng đúng dấu câu giúp câu văn trong sáng, mạch lạc, thể hiện sự chỉn chu và tránh gây hiểu lầm tai hại trong giao tiếp.</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Ví dụ thực tế về việc đặt sai dấu câu làm thay đổi hẳn ý nghĩa:</a:t>
              </a:r>
            </a:p>
            <a:p>
              <a:pPr algn="l">
                <a:lnSpc>
                  <a:spcPts val="2999"/>
                </a:lnSpc>
              </a:pPr>
              <a:r>
                <a:rPr lang="en-US" sz="2499">
                  <a:solidFill>
                    <a:srgbClr val="1E293B"/>
                  </a:solidFill>
                  <a:latin typeface="Canva Sans"/>
                  <a:ea typeface="Canva Sans"/>
                  <a:cs typeface="Canva Sans"/>
                  <a:sym typeface="Canva Sans"/>
                </a:rPr>
                <a:t>    - Khi viết sai: "Bố hút thuốc, lá rất có hại cho sức khỏe." (Nghĩa bị hiểu nhầm sang lá cây)</a:t>
              </a:r>
            </a:p>
            <a:p>
              <a:pPr algn="l">
                <a:lnSpc>
                  <a:spcPts val="2999"/>
                </a:lnSpc>
              </a:pPr>
              <a:r>
                <a:rPr lang="en-US" sz="2499">
                  <a:solidFill>
                    <a:srgbClr val="1E293B"/>
                  </a:solidFill>
                  <a:latin typeface="Canva Sans"/>
                  <a:ea typeface="Canva Sans"/>
                  <a:cs typeface="Canva Sans"/>
                  <a:sym typeface="Canva Sans"/>
                </a:rPr>
                <a:t>    - Khi viết đúng: "Bố hút thuốc lá, rất có hại cho sức khỏe." (Rõ nghĩa, chính xác)</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Mục tiêu của bài thuyết trình:</a:t>
              </a:r>
            </a:p>
            <a:p>
              <a:pPr algn="l">
                <a:lnSpc>
                  <a:spcPts val="2999"/>
                </a:lnSpc>
              </a:pPr>
              <a:r>
                <a:rPr lang="en-US" sz="2499">
                  <a:solidFill>
                    <a:srgbClr val="1E293B"/>
                  </a:solidFill>
                  <a:latin typeface="Canva Sans"/>
                  <a:ea typeface="Canva Sans"/>
                  <a:cs typeface="Canva Sans"/>
                  <a:sym typeface="Canva Sans"/>
                </a:rPr>
                <a:t>Giúp các bạn sinh viên nắm vững vị trí, công dụng và quy tắc viết chuẩn của từng dấu câu, từ đó áp dụng hiệu quả vào bài tập và giao tiếp hàng ngày.</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280160" y="1737360"/>
            <a:ext cx="13807440" cy="495267"/>
          </a:xfrm>
          <a:prstGeom prst="rect">
            <a:avLst/>
          </a:prstGeom>
        </p:spPr>
        <p:txBody>
          <a:bodyPr anchor="t" rtlCol="false" tIns="0" lIns="0" bIns="0" rIns="0">
            <a:spAutoFit/>
          </a:bodyPr>
          <a:lstStyle/>
          <a:p>
            <a:pPr algn="l">
              <a:lnSpc>
                <a:spcPts val="3959"/>
              </a:lnSpc>
            </a:pPr>
            <a:r>
              <a:rPr lang="en-US" sz="3299" b="true">
                <a:solidFill>
                  <a:srgbClr val="1E3A8A"/>
                </a:solidFill>
                <a:latin typeface="Canva Sans Bold"/>
                <a:ea typeface="Canva Sans Bold"/>
                <a:cs typeface="Canva Sans Bold"/>
                <a:sym typeface="Canva Sans Bold"/>
              </a:rPr>
              <a:t>II. Dấu phẩy: Vị trí xuất hiện trong câu</a:t>
            </a:r>
          </a:p>
        </p:txBody>
      </p:sp>
      <p:grpSp>
        <p:nvGrpSpPr>
          <p:cNvPr name="Group 5" id="5"/>
          <p:cNvGrpSpPr/>
          <p:nvPr/>
        </p:nvGrpSpPr>
        <p:grpSpPr>
          <a:xfrm rot="0">
            <a:off x="686330" y="2522471"/>
            <a:ext cx="10309876" cy="6789941"/>
            <a:chOff x="0" y="0"/>
            <a:chExt cx="13746501" cy="9053255"/>
          </a:xfrm>
        </p:grpSpPr>
        <p:sp>
          <p:nvSpPr>
            <p:cNvPr name="Freeform 6" id="6"/>
            <p:cNvSpPr/>
            <p:nvPr/>
          </p:nvSpPr>
          <p:spPr>
            <a:xfrm flipH="false" flipV="false" rot="0">
              <a:off x="0" y="0"/>
              <a:ext cx="13746502" cy="9053255"/>
            </a:xfrm>
            <a:custGeom>
              <a:avLst/>
              <a:gdLst/>
              <a:ahLst/>
              <a:cxnLst/>
              <a:rect r="r" b="b" t="t" l="l"/>
              <a:pathLst>
                <a:path h="9053255" w="13746502">
                  <a:moveTo>
                    <a:pt x="0" y="1508985"/>
                  </a:moveTo>
                  <a:cubicBezTo>
                    <a:pt x="0" y="675562"/>
                    <a:pt x="615288" y="0"/>
                    <a:pt x="1374352" y="0"/>
                  </a:cubicBezTo>
                  <a:lnTo>
                    <a:pt x="12372149" y="0"/>
                  </a:lnTo>
                  <a:cubicBezTo>
                    <a:pt x="13131214" y="0"/>
                    <a:pt x="13746502" y="675562"/>
                    <a:pt x="13746502" y="1508985"/>
                  </a:cubicBezTo>
                  <a:lnTo>
                    <a:pt x="13746502" y="7544271"/>
                  </a:lnTo>
                  <a:cubicBezTo>
                    <a:pt x="13746502" y="8377693"/>
                    <a:pt x="13131214" y="9053255"/>
                    <a:pt x="12372149" y="9053255"/>
                  </a:cubicBezTo>
                  <a:lnTo>
                    <a:pt x="1374352" y="9053255"/>
                  </a:lnTo>
                  <a:cubicBezTo>
                    <a:pt x="615288" y="9053255"/>
                    <a:pt x="0" y="8377693"/>
                    <a:pt x="0" y="7544271"/>
                  </a:cubicBezTo>
                  <a:close/>
                </a:path>
              </a:pathLst>
            </a:custGeom>
            <a:solidFill>
              <a:srgbClr val="FFFFFF"/>
            </a:solidFill>
            <a:ln w="19050" cap="sq">
              <a:solidFill>
                <a:srgbClr val="DAE2ED"/>
              </a:solidFill>
              <a:prstDash val="solid"/>
              <a:miter/>
            </a:ln>
          </p:spPr>
        </p:sp>
        <p:sp>
          <p:nvSpPr>
            <p:cNvPr name="TextBox 7" id="7"/>
            <p:cNvSpPr txBox="true"/>
            <p:nvPr/>
          </p:nvSpPr>
          <p:spPr>
            <a:xfrm>
              <a:off x="0" y="0"/>
              <a:ext cx="13746501" cy="9053255"/>
            </a:xfrm>
            <a:prstGeom prst="rect">
              <a:avLst/>
            </a:prstGeom>
          </p:spPr>
          <p:txBody>
            <a:bodyPr anchor="ctr" rtlCol="false" tIns="50800" lIns="50800" bIns="50800" rIns="50800"/>
            <a:lstStyle/>
            <a:p>
              <a:pPr algn="l">
                <a:lnSpc>
                  <a:spcPts val="3359"/>
                </a:lnSpc>
              </a:pPr>
              <a:r>
                <a:rPr lang="en-US" sz="2799" b="true">
                  <a:solidFill>
                    <a:srgbClr val="1E3A8A"/>
                  </a:solidFill>
                  <a:latin typeface="Canva Sans Bold"/>
                  <a:ea typeface="Canva Sans Bold"/>
                  <a:cs typeface="Canva Sans Bold"/>
                  <a:sym typeface="Canva Sans Bold"/>
                </a:rPr>
                <a:t>  </a:t>
              </a:r>
              <a:r>
                <a:rPr lang="en-US" sz="2799" b="true">
                  <a:solidFill>
                    <a:srgbClr val="1E3A8A"/>
                  </a:solidFill>
                  <a:latin typeface="Canva Sans Bold"/>
                  <a:ea typeface="Canva Sans Bold"/>
                  <a:cs typeface="Canva Sans Bold"/>
                  <a:sym typeface="Canva Sans Bold"/>
                </a:rPr>
                <a:t>Các vị trí thường gặp của Dấu Phẩy</a:t>
              </a:r>
            </a:p>
            <a:p>
              <a:pPr algn="l">
                <a:lnSpc>
                  <a:spcPts val="335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Đặt ngay sau từ hoặc cụm từ cần ngắt nhịp:</a:t>
              </a:r>
            </a:p>
            <a:p>
              <a:pPr algn="l">
                <a:lnSpc>
                  <a:spcPts val="2999"/>
                </a:lnSpc>
              </a:pPr>
              <a:r>
                <a:rPr lang="en-US" sz="2499">
                  <a:solidFill>
                    <a:srgbClr val="1E293B"/>
                  </a:solidFill>
                  <a:latin typeface="Canva Sans"/>
                  <a:ea typeface="Canva Sans"/>
                  <a:cs typeface="Canva Sans"/>
                  <a:sym typeface="Canva Sans"/>
                </a:rPr>
                <a:t>Dấu phẩy luôn bám sát từ ngữ cần tạo quãng nghỉ trong câu.</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Đặt sau trạng ngữ ở đầu câu:</a:t>
              </a:r>
            </a:p>
            <a:p>
              <a:pPr algn="l">
                <a:lnSpc>
                  <a:spcPts val="2999"/>
                </a:lnSpc>
              </a:pPr>
              <a:r>
                <a:rPr lang="en-US" sz="2499">
                  <a:solidFill>
                    <a:srgbClr val="1E293B"/>
                  </a:solidFill>
                  <a:latin typeface="Canva Sans"/>
                  <a:ea typeface="Canva Sans"/>
                  <a:cs typeface="Canva Sans"/>
                  <a:sym typeface="Canva Sans"/>
                </a:rPr>
                <a:t>Ngăn cách trạng ngữ chỉ thời gian, địa điểm, nguyên nhân với cụm Chủ - Vị chính.</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Đặt giữa câu để ngăn cách chuỗi liệt kê:</a:t>
              </a:r>
            </a:p>
            <a:p>
              <a:pPr algn="l">
                <a:lnSpc>
                  <a:spcPts val="2999"/>
                </a:lnSpc>
              </a:pPr>
              <a:r>
                <a:rPr lang="en-US" sz="2499">
                  <a:solidFill>
                    <a:srgbClr val="1E293B"/>
                  </a:solidFill>
                  <a:latin typeface="Canva Sans"/>
                  <a:ea typeface="Canva Sans"/>
                  <a:cs typeface="Canva Sans"/>
                  <a:sym typeface="Canva Sans"/>
                </a:rPr>
                <a:t>Tách các từ, cụm từ có cùng chức vụ ngữ pháp đứng liền nhau.</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Đặt giữa các vế trong câu ghép:</a:t>
              </a:r>
            </a:p>
            <a:p>
              <a:pPr algn="l">
                <a:lnSpc>
                  <a:spcPts val="2999"/>
                </a:lnSpc>
              </a:pPr>
              <a:r>
                <a:rPr lang="en-US" sz="2499">
                  <a:solidFill>
                    <a:srgbClr val="1E293B"/>
                  </a:solidFill>
                  <a:latin typeface="Canva Sans"/>
                  <a:ea typeface="Canva Sans"/>
                  <a:cs typeface="Canva Sans"/>
                  <a:sym typeface="Canva Sans"/>
                </a:rPr>
                <a:t>Làm ranh giới phân định các vế câu độc lập về nghĩa.</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Đặt bao quanh thành phần chú thích hoặc lời gọi đáp:</a:t>
              </a:r>
            </a:p>
            <a:p>
              <a:pPr algn="l">
                <a:lnSpc>
                  <a:spcPts val="2999"/>
                </a:lnSpc>
              </a:pPr>
              <a:r>
                <a:rPr lang="en-US" sz="2499">
                  <a:solidFill>
                    <a:srgbClr val="1E293B"/>
                  </a:solidFill>
                  <a:latin typeface="Canva Sans"/>
                  <a:ea typeface="Canva Sans"/>
                  <a:cs typeface="Canva Sans"/>
                  <a:sym typeface="Canva Sans"/>
                </a:rPr>
                <a:t>Cô lập phần giải thích hoặc hô ngữ xen vào giữa câu.</a:t>
              </a:r>
            </a:p>
          </p:txBody>
        </p:sp>
      </p:grpSp>
      <p:grpSp>
        <p:nvGrpSpPr>
          <p:cNvPr name="Group 8" id="8"/>
          <p:cNvGrpSpPr/>
          <p:nvPr/>
        </p:nvGrpSpPr>
        <p:grpSpPr>
          <a:xfrm rot="0">
            <a:off x="11461883" y="3094646"/>
            <a:ext cx="4865370" cy="5276850"/>
            <a:chOff x="0" y="0"/>
            <a:chExt cx="6487160" cy="7035800"/>
          </a:xfrm>
        </p:grpSpPr>
        <p:sp>
          <p:nvSpPr>
            <p:cNvPr name="Freeform 9" id="9"/>
            <p:cNvSpPr/>
            <p:nvPr/>
          </p:nvSpPr>
          <p:spPr>
            <a:xfrm flipH="false" flipV="false" rot="0">
              <a:off x="0" y="0"/>
              <a:ext cx="6487160" cy="7035800"/>
            </a:xfrm>
            <a:custGeom>
              <a:avLst/>
              <a:gdLst/>
              <a:ahLst/>
              <a:cxnLst/>
              <a:rect r="r" b="b" t="t" l="l"/>
              <a:pathLst>
                <a:path h="7035800" w="6487160">
                  <a:moveTo>
                    <a:pt x="0" y="1081278"/>
                  </a:moveTo>
                  <a:cubicBezTo>
                    <a:pt x="0" y="484124"/>
                    <a:pt x="484124" y="0"/>
                    <a:pt x="1081278" y="0"/>
                  </a:cubicBezTo>
                  <a:lnTo>
                    <a:pt x="5405882" y="0"/>
                  </a:lnTo>
                  <a:cubicBezTo>
                    <a:pt x="6003036" y="0"/>
                    <a:pt x="6487160" y="484124"/>
                    <a:pt x="6487160" y="1081278"/>
                  </a:cubicBezTo>
                  <a:lnTo>
                    <a:pt x="6487160" y="5954522"/>
                  </a:lnTo>
                  <a:cubicBezTo>
                    <a:pt x="6487160" y="6551676"/>
                    <a:pt x="6003036" y="7035800"/>
                    <a:pt x="5405882" y="7035800"/>
                  </a:cubicBezTo>
                  <a:lnTo>
                    <a:pt x="1081278" y="7035800"/>
                  </a:lnTo>
                  <a:cubicBezTo>
                    <a:pt x="484124" y="7035800"/>
                    <a:pt x="0" y="6551676"/>
                    <a:pt x="0" y="5954522"/>
                  </a:cubicBezTo>
                  <a:close/>
                </a:path>
              </a:pathLst>
            </a:custGeom>
            <a:solidFill>
              <a:srgbClr val="FFFFFF"/>
            </a:solidFill>
            <a:ln w="19050" cap="sq">
              <a:solidFill>
                <a:srgbClr val="DAE2ED"/>
              </a:solidFill>
              <a:prstDash val="solid"/>
              <a:miter/>
            </a:ln>
          </p:spPr>
        </p:sp>
      </p:grpSp>
      <p:grpSp>
        <p:nvGrpSpPr>
          <p:cNvPr name="Group 10" id="10"/>
          <p:cNvGrpSpPr/>
          <p:nvPr/>
        </p:nvGrpSpPr>
        <p:grpSpPr>
          <a:xfrm rot="0">
            <a:off x="11608568" y="3241331"/>
            <a:ext cx="4572000" cy="4572000"/>
            <a:chOff x="0" y="0"/>
            <a:chExt cx="6096000" cy="6096000"/>
          </a:xfrm>
        </p:grpSpPr>
        <p:sp>
          <p:nvSpPr>
            <p:cNvPr name="Freeform 11" id="11" descr="dau_phay.jpg"/>
            <p:cNvSpPr/>
            <p:nvPr/>
          </p:nvSpPr>
          <p:spPr>
            <a:xfrm flipH="false" flipV="false" rot="0">
              <a:off x="0" y="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3"/>
              <a:stretch>
                <a:fillRect l="0" t="0" r="0" b="0"/>
              </a:stretch>
            </a:blipFill>
          </p:spPr>
        </p:sp>
      </p:grpSp>
      <p:sp>
        <p:nvSpPr>
          <p:cNvPr name="TextBox 12" id="12"/>
          <p:cNvSpPr txBox="true"/>
          <p:nvPr/>
        </p:nvSpPr>
        <p:spPr>
          <a:xfrm rot="0">
            <a:off x="11562848" y="7904771"/>
            <a:ext cx="4663440" cy="320040"/>
          </a:xfrm>
          <a:prstGeom prst="rect">
            <a:avLst/>
          </a:prstGeom>
        </p:spPr>
        <p:txBody>
          <a:bodyPr anchor="t" rtlCol="false" tIns="0" lIns="0" bIns="0" rIns="0">
            <a:spAutoFit/>
          </a:bodyPr>
          <a:lstStyle/>
          <a:p>
            <a:pPr algn="ctr">
              <a:lnSpc>
                <a:spcPts val="2040"/>
              </a:lnSpc>
            </a:pPr>
            <a:r>
              <a:rPr lang="en-US" sz="1700" b="true">
                <a:solidFill>
                  <a:srgbClr val="1E3A8A"/>
                </a:solidFill>
                <a:latin typeface="Canva Sans Bold"/>
                <a:ea typeface="Canva Sans Bold"/>
                <a:cs typeface="Canva Sans Bold"/>
                <a:sym typeface="Canva Sans Bold"/>
              </a:rPr>
              <a:t>DẤU PHẨY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280160" y="1727835"/>
            <a:ext cx="13807440" cy="649605"/>
          </a:xfrm>
          <a:prstGeom prst="rect">
            <a:avLst/>
          </a:prstGeom>
        </p:spPr>
        <p:txBody>
          <a:bodyPr anchor="t" rtlCol="false" tIns="0" lIns="0" bIns="0" rIns="0">
            <a:spAutoFit/>
          </a:bodyPr>
          <a:lstStyle/>
          <a:p>
            <a:pPr algn="l">
              <a:lnSpc>
                <a:spcPts val="3120"/>
              </a:lnSpc>
            </a:pPr>
            <a:r>
              <a:rPr lang="en-US" sz="2600" b="true">
                <a:solidFill>
                  <a:srgbClr val="1E3A8A"/>
                </a:solidFill>
                <a:latin typeface="Canva Sans Bold"/>
                <a:ea typeface="Canva Sans Bold"/>
                <a:cs typeface="Canva Sans Bold"/>
                <a:sym typeface="Canva Sans Bold"/>
              </a:rPr>
              <a:t>II. Dấu phẩy: Quy tắc gõ văn bản chuẩn và tránh lỗi</a:t>
            </a:r>
          </a:p>
        </p:txBody>
      </p:sp>
      <p:grpSp>
        <p:nvGrpSpPr>
          <p:cNvPr name="Group 5" id="5"/>
          <p:cNvGrpSpPr/>
          <p:nvPr/>
        </p:nvGrpSpPr>
        <p:grpSpPr>
          <a:xfrm rot="0">
            <a:off x="1179195" y="2533800"/>
            <a:ext cx="15402989" cy="6143613"/>
            <a:chOff x="0" y="0"/>
            <a:chExt cx="20537318" cy="8191484"/>
          </a:xfrm>
        </p:grpSpPr>
        <p:sp>
          <p:nvSpPr>
            <p:cNvPr name="Freeform 6" id="6"/>
            <p:cNvSpPr/>
            <p:nvPr/>
          </p:nvSpPr>
          <p:spPr>
            <a:xfrm flipH="false" flipV="false" rot="0">
              <a:off x="0" y="0"/>
              <a:ext cx="20537317" cy="8191484"/>
            </a:xfrm>
            <a:custGeom>
              <a:avLst/>
              <a:gdLst/>
              <a:ahLst/>
              <a:cxnLst/>
              <a:rect r="r" b="b" t="t" l="l"/>
              <a:pathLst>
                <a:path h="8191484" w="20537317">
                  <a:moveTo>
                    <a:pt x="0" y="1365346"/>
                  </a:moveTo>
                  <a:cubicBezTo>
                    <a:pt x="0" y="611256"/>
                    <a:pt x="577246" y="0"/>
                    <a:pt x="1289377" y="0"/>
                  </a:cubicBezTo>
                  <a:lnTo>
                    <a:pt x="19247940" y="0"/>
                  </a:lnTo>
                  <a:cubicBezTo>
                    <a:pt x="19960072" y="0"/>
                    <a:pt x="20537317" y="611256"/>
                    <a:pt x="20537317" y="1365346"/>
                  </a:cubicBezTo>
                  <a:lnTo>
                    <a:pt x="20537317" y="6826138"/>
                  </a:lnTo>
                  <a:cubicBezTo>
                    <a:pt x="20537317" y="7580228"/>
                    <a:pt x="19960072" y="8191484"/>
                    <a:pt x="19247940" y="8191484"/>
                  </a:cubicBezTo>
                  <a:lnTo>
                    <a:pt x="1289377" y="8191484"/>
                  </a:lnTo>
                  <a:cubicBezTo>
                    <a:pt x="577246" y="8191484"/>
                    <a:pt x="0" y="7580227"/>
                    <a:pt x="0" y="6826138"/>
                  </a:cubicBezTo>
                  <a:close/>
                </a:path>
              </a:pathLst>
            </a:custGeom>
            <a:solidFill>
              <a:srgbClr val="FFFFFF"/>
            </a:solidFill>
            <a:ln w="19050" cap="sq">
              <a:solidFill>
                <a:srgbClr val="DAE2ED"/>
              </a:solidFill>
              <a:prstDash val="solid"/>
              <a:miter/>
            </a:ln>
          </p:spPr>
        </p:sp>
        <p:sp>
          <p:nvSpPr>
            <p:cNvPr name="TextBox 7" id="7"/>
            <p:cNvSpPr txBox="true"/>
            <p:nvPr/>
          </p:nvSpPr>
          <p:spPr>
            <a:xfrm>
              <a:off x="0" y="0"/>
              <a:ext cx="20537318" cy="8191484"/>
            </a:xfrm>
            <a:prstGeom prst="rect">
              <a:avLst/>
            </a:prstGeom>
          </p:spPr>
          <p:txBody>
            <a:bodyPr anchor="ctr" rtlCol="false" tIns="50800" lIns="50800" bIns="50800" rIns="50800"/>
            <a:lstStyle/>
            <a:p>
              <a:pPr algn="l">
                <a:lnSpc>
                  <a:spcPts val="3359"/>
                </a:lnSpc>
              </a:pPr>
              <a:r>
                <a:rPr lang="en-US" sz="2799" b="true">
                  <a:solidFill>
                    <a:srgbClr val="1E3A8A"/>
                  </a:solidFill>
                  <a:latin typeface="Canva Sans Bold"/>
                  <a:ea typeface="Canva Sans Bold"/>
                  <a:cs typeface="Canva Sans Bold"/>
                  <a:sym typeface="Canva Sans Bold"/>
                </a:rPr>
                <a:t>3 Quy tắc soạn thảo văn bản bắt buộc phải nhớ</a:t>
              </a:r>
            </a:p>
            <a:p>
              <a:pPr algn="l">
                <a:lnSpc>
                  <a:spcPts val="335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Quy tắc viết dính sát (Tuyệt đối không cách chữ phía trước):</a:t>
              </a:r>
            </a:p>
            <a:p>
              <a:pPr algn="l">
                <a:lnSpc>
                  <a:spcPts val="2999"/>
                </a:lnSpc>
              </a:pPr>
              <a:r>
                <a:rPr lang="en-US" sz="2499">
                  <a:solidFill>
                    <a:srgbClr val="1E293B"/>
                  </a:solidFill>
                  <a:latin typeface="Canva Sans"/>
                  <a:ea typeface="Canva Sans"/>
                  <a:cs typeface="Canva Sans"/>
                  <a:sym typeface="Canva Sans"/>
                </a:rPr>
                <a:t>Dấu phẩy phải được đặt liền sát ký tự cuối cùng của từ đứng trước.</a:t>
              </a:r>
            </a:p>
            <a:p>
              <a:pPr algn="l">
                <a:lnSpc>
                  <a:spcPts val="2999"/>
                </a:lnSpc>
              </a:pPr>
              <a:r>
                <a:rPr lang="en-US" sz="2499" b="true">
                  <a:solidFill>
                    <a:srgbClr val="166534"/>
                  </a:solidFill>
                  <a:latin typeface="Canva Sans Bold"/>
                  <a:ea typeface="Canva Sans Bold"/>
                  <a:cs typeface="Canva Sans Bold"/>
                  <a:sym typeface="Canva Sans Bold"/>
                </a:rPr>
                <a:t>    -  Đúng: "sách, vở, bút thước"</a:t>
              </a:r>
            </a:p>
            <a:p>
              <a:pPr algn="l">
                <a:lnSpc>
                  <a:spcPts val="2999"/>
                </a:lnSpc>
              </a:pPr>
              <a:r>
                <a:rPr lang="en-US" sz="2499">
                  <a:solidFill>
                    <a:srgbClr val="B91C1C"/>
                  </a:solidFill>
                  <a:latin typeface="Canva Sans"/>
                  <a:ea typeface="Canva Sans"/>
                  <a:cs typeface="Canva Sans"/>
                  <a:sym typeface="Canva Sans"/>
                </a:rPr>
                <a:t>    -  Sai: "sách , vở , bút thước" (Lỗi gõ thừa dấu cách trước dấu phẩy)</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Quy tắc khoảng trắng (Bắt buộc cách 1 dấu cách phía sau):</a:t>
              </a:r>
            </a:p>
            <a:p>
              <a:pPr algn="l">
                <a:lnSpc>
                  <a:spcPts val="2999"/>
                </a:lnSpc>
              </a:pPr>
              <a:r>
                <a:rPr lang="en-US" sz="2499">
                  <a:solidFill>
                    <a:srgbClr val="1E293B"/>
                  </a:solidFill>
                  <a:latin typeface="Canva Sans"/>
                  <a:ea typeface="Canva Sans"/>
                  <a:cs typeface="Canva Sans"/>
                  <a:sym typeface="Canva Sans"/>
                </a:rPr>
                <a:t>Sau dấu phẩy, bắt buộc phải có đúng một khoảng trắng trước khi viết từ tiếp theo.</a:t>
              </a:r>
            </a:p>
            <a:p>
              <a:pPr algn="l">
                <a:lnSpc>
                  <a:spcPts val="2999"/>
                </a:lnSpc>
              </a:pPr>
              <a:r>
                <a:rPr lang="en-US" sz="2499" b="true">
                  <a:solidFill>
                    <a:srgbClr val="166534"/>
                  </a:solidFill>
                  <a:latin typeface="Canva Sans Bold"/>
                  <a:ea typeface="Canva Sans Bold"/>
                  <a:cs typeface="Canva Sans Bold"/>
                  <a:sym typeface="Canva Sans Bold"/>
                </a:rPr>
                <a:t>    -  Đúng: "Chiều nay, chúng tôi học bài."</a:t>
              </a:r>
            </a:p>
            <a:p>
              <a:pPr algn="l">
                <a:lnSpc>
                  <a:spcPts val="2999"/>
                </a:lnSpc>
              </a:pPr>
              <a:r>
                <a:rPr lang="en-US" sz="2499">
                  <a:solidFill>
                    <a:srgbClr val="B91C1C"/>
                  </a:solidFill>
                  <a:latin typeface="Canva Sans"/>
                  <a:ea typeface="Canva Sans"/>
                  <a:cs typeface="Canva Sans"/>
                  <a:sym typeface="Canva Sans"/>
                </a:rPr>
                <a:t>    -  Sai: "Chiều nay,chúng tôi học bài." (Lỗi dính chữ sau dấu phẩy)</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Quy tắc viết hoa sau dấu phẩy:</a:t>
              </a:r>
            </a:p>
            <a:p>
              <a:pPr algn="l">
                <a:lnSpc>
                  <a:spcPts val="2999"/>
                </a:lnSpc>
              </a:pPr>
              <a:r>
                <a:rPr lang="en-US" sz="2499">
                  <a:solidFill>
                    <a:srgbClr val="1E293B"/>
                  </a:solidFill>
                  <a:latin typeface="Canva Sans"/>
                  <a:ea typeface="Canva Sans"/>
                  <a:cs typeface="Canva Sans"/>
                  <a:sym typeface="Canva Sans"/>
                </a:rPr>
                <a:t>Chữ cái đứng ngay sau dấu phẩy KHÔNG viết hoa (trừ danh từ riêng như tên người, tên địa danh).</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280160" y="1737360"/>
            <a:ext cx="13807440" cy="495267"/>
          </a:xfrm>
          <a:prstGeom prst="rect">
            <a:avLst/>
          </a:prstGeom>
        </p:spPr>
        <p:txBody>
          <a:bodyPr anchor="t" rtlCol="false" tIns="0" lIns="0" bIns="0" rIns="0">
            <a:spAutoFit/>
          </a:bodyPr>
          <a:lstStyle/>
          <a:p>
            <a:pPr algn="l">
              <a:lnSpc>
                <a:spcPts val="3959"/>
              </a:lnSpc>
            </a:pPr>
            <a:r>
              <a:rPr lang="en-US" sz="3299" b="true">
                <a:solidFill>
                  <a:srgbClr val="1E3A8A"/>
                </a:solidFill>
                <a:latin typeface="Canva Sans Bold"/>
                <a:ea typeface="Canva Sans Bold"/>
                <a:cs typeface="Canva Sans Bold"/>
                <a:sym typeface="Canva Sans Bold"/>
              </a:rPr>
              <a:t>II. Dấu phẩy: Công dụng và ý nghĩa trong câu</a:t>
            </a:r>
          </a:p>
        </p:txBody>
      </p:sp>
      <p:grpSp>
        <p:nvGrpSpPr>
          <p:cNvPr name="Group 5" id="5"/>
          <p:cNvGrpSpPr/>
          <p:nvPr/>
        </p:nvGrpSpPr>
        <p:grpSpPr>
          <a:xfrm rot="0">
            <a:off x="1179195" y="2550795"/>
            <a:ext cx="14009370" cy="6261256"/>
            <a:chOff x="0" y="0"/>
            <a:chExt cx="18679160" cy="8348342"/>
          </a:xfrm>
        </p:grpSpPr>
        <p:sp>
          <p:nvSpPr>
            <p:cNvPr name="Freeform 6" id="6"/>
            <p:cNvSpPr/>
            <p:nvPr/>
          </p:nvSpPr>
          <p:spPr>
            <a:xfrm flipH="false" flipV="false" rot="0">
              <a:off x="0" y="0"/>
              <a:ext cx="18679159" cy="8348342"/>
            </a:xfrm>
            <a:custGeom>
              <a:avLst/>
              <a:gdLst/>
              <a:ahLst/>
              <a:cxnLst/>
              <a:rect r="r" b="b" t="t" l="l"/>
              <a:pathLst>
                <a:path h="8348342" w="18679159">
                  <a:moveTo>
                    <a:pt x="0" y="1391491"/>
                  </a:moveTo>
                  <a:cubicBezTo>
                    <a:pt x="0" y="622961"/>
                    <a:pt x="525018" y="0"/>
                    <a:pt x="1172718" y="0"/>
                  </a:cubicBezTo>
                  <a:lnTo>
                    <a:pt x="17506442" y="0"/>
                  </a:lnTo>
                  <a:cubicBezTo>
                    <a:pt x="18154142" y="0"/>
                    <a:pt x="18679159" y="622961"/>
                    <a:pt x="18679159" y="1391491"/>
                  </a:cubicBezTo>
                  <a:lnTo>
                    <a:pt x="18679159" y="6956851"/>
                  </a:lnTo>
                  <a:cubicBezTo>
                    <a:pt x="18679159" y="7725381"/>
                    <a:pt x="18154142" y="8348342"/>
                    <a:pt x="17506442" y="8348342"/>
                  </a:cubicBezTo>
                  <a:lnTo>
                    <a:pt x="1172718" y="8348342"/>
                  </a:lnTo>
                  <a:cubicBezTo>
                    <a:pt x="525018" y="8348342"/>
                    <a:pt x="0" y="7725380"/>
                    <a:pt x="0" y="6956851"/>
                  </a:cubicBezTo>
                  <a:close/>
                </a:path>
              </a:pathLst>
            </a:custGeom>
            <a:solidFill>
              <a:srgbClr val="FFFFFF"/>
            </a:solidFill>
            <a:ln w="19050" cap="sq">
              <a:solidFill>
                <a:srgbClr val="DAE2ED"/>
              </a:solidFill>
              <a:prstDash val="solid"/>
              <a:miter/>
            </a:ln>
          </p:spPr>
        </p:sp>
        <p:sp>
          <p:nvSpPr>
            <p:cNvPr name="TextBox 7" id="7"/>
            <p:cNvSpPr txBox="true"/>
            <p:nvPr/>
          </p:nvSpPr>
          <p:spPr>
            <a:xfrm>
              <a:off x="0" y="-9525"/>
              <a:ext cx="18679160" cy="8357867"/>
            </a:xfrm>
            <a:prstGeom prst="rect">
              <a:avLst/>
            </a:prstGeom>
          </p:spPr>
          <p:txBody>
            <a:bodyPr anchor="ctr" rtlCol="false" tIns="50800" lIns="50800" bIns="50800" rIns="50800"/>
            <a:lstStyle/>
            <a:p>
              <a:pPr algn="l">
                <a:lnSpc>
                  <a:spcPts val="3239"/>
                </a:lnSpc>
              </a:pPr>
              <a:r>
                <a:rPr lang="en-US" sz="2699" b="true">
                  <a:solidFill>
                    <a:srgbClr val="1E3A8A"/>
                  </a:solidFill>
                  <a:latin typeface="Canva Sans Bold"/>
                  <a:ea typeface="Canva Sans Bold"/>
                  <a:cs typeface="Canva Sans Bold"/>
                  <a:sym typeface="Canva Sans Bold"/>
                </a:rPr>
                <a:t>4 Công dụng cốt lõi của Dấu Phẩy</a:t>
              </a:r>
            </a:p>
            <a:p>
              <a:pPr algn="l">
                <a:lnSpc>
                  <a:spcPts val="323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Tạo quãng nghỉ ngắn khi đọc và nói:</a:t>
              </a:r>
            </a:p>
            <a:p>
              <a:pPr algn="l">
                <a:lnSpc>
                  <a:spcPts val="2999"/>
                </a:lnSpc>
              </a:pPr>
              <a:r>
                <a:rPr lang="en-US" sz="2499">
                  <a:solidFill>
                    <a:srgbClr val="1E293B"/>
                  </a:solidFill>
                  <a:latin typeface="Canva Sans"/>
                  <a:ea typeface="Canva Sans"/>
                  <a:cs typeface="Canva Sans"/>
                  <a:sym typeface="Canva Sans"/>
                </a:rPr>
                <a:t>Tạo nhịp nghỉ bằng 1/2 nhịp dấu chấm, giúp người nói lấy hơi tự nhiên và người nghe nắm bắt mạch câu dễ dàng.</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Phân định rõ ràng các thành phần trong câu:</a:t>
              </a:r>
            </a:p>
            <a:p>
              <a:pPr algn="l">
                <a:lnSpc>
                  <a:spcPts val="2999"/>
                </a:lnSpc>
              </a:pPr>
              <a:r>
                <a:rPr lang="en-US" sz="2499">
                  <a:solidFill>
                    <a:srgbClr val="1E293B"/>
                  </a:solidFill>
                  <a:latin typeface="Canva Sans"/>
                  <a:ea typeface="Canva Sans"/>
                  <a:cs typeface="Canva Sans"/>
                  <a:sym typeface="Canva Sans"/>
                </a:rPr>
                <a:t>Giúp câu văn dài không bị rối, làm nổi bật trạng ngữ, bổ ngữ và các vế câu quan trọng.</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Tránh hiểu lầm nghĩa hoặc gây hiểu sai tai hại:</a:t>
              </a:r>
            </a:p>
            <a:p>
              <a:pPr algn="l">
                <a:lnSpc>
                  <a:spcPts val="2999"/>
                </a:lnSpc>
              </a:pPr>
              <a:r>
                <a:rPr lang="en-US" sz="2499">
                  <a:solidFill>
                    <a:srgbClr val="1E293B"/>
                  </a:solidFill>
                  <a:latin typeface="Canva Sans"/>
                  <a:ea typeface="Canva Sans"/>
                  <a:cs typeface="Canva Sans"/>
                  <a:sym typeface="Canva Sans"/>
                </a:rPr>
                <a:t>Đặt dấu phẩy đúng chỗ sẽ phân định ranh giới ngữ nghĩa, loại bỏ các cách hiểu mơ hồ hoặc sai lệch.</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Giúp liệt kê sự vật, hành động mạch lạc:</a:t>
              </a:r>
            </a:p>
            <a:p>
              <a:pPr algn="l">
                <a:lnSpc>
                  <a:spcPts val="2999"/>
                </a:lnSpc>
              </a:pPr>
              <a:r>
                <a:rPr lang="en-US" sz="2499">
                  <a:solidFill>
                    <a:srgbClr val="1E293B"/>
                  </a:solidFill>
                  <a:latin typeface="Canva Sans"/>
                  <a:ea typeface="Canva Sans"/>
                  <a:cs typeface="Canva Sans"/>
                  <a:sym typeface="Canva Sans"/>
                </a:rPr>
                <a:t>Ngăn cách các từ ngữ đồng chức, giúp văn bản trình bày rõ ràng, có tính thẩm mỹ và dễ theo dõi.</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280160" y="1737360"/>
            <a:ext cx="13807440" cy="495267"/>
          </a:xfrm>
          <a:prstGeom prst="rect">
            <a:avLst/>
          </a:prstGeom>
        </p:spPr>
        <p:txBody>
          <a:bodyPr anchor="t" rtlCol="false" tIns="0" lIns="0" bIns="0" rIns="0">
            <a:spAutoFit/>
          </a:bodyPr>
          <a:lstStyle/>
          <a:p>
            <a:pPr algn="l">
              <a:lnSpc>
                <a:spcPts val="3959"/>
              </a:lnSpc>
            </a:pPr>
            <a:r>
              <a:rPr lang="en-US" sz="3299" b="true">
                <a:solidFill>
                  <a:srgbClr val="1E3A8A"/>
                </a:solidFill>
                <a:latin typeface="Canva Sans Bold"/>
                <a:ea typeface="Canva Sans Bold"/>
                <a:cs typeface="Canva Sans Bold"/>
                <a:sym typeface="Canva Sans Bold"/>
              </a:rPr>
              <a:t>II. Dấu phẩy: 8 Ví dụ minh họa thực tế</a:t>
            </a:r>
          </a:p>
        </p:txBody>
      </p:sp>
      <p:grpSp>
        <p:nvGrpSpPr>
          <p:cNvPr name="Group 5" id="5"/>
          <p:cNvGrpSpPr/>
          <p:nvPr/>
        </p:nvGrpSpPr>
        <p:grpSpPr>
          <a:xfrm rot="0">
            <a:off x="346423" y="2232627"/>
            <a:ext cx="16371724" cy="6240449"/>
            <a:chOff x="0" y="0"/>
            <a:chExt cx="21828965" cy="8320599"/>
          </a:xfrm>
        </p:grpSpPr>
        <p:sp>
          <p:nvSpPr>
            <p:cNvPr name="Freeform 6" id="6"/>
            <p:cNvSpPr/>
            <p:nvPr/>
          </p:nvSpPr>
          <p:spPr>
            <a:xfrm flipH="false" flipV="false" rot="0">
              <a:off x="0" y="0"/>
              <a:ext cx="21828964" cy="8320599"/>
            </a:xfrm>
            <a:custGeom>
              <a:avLst/>
              <a:gdLst/>
              <a:ahLst/>
              <a:cxnLst/>
              <a:rect r="r" b="b" t="t" l="l"/>
              <a:pathLst>
                <a:path h="8320599" w="21828964">
                  <a:moveTo>
                    <a:pt x="0" y="1386867"/>
                  </a:moveTo>
                  <a:cubicBezTo>
                    <a:pt x="0" y="620891"/>
                    <a:pt x="613550" y="0"/>
                    <a:pt x="1370469" y="0"/>
                  </a:cubicBezTo>
                  <a:lnTo>
                    <a:pt x="20458494" y="0"/>
                  </a:lnTo>
                  <a:cubicBezTo>
                    <a:pt x="21215414" y="0"/>
                    <a:pt x="21828964" y="620891"/>
                    <a:pt x="21828964" y="1386867"/>
                  </a:cubicBezTo>
                  <a:lnTo>
                    <a:pt x="21828964" y="6933733"/>
                  </a:lnTo>
                  <a:cubicBezTo>
                    <a:pt x="21828964" y="7699709"/>
                    <a:pt x="21215414" y="8320599"/>
                    <a:pt x="20458494" y="8320599"/>
                  </a:cubicBezTo>
                  <a:lnTo>
                    <a:pt x="1370469" y="8320599"/>
                  </a:lnTo>
                  <a:cubicBezTo>
                    <a:pt x="613550" y="8320599"/>
                    <a:pt x="0" y="7699708"/>
                    <a:pt x="0" y="6933733"/>
                  </a:cubicBezTo>
                  <a:close/>
                </a:path>
              </a:pathLst>
            </a:custGeom>
            <a:solidFill>
              <a:srgbClr val="FFFFFF"/>
            </a:solidFill>
            <a:ln w="19050" cap="sq">
              <a:solidFill>
                <a:srgbClr val="DAE2ED"/>
              </a:solidFill>
              <a:prstDash val="solid"/>
              <a:miter/>
            </a:ln>
          </p:spPr>
        </p:sp>
        <p:sp>
          <p:nvSpPr>
            <p:cNvPr name="TextBox 7" id="7"/>
            <p:cNvSpPr txBox="true"/>
            <p:nvPr/>
          </p:nvSpPr>
          <p:spPr>
            <a:xfrm>
              <a:off x="0" y="0"/>
              <a:ext cx="21828965" cy="8320599"/>
            </a:xfrm>
            <a:prstGeom prst="rect">
              <a:avLst/>
            </a:prstGeom>
          </p:spPr>
          <p:txBody>
            <a:bodyPr anchor="ctr" rtlCol="false" tIns="50800" lIns="50800" bIns="50800" rIns="50800"/>
            <a:lstStyle/>
            <a:p>
              <a:pPr algn="l">
                <a:lnSpc>
                  <a:spcPts val="2999"/>
                </a:lnSpc>
              </a:pPr>
              <a:r>
                <a:rPr lang="en-US" sz="2499" b="true">
                  <a:solidFill>
                    <a:srgbClr val="1E3A8A"/>
                  </a:solidFill>
                  <a:latin typeface="Canva Sans Bold"/>
                  <a:ea typeface="Canva Sans Bold"/>
                  <a:cs typeface="Canva Sans Bold"/>
                  <a:sym typeface="Canva Sans Bold"/>
                </a:rPr>
                <a:t>Ví dụ 1 (Liệt kê đồ vật):</a:t>
              </a:r>
              <a:r>
                <a:rPr lang="en-US" sz="2499">
                  <a:solidFill>
                    <a:srgbClr val="1E293B"/>
                  </a:solidFill>
                  <a:latin typeface="Canva Sans"/>
                  <a:ea typeface="Canva Sans"/>
                  <a:cs typeface="Canva Sans"/>
                  <a:sym typeface="Canva Sans"/>
                </a:rPr>
                <a:t> "Bàn, ghế, tủ và giường đều được làm bằng gỗ."</a:t>
              </a:r>
            </a:p>
            <a:p>
              <a:pPr algn="l">
                <a:lnSpc>
                  <a:spcPts val="2999"/>
                </a:lnSpc>
              </a:pPr>
            </a:p>
            <a:p>
              <a:pPr algn="l">
                <a:lnSpc>
                  <a:spcPts val="2999"/>
                </a:lnSpc>
              </a:pPr>
              <a:r>
                <a:rPr lang="en-US" sz="2499" b="true">
                  <a:solidFill>
                    <a:srgbClr val="1E3A8A"/>
                  </a:solidFill>
                  <a:latin typeface="Canva Sans Bold"/>
                  <a:ea typeface="Canva Sans Bold"/>
                  <a:cs typeface="Canva Sans Bold"/>
                  <a:sym typeface="Canva Sans Bold"/>
                </a:rPr>
                <a:t>Ví dụ 2 (Tách trạng ngữ thời gian):</a:t>
              </a:r>
              <a:r>
                <a:rPr lang="en-US" sz="2499">
                  <a:solidFill>
                    <a:srgbClr val="1E293B"/>
                  </a:solidFill>
                  <a:latin typeface="Canva Sans"/>
                  <a:ea typeface="Canva Sans"/>
                  <a:cs typeface="Canva Sans"/>
                  <a:sym typeface="Canva Sans"/>
                </a:rPr>
                <a:t> "Chiều nay, chúng tôi có buổi học nhóm ở thư viện."</a:t>
              </a:r>
            </a:p>
            <a:p>
              <a:pPr algn="l">
                <a:lnSpc>
                  <a:spcPts val="2999"/>
                </a:lnSpc>
              </a:pPr>
            </a:p>
            <a:p>
              <a:pPr algn="l">
                <a:lnSpc>
                  <a:spcPts val="2999"/>
                </a:lnSpc>
              </a:pPr>
              <a:r>
                <a:rPr lang="en-US" sz="2499" b="true">
                  <a:solidFill>
                    <a:srgbClr val="1E3A8A"/>
                  </a:solidFill>
                  <a:latin typeface="Canva Sans Bold"/>
                  <a:ea typeface="Canva Sans Bold"/>
                  <a:cs typeface="Canva Sans Bold"/>
                  <a:sym typeface="Canva Sans Bold"/>
                </a:rPr>
                <a:t>Ví dụ 3 (Nối hai vế câu ghép):</a:t>
              </a:r>
              <a:r>
                <a:rPr lang="en-US" sz="2499">
                  <a:solidFill>
                    <a:srgbClr val="1E293B"/>
                  </a:solidFill>
                  <a:latin typeface="Canva Sans"/>
                  <a:ea typeface="Canva Sans"/>
                  <a:cs typeface="Canva Sans"/>
                  <a:sym typeface="Canva Sans"/>
                </a:rPr>
                <a:t> "Trời bắt đầu đổ mưa, đường phố trở nên vắng vẻ."</a:t>
              </a:r>
            </a:p>
            <a:p>
              <a:pPr algn="l">
                <a:lnSpc>
                  <a:spcPts val="2999"/>
                </a:lnSpc>
              </a:pPr>
            </a:p>
            <a:p>
              <a:pPr algn="l">
                <a:lnSpc>
                  <a:spcPts val="2999"/>
                </a:lnSpc>
              </a:pPr>
              <a:r>
                <a:rPr lang="en-US" sz="2499" b="true">
                  <a:solidFill>
                    <a:srgbClr val="1E3A8A"/>
                  </a:solidFill>
                  <a:latin typeface="Canva Sans Bold"/>
                  <a:ea typeface="Canva Sans Bold"/>
                  <a:cs typeface="Canva Sans Bold"/>
                  <a:sym typeface="Canva Sans Bold"/>
                </a:rPr>
                <a:t>Ví dụ 4 (Tách lời gọi đáp, hô ngữ):</a:t>
              </a:r>
              <a:r>
                <a:rPr lang="en-US" sz="2499">
                  <a:solidFill>
                    <a:srgbClr val="1E293B"/>
                  </a:solidFill>
                  <a:latin typeface="Canva Sans"/>
                  <a:ea typeface="Canva Sans"/>
                  <a:cs typeface="Canva Sans"/>
                  <a:sym typeface="Canva Sans"/>
                </a:rPr>
                <a:t> "Lan ơi, hãy mở cửa giúp mình với."</a:t>
              </a:r>
            </a:p>
            <a:p>
              <a:pPr algn="l">
                <a:lnSpc>
                  <a:spcPts val="2999"/>
                </a:lnSpc>
              </a:pPr>
            </a:p>
            <a:p>
              <a:pPr algn="l">
                <a:lnSpc>
                  <a:spcPts val="2999"/>
                </a:lnSpc>
              </a:pPr>
              <a:r>
                <a:rPr lang="en-US" sz="2499" b="true">
                  <a:solidFill>
                    <a:srgbClr val="1E3A8A"/>
                  </a:solidFill>
                  <a:latin typeface="Canva Sans Bold"/>
                  <a:ea typeface="Canva Sans Bold"/>
                  <a:cs typeface="Canva Sans Bold"/>
                  <a:sym typeface="Canva Sans Bold"/>
                </a:rPr>
                <a:t>Ví dụ 5 (Tách thành phần chú thích):</a:t>
              </a:r>
              <a:r>
                <a:rPr lang="en-US" sz="2499">
                  <a:solidFill>
                    <a:srgbClr val="1E293B"/>
                  </a:solidFill>
                  <a:latin typeface="Canva Sans"/>
                  <a:ea typeface="Canva Sans"/>
                  <a:cs typeface="Canva Sans"/>
                  <a:sym typeface="Canva Sans"/>
                </a:rPr>
                <a:t> "Nam, lớp trưởng lớp tôi, luôn đạt danh hiệu sinh viên giỏi."</a:t>
              </a:r>
            </a:p>
            <a:p>
              <a:pPr algn="l">
                <a:lnSpc>
                  <a:spcPts val="2999"/>
                </a:lnSpc>
              </a:pPr>
            </a:p>
            <a:p>
              <a:pPr algn="l">
                <a:lnSpc>
                  <a:spcPts val="2999"/>
                </a:lnSpc>
              </a:pPr>
              <a:r>
                <a:rPr lang="en-US" sz="2499" b="true">
                  <a:solidFill>
                    <a:srgbClr val="1E3A8A"/>
                  </a:solidFill>
                  <a:latin typeface="Canva Sans Bold"/>
                  <a:ea typeface="Canva Sans Bold"/>
                  <a:cs typeface="Canva Sans Bold"/>
                  <a:sym typeface="Canva Sans Bold"/>
                </a:rPr>
                <a:t>Ví dụ 6 (Tách trạng ngữ nơi chốn):</a:t>
              </a:r>
              <a:r>
                <a:rPr lang="en-US" sz="2499">
                  <a:solidFill>
                    <a:srgbClr val="1E293B"/>
                  </a:solidFill>
                  <a:latin typeface="Canva Sans"/>
                  <a:ea typeface="Canva Sans"/>
                  <a:cs typeface="Canva Sans"/>
                  <a:sym typeface="Canva Sans"/>
                </a:rPr>
                <a:t> "Trên sân trường rợp bóng cây, các bạn sinh viên đang thảo luận bài."</a:t>
              </a:r>
            </a:p>
            <a:p>
              <a:pPr algn="l">
                <a:lnSpc>
                  <a:spcPts val="2999"/>
                </a:lnSpc>
              </a:pPr>
            </a:p>
            <a:p>
              <a:pPr algn="l">
                <a:lnSpc>
                  <a:spcPts val="2999"/>
                </a:lnSpc>
              </a:pPr>
              <a:r>
                <a:rPr lang="en-US" sz="2499" b="true">
                  <a:solidFill>
                    <a:srgbClr val="1E3A8A"/>
                  </a:solidFill>
                  <a:latin typeface="Canva Sans Bold"/>
                  <a:ea typeface="Canva Sans Bold"/>
                  <a:cs typeface="Canva Sans Bold"/>
                  <a:sym typeface="Canva Sans Bold"/>
                </a:rPr>
                <a:t>Ví dụ 7 (Liệt kê chuỗi hành động):</a:t>
              </a:r>
              <a:r>
                <a:rPr lang="en-US" sz="2499">
                  <a:solidFill>
                    <a:srgbClr val="1E293B"/>
                  </a:solidFill>
                  <a:latin typeface="Canva Sans"/>
                  <a:ea typeface="Canva Sans"/>
                  <a:cs typeface="Canva Sans"/>
                  <a:sym typeface="Canva Sans"/>
                </a:rPr>
                <a:t> "Bạn ấy đọc tài liệu, ghi chép cẩn thận và tích cực phát biểu."</a:t>
              </a:r>
            </a:p>
            <a:p>
              <a:pPr algn="l">
                <a:lnSpc>
                  <a:spcPts val="2999"/>
                </a:lnSpc>
              </a:pPr>
            </a:p>
            <a:p>
              <a:pPr algn="l">
                <a:lnSpc>
                  <a:spcPts val="2999"/>
                </a:lnSpc>
              </a:pPr>
              <a:r>
                <a:rPr lang="en-US" sz="2499" b="true">
                  <a:solidFill>
                    <a:srgbClr val="1E3A8A"/>
                  </a:solidFill>
                  <a:latin typeface="Canva Sans Bold"/>
                  <a:ea typeface="Canva Sans Bold"/>
                  <a:cs typeface="Canva Sans Bold"/>
                  <a:sym typeface="Canva Sans Bold"/>
                </a:rPr>
                <a:t>Ví dụ 8 (Vế câu nhượng bộ):</a:t>
              </a:r>
              <a:r>
                <a:rPr lang="en-US" sz="2499">
                  <a:solidFill>
                    <a:srgbClr val="1E293B"/>
                  </a:solidFill>
                  <a:latin typeface="Canva Sans"/>
                  <a:ea typeface="Canva Sans"/>
                  <a:cs typeface="Canva Sans"/>
                  <a:sym typeface="Canva Sans"/>
                </a:rPr>
                <a:t> "Dù thời gian làm bài khá gấp, cả nhóm vẫn hoàn thành báo cáo đúng hạn."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280160" y="1737360"/>
            <a:ext cx="13807440" cy="495267"/>
          </a:xfrm>
          <a:prstGeom prst="rect">
            <a:avLst/>
          </a:prstGeom>
        </p:spPr>
        <p:txBody>
          <a:bodyPr anchor="t" rtlCol="false" tIns="0" lIns="0" bIns="0" rIns="0">
            <a:spAutoFit/>
          </a:bodyPr>
          <a:lstStyle/>
          <a:p>
            <a:pPr algn="l">
              <a:lnSpc>
                <a:spcPts val="3959"/>
              </a:lnSpc>
            </a:pPr>
            <a:r>
              <a:rPr lang="en-US" sz="3299" b="true">
                <a:solidFill>
                  <a:srgbClr val="1E3A8A"/>
                </a:solidFill>
                <a:latin typeface="Canva Sans Bold"/>
                <a:ea typeface="Canva Sans Bold"/>
                <a:cs typeface="Canva Sans Bold"/>
                <a:sym typeface="Canva Sans Bold"/>
              </a:rPr>
              <a:t>III. Dấu chấm: Vị trí và quy tắc viết chuẩn</a:t>
            </a:r>
          </a:p>
        </p:txBody>
      </p:sp>
      <p:grpSp>
        <p:nvGrpSpPr>
          <p:cNvPr name="Group 5" id="5"/>
          <p:cNvGrpSpPr/>
          <p:nvPr/>
        </p:nvGrpSpPr>
        <p:grpSpPr>
          <a:xfrm rot="0">
            <a:off x="443129" y="2232627"/>
            <a:ext cx="11777272" cy="7264618"/>
            <a:chOff x="0" y="0"/>
            <a:chExt cx="15703029" cy="9686157"/>
          </a:xfrm>
        </p:grpSpPr>
        <p:sp>
          <p:nvSpPr>
            <p:cNvPr name="Freeform 6" id="6"/>
            <p:cNvSpPr/>
            <p:nvPr/>
          </p:nvSpPr>
          <p:spPr>
            <a:xfrm flipH="false" flipV="false" rot="0">
              <a:off x="0" y="0"/>
              <a:ext cx="15703031" cy="9686158"/>
            </a:xfrm>
            <a:custGeom>
              <a:avLst/>
              <a:gdLst/>
              <a:ahLst/>
              <a:cxnLst/>
              <a:rect r="r" b="b" t="t" l="l"/>
              <a:pathLst>
                <a:path h="9686158" w="15703031">
                  <a:moveTo>
                    <a:pt x="0" y="1614476"/>
                  </a:moveTo>
                  <a:cubicBezTo>
                    <a:pt x="0" y="722790"/>
                    <a:pt x="702862" y="0"/>
                    <a:pt x="1569963" y="0"/>
                  </a:cubicBezTo>
                  <a:lnTo>
                    <a:pt x="14133066" y="0"/>
                  </a:lnTo>
                  <a:cubicBezTo>
                    <a:pt x="15000168" y="0"/>
                    <a:pt x="15703031" y="722790"/>
                    <a:pt x="15703031" y="1614476"/>
                  </a:cubicBezTo>
                  <a:lnTo>
                    <a:pt x="15703031" y="8071682"/>
                  </a:lnTo>
                  <a:cubicBezTo>
                    <a:pt x="15703031" y="8963368"/>
                    <a:pt x="15000168" y="9686158"/>
                    <a:pt x="14133066" y="9686158"/>
                  </a:cubicBezTo>
                  <a:lnTo>
                    <a:pt x="1569963" y="9686158"/>
                  </a:lnTo>
                  <a:cubicBezTo>
                    <a:pt x="702862" y="9686158"/>
                    <a:pt x="0" y="8963367"/>
                    <a:pt x="0" y="8071682"/>
                  </a:cubicBezTo>
                  <a:close/>
                </a:path>
              </a:pathLst>
            </a:custGeom>
            <a:solidFill>
              <a:srgbClr val="FFFFFF"/>
            </a:solidFill>
            <a:ln w="19050" cap="sq">
              <a:solidFill>
                <a:srgbClr val="DAE2ED"/>
              </a:solidFill>
              <a:prstDash val="solid"/>
              <a:miter/>
            </a:ln>
          </p:spPr>
        </p:sp>
        <p:sp>
          <p:nvSpPr>
            <p:cNvPr name="TextBox 7" id="7"/>
            <p:cNvSpPr txBox="true"/>
            <p:nvPr/>
          </p:nvSpPr>
          <p:spPr>
            <a:xfrm>
              <a:off x="0" y="-9525"/>
              <a:ext cx="15703029" cy="9695682"/>
            </a:xfrm>
            <a:prstGeom prst="rect">
              <a:avLst/>
            </a:prstGeom>
          </p:spPr>
          <p:txBody>
            <a:bodyPr anchor="ctr" rtlCol="false" tIns="50800" lIns="50800" bIns="50800" rIns="50800"/>
            <a:lstStyle/>
            <a:p>
              <a:pPr algn="l">
                <a:lnSpc>
                  <a:spcPts val="3239"/>
                </a:lnSpc>
              </a:pPr>
              <a:r>
                <a:rPr lang="en-US" sz="2699" b="true">
                  <a:solidFill>
                    <a:srgbClr val="1E3A8A"/>
                  </a:solidFill>
                  <a:latin typeface="Canva Sans Bold"/>
                  <a:ea typeface="Canva Sans Bold"/>
                  <a:cs typeface="Canva Sans Bold"/>
                  <a:sym typeface="Canva Sans Bold"/>
                </a:rPr>
                <a:t>Vị trí &amp; Cách đặt Dấu Chấm trong câu</a:t>
              </a:r>
            </a:p>
            <a:p>
              <a:pPr algn="l">
                <a:lnSpc>
                  <a:spcPts val="3239"/>
                </a:lnSpc>
              </a:pPr>
            </a:p>
            <a:p>
              <a:pPr algn="l">
                <a:lnSpc>
                  <a:spcPts val="2879"/>
                </a:lnSpc>
              </a:pPr>
              <a:r>
                <a:rPr lang="en-US" sz="2399" b="true">
                  <a:solidFill>
                    <a:srgbClr val="0F4C81"/>
                  </a:solidFill>
                  <a:latin typeface="Canva Sans Bold"/>
                  <a:ea typeface="Canva Sans Bold"/>
                  <a:cs typeface="Canva Sans Bold"/>
                  <a:sym typeface="Canva Sans Bold"/>
                </a:rPr>
                <a:t>• </a:t>
              </a:r>
              <a:r>
                <a:rPr lang="en-US" sz="2399" b="true">
                  <a:solidFill>
                    <a:srgbClr val="1E3A8A"/>
                  </a:solidFill>
                  <a:latin typeface="Canva Sans Bold"/>
                  <a:ea typeface="Canva Sans Bold"/>
                  <a:cs typeface="Canva Sans Bold"/>
                  <a:sym typeface="Canva Sans Bold"/>
                </a:rPr>
                <a:t>Luôn đặt ở vị trí cuối cùng của câu kể (câu trần thuật):</a:t>
              </a:r>
            </a:p>
            <a:p>
              <a:pPr algn="l">
                <a:lnSpc>
                  <a:spcPts val="2879"/>
                </a:lnSpc>
              </a:pPr>
              <a:r>
                <a:rPr lang="en-US" sz="2399">
                  <a:solidFill>
                    <a:srgbClr val="1E293B"/>
                  </a:solidFill>
                  <a:latin typeface="Canva Sans"/>
                  <a:ea typeface="Canva Sans"/>
                  <a:cs typeface="Canva Sans"/>
                  <a:sym typeface="Canva Sans"/>
                </a:rPr>
                <a:t>Đánh dấu câu đã hoàn chỉnh cả về ngữ pháp và ý nghĩa thông báo.</a:t>
              </a:r>
            </a:p>
            <a:p>
              <a:pPr algn="l">
                <a:lnSpc>
                  <a:spcPts val="2879"/>
                </a:lnSpc>
              </a:pPr>
            </a:p>
            <a:p>
              <a:pPr algn="l">
                <a:lnSpc>
                  <a:spcPts val="2879"/>
                </a:lnSpc>
              </a:pPr>
              <a:r>
                <a:rPr lang="en-US" sz="2399" b="true">
                  <a:solidFill>
                    <a:srgbClr val="0F4C81"/>
                  </a:solidFill>
                  <a:latin typeface="Canva Sans Bold"/>
                  <a:ea typeface="Canva Sans Bold"/>
                  <a:cs typeface="Canva Sans Bold"/>
                  <a:sym typeface="Canva Sans Bold"/>
                </a:rPr>
                <a:t>• </a:t>
              </a:r>
              <a:r>
                <a:rPr lang="en-US" sz="2399" b="true">
                  <a:solidFill>
                    <a:srgbClr val="1E3A8A"/>
                  </a:solidFill>
                  <a:latin typeface="Canva Sans Bold"/>
                  <a:ea typeface="Canva Sans Bold"/>
                  <a:cs typeface="Canva Sans Bold"/>
                  <a:sym typeface="Canva Sans Bold"/>
                </a:rPr>
                <a:t>Dùng trong câu cầu khiến nhẹ:</a:t>
              </a:r>
            </a:p>
            <a:p>
              <a:pPr algn="l">
                <a:lnSpc>
                  <a:spcPts val="2879"/>
                </a:lnSpc>
              </a:pPr>
              <a:r>
                <a:rPr lang="en-US" sz="2399">
                  <a:solidFill>
                    <a:srgbClr val="1E293B"/>
                  </a:solidFill>
                  <a:latin typeface="Canva Sans"/>
                  <a:ea typeface="Canva Sans"/>
                  <a:cs typeface="Canva Sans"/>
                  <a:sym typeface="Canva Sans"/>
                </a:rPr>
                <a:t>Có thể dùng dấu chấm ở cuối câu khuyên nhủ, dặn dò để thể hiện thái độ lịch thiệp.</a:t>
              </a:r>
            </a:p>
            <a:p>
              <a:pPr algn="l">
                <a:lnSpc>
                  <a:spcPts val="2879"/>
                </a:lnSpc>
              </a:pPr>
            </a:p>
            <a:p>
              <a:pPr algn="l">
                <a:lnSpc>
                  <a:spcPts val="2879"/>
                </a:lnSpc>
              </a:pPr>
              <a:r>
                <a:rPr lang="en-US" sz="2399" b="true">
                  <a:solidFill>
                    <a:srgbClr val="0F4C81"/>
                  </a:solidFill>
                  <a:latin typeface="Canva Sans Bold"/>
                  <a:ea typeface="Canva Sans Bold"/>
                  <a:cs typeface="Canva Sans Bold"/>
                  <a:sym typeface="Canva Sans Bold"/>
                </a:rPr>
                <a:t>• </a:t>
              </a:r>
              <a:r>
                <a:rPr lang="en-US" sz="2399" b="true">
                  <a:solidFill>
                    <a:srgbClr val="1E3A8A"/>
                  </a:solidFill>
                  <a:latin typeface="Canva Sans Bold"/>
                  <a:ea typeface="Canva Sans Bold"/>
                  <a:cs typeface="Canva Sans Bold"/>
                  <a:sym typeface="Canva Sans Bold"/>
                </a:rPr>
                <a:t>Quy tắc viết liền chữ trước:</a:t>
              </a:r>
            </a:p>
            <a:p>
              <a:pPr algn="l">
                <a:lnSpc>
                  <a:spcPts val="2879"/>
                </a:lnSpc>
              </a:pPr>
              <a:r>
                <a:rPr lang="en-US" sz="2399">
                  <a:solidFill>
                    <a:srgbClr val="1E293B"/>
                  </a:solidFill>
                  <a:latin typeface="Canva Sans"/>
                  <a:ea typeface="Canva Sans"/>
                  <a:cs typeface="Canva Sans"/>
                  <a:sym typeface="Canva Sans"/>
                </a:rPr>
                <a:t>Viết dính sát ký tự cuối cùng của từ đứng trước. Tuyệt đối không để khoảng trắng trước dấu chấm.</a:t>
              </a:r>
            </a:p>
            <a:p>
              <a:pPr algn="l">
                <a:lnSpc>
                  <a:spcPts val="2879"/>
                </a:lnSpc>
              </a:pPr>
            </a:p>
            <a:p>
              <a:pPr algn="l">
                <a:lnSpc>
                  <a:spcPts val="2879"/>
                </a:lnSpc>
              </a:pPr>
              <a:r>
                <a:rPr lang="en-US" sz="2399" b="true">
                  <a:solidFill>
                    <a:srgbClr val="0F4C81"/>
                  </a:solidFill>
                  <a:latin typeface="Canva Sans Bold"/>
                  <a:ea typeface="Canva Sans Bold"/>
                  <a:cs typeface="Canva Sans Bold"/>
                  <a:sym typeface="Canva Sans Bold"/>
                </a:rPr>
                <a:t>• </a:t>
              </a:r>
              <a:r>
                <a:rPr lang="en-US" sz="2399" b="true">
                  <a:solidFill>
                    <a:srgbClr val="1E3A8A"/>
                  </a:solidFill>
                  <a:latin typeface="Canva Sans Bold"/>
                  <a:ea typeface="Canva Sans Bold"/>
                  <a:cs typeface="Canva Sans Bold"/>
                  <a:sym typeface="Canva Sans Bold"/>
                </a:rPr>
                <a:t>Quy tắc dấu cách phía sau:</a:t>
              </a:r>
            </a:p>
            <a:p>
              <a:pPr algn="l">
                <a:lnSpc>
                  <a:spcPts val="2879"/>
                </a:lnSpc>
              </a:pPr>
              <a:r>
                <a:rPr lang="en-US" sz="2399">
                  <a:solidFill>
                    <a:srgbClr val="1E293B"/>
                  </a:solidFill>
                  <a:latin typeface="Canva Sans"/>
                  <a:ea typeface="Canva Sans"/>
                  <a:cs typeface="Canva Sans"/>
                  <a:sym typeface="Canva Sans"/>
                </a:rPr>
                <a:t>Bắt buộc cách đúng 1 khoảng trắng sau dấu chấm trước khi viết câu mới.</a:t>
              </a:r>
            </a:p>
            <a:p>
              <a:pPr algn="l">
                <a:lnSpc>
                  <a:spcPts val="2879"/>
                </a:lnSpc>
              </a:pPr>
            </a:p>
            <a:p>
              <a:pPr algn="l">
                <a:lnSpc>
                  <a:spcPts val="2879"/>
                </a:lnSpc>
              </a:pPr>
              <a:r>
                <a:rPr lang="en-US" sz="2399" b="true">
                  <a:solidFill>
                    <a:srgbClr val="0F4C81"/>
                  </a:solidFill>
                  <a:latin typeface="Canva Sans Bold"/>
                  <a:ea typeface="Canva Sans Bold"/>
                  <a:cs typeface="Canva Sans Bold"/>
                  <a:sym typeface="Canva Sans Bold"/>
                </a:rPr>
                <a:t>• </a:t>
              </a:r>
              <a:r>
                <a:rPr lang="en-US" sz="2399" b="true">
                  <a:solidFill>
                    <a:srgbClr val="1E3A8A"/>
                  </a:solidFill>
                  <a:latin typeface="Canva Sans Bold"/>
                  <a:ea typeface="Canva Sans Bold"/>
                  <a:cs typeface="Canva Sans Bold"/>
                  <a:sym typeface="Canva Sans Bold"/>
                </a:rPr>
                <a:t>Bắt buộc viết hoa chữ cái đầu câu tiếp theo:</a:t>
              </a:r>
            </a:p>
            <a:p>
              <a:pPr algn="l">
                <a:lnSpc>
                  <a:spcPts val="2879"/>
                </a:lnSpc>
              </a:pPr>
              <a:r>
                <a:rPr lang="en-US" sz="2399">
                  <a:solidFill>
                    <a:srgbClr val="1E293B"/>
                  </a:solidFill>
                  <a:latin typeface="Canva Sans"/>
                  <a:ea typeface="Canva Sans"/>
                  <a:cs typeface="Canva Sans"/>
                  <a:sym typeface="Canva Sans"/>
                </a:rPr>
                <a:t>Chữ cái đầu tiên của từ đứng sau dấu chấm kết thúc câu bắt buộc phải viết hoa.</a:t>
              </a:r>
            </a:p>
          </p:txBody>
        </p:sp>
      </p:grpSp>
      <p:grpSp>
        <p:nvGrpSpPr>
          <p:cNvPr name="Group 8" id="8"/>
          <p:cNvGrpSpPr/>
          <p:nvPr/>
        </p:nvGrpSpPr>
        <p:grpSpPr>
          <a:xfrm rot="0">
            <a:off x="12396628" y="2317604"/>
            <a:ext cx="4865370" cy="5276850"/>
            <a:chOff x="0" y="0"/>
            <a:chExt cx="6487160" cy="7035800"/>
          </a:xfrm>
        </p:grpSpPr>
        <p:sp>
          <p:nvSpPr>
            <p:cNvPr name="Freeform 9" id="9"/>
            <p:cNvSpPr/>
            <p:nvPr/>
          </p:nvSpPr>
          <p:spPr>
            <a:xfrm flipH="false" flipV="false" rot="0">
              <a:off x="0" y="0"/>
              <a:ext cx="6487160" cy="7035800"/>
            </a:xfrm>
            <a:custGeom>
              <a:avLst/>
              <a:gdLst/>
              <a:ahLst/>
              <a:cxnLst/>
              <a:rect r="r" b="b" t="t" l="l"/>
              <a:pathLst>
                <a:path h="7035800" w="6487160">
                  <a:moveTo>
                    <a:pt x="0" y="1081278"/>
                  </a:moveTo>
                  <a:cubicBezTo>
                    <a:pt x="0" y="484124"/>
                    <a:pt x="484124" y="0"/>
                    <a:pt x="1081278" y="0"/>
                  </a:cubicBezTo>
                  <a:lnTo>
                    <a:pt x="5405882" y="0"/>
                  </a:lnTo>
                  <a:cubicBezTo>
                    <a:pt x="6003036" y="0"/>
                    <a:pt x="6487160" y="484124"/>
                    <a:pt x="6487160" y="1081278"/>
                  </a:cubicBezTo>
                  <a:lnTo>
                    <a:pt x="6487160" y="5954522"/>
                  </a:lnTo>
                  <a:cubicBezTo>
                    <a:pt x="6487160" y="6551676"/>
                    <a:pt x="6003036" y="7035800"/>
                    <a:pt x="5405882" y="7035800"/>
                  </a:cubicBezTo>
                  <a:lnTo>
                    <a:pt x="1081278" y="7035800"/>
                  </a:lnTo>
                  <a:cubicBezTo>
                    <a:pt x="484124" y="7035800"/>
                    <a:pt x="0" y="6551676"/>
                    <a:pt x="0" y="5954522"/>
                  </a:cubicBezTo>
                  <a:close/>
                </a:path>
              </a:pathLst>
            </a:custGeom>
            <a:solidFill>
              <a:srgbClr val="FFFFFF"/>
            </a:solidFill>
            <a:ln w="19050" cap="sq">
              <a:solidFill>
                <a:srgbClr val="DAE2ED"/>
              </a:solidFill>
              <a:prstDash val="solid"/>
              <a:miter/>
            </a:ln>
          </p:spPr>
        </p:sp>
      </p:grpSp>
      <p:grpSp>
        <p:nvGrpSpPr>
          <p:cNvPr name="Group 10" id="10"/>
          <p:cNvGrpSpPr/>
          <p:nvPr/>
        </p:nvGrpSpPr>
        <p:grpSpPr>
          <a:xfrm rot="0">
            <a:off x="12543313" y="2464289"/>
            <a:ext cx="4572000" cy="4572000"/>
            <a:chOff x="0" y="0"/>
            <a:chExt cx="6096000" cy="6096000"/>
          </a:xfrm>
        </p:grpSpPr>
        <p:sp>
          <p:nvSpPr>
            <p:cNvPr name="Freeform 11" id="11" descr="dau_cham.jpg"/>
            <p:cNvSpPr/>
            <p:nvPr/>
          </p:nvSpPr>
          <p:spPr>
            <a:xfrm flipH="false" flipV="false" rot="0">
              <a:off x="0" y="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3"/>
              <a:stretch>
                <a:fillRect l="0" t="0" r="0" b="0"/>
              </a:stretch>
            </a:blipFill>
          </p:spPr>
        </p:sp>
      </p:grpSp>
      <p:sp>
        <p:nvSpPr>
          <p:cNvPr name="TextBox 12" id="12"/>
          <p:cNvSpPr txBox="true"/>
          <p:nvPr/>
        </p:nvSpPr>
        <p:spPr>
          <a:xfrm rot="0">
            <a:off x="12497593" y="7127729"/>
            <a:ext cx="4663440" cy="320040"/>
          </a:xfrm>
          <a:prstGeom prst="rect">
            <a:avLst/>
          </a:prstGeom>
        </p:spPr>
        <p:txBody>
          <a:bodyPr anchor="t" rtlCol="false" tIns="0" lIns="0" bIns="0" rIns="0">
            <a:spAutoFit/>
          </a:bodyPr>
          <a:lstStyle/>
          <a:p>
            <a:pPr algn="ctr">
              <a:lnSpc>
                <a:spcPts val="2040"/>
              </a:lnSpc>
            </a:pPr>
            <a:r>
              <a:rPr lang="en-US" sz="1700" b="true">
                <a:solidFill>
                  <a:srgbClr val="1E3A8A"/>
                </a:solidFill>
                <a:latin typeface="Canva Sans Bold"/>
                <a:ea typeface="Canva Sans Bold"/>
                <a:cs typeface="Canva Sans Bold"/>
                <a:sym typeface="Canva Sans Bold"/>
              </a:rPr>
              <a:t>DẤU CHẤM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280160" y="1737360"/>
            <a:ext cx="13807440" cy="495267"/>
          </a:xfrm>
          <a:prstGeom prst="rect">
            <a:avLst/>
          </a:prstGeom>
        </p:spPr>
        <p:txBody>
          <a:bodyPr anchor="t" rtlCol="false" tIns="0" lIns="0" bIns="0" rIns="0">
            <a:spAutoFit/>
          </a:bodyPr>
          <a:lstStyle/>
          <a:p>
            <a:pPr algn="l">
              <a:lnSpc>
                <a:spcPts val="3959"/>
              </a:lnSpc>
            </a:pPr>
            <a:r>
              <a:rPr lang="en-US" sz="3299" b="true">
                <a:solidFill>
                  <a:srgbClr val="1E3A8A"/>
                </a:solidFill>
                <a:latin typeface="Canva Sans Bold"/>
                <a:ea typeface="Canva Sans Bold"/>
                <a:cs typeface="Canva Sans Bold"/>
                <a:sym typeface="Canva Sans Bold"/>
              </a:rPr>
              <a:t>III. Dấu chấm: Công dụng và các quy ước thường gặp</a:t>
            </a:r>
          </a:p>
        </p:txBody>
      </p:sp>
      <p:grpSp>
        <p:nvGrpSpPr>
          <p:cNvPr name="Group 5" id="5"/>
          <p:cNvGrpSpPr/>
          <p:nvPr/>
        </p:nvGrpSpPr>
        <p:grpSpPr>
          <a:xfrm rot="0">
            <a:off x="756892" y="2412795"/>
            <a:ext cx="15737735" cy="6544068"/>
            <a:chOff x="0" y="0"/>
            <a:chExt cx="20983646" cy="8725423"/>
          </a:xfrm>
        </p:grpSpPr>
        <p:sp>
          <p:nvSpPr>
            <p:cNvPr name="Freeform 6" id="6"/>
            <p:cNvSpPr/>
            <p:nvPr/>
          </p:nvSpPr>
          <p:spPr>
            <a:xfrm flipH="false" flipV="false" rot="0">
              <a:off x="0" y="0"/>
              <a:ext cx="20983645" cy="8725423"/>
            </a:xfrm>
            <a:custGeom>
              <a:avLst/>
              <a:gdLst/>
              <a:ahLst/>
              <a:cxnLst/>
              <a:rect r="r" b="b" t="t" l="l"/>
              <a:pathLst>
                <a:path h="8725423" w="20983645">
                  <a:moveTo>
                    <a:pt x="0" y="1454342"/>
                  </a:moveTo>
                  <a:cubicBezTo>
                    <a:pt x="0" y="651099"/>
                    <a:pt x="589791" y="0"/>
                    <a:pt x="1317399" y="0"/>
                  </a:cubicBezTo>
                  <a:lnTo>
                    <a:pt x="19666248" y="0"/>
                  </a:lnTo>
                  <a:cubicBezTo>
                    <a:pt x="20393856" y="0"/>
                    <a:pt x="20983645" y="651099"/>
                    <a:pt x="20983645" y="1454342"/>
                  </a:cubicBezTo>
                  <a:lnTo>
                    <a:pt x="20983645" y="7271081"/>
                  </a:lnTo>
                  <a:cubicBezTo>
                    <a:pt x="20983645" y="8074325"/>
                    <a:pt x="20393856" y="8725423"/>
                    <a:pt x="19666248" y="8725423"/>
                  </a:cubicBezTo>
                  <a:lnTo>
                    <a:pt x="1317399" y="8725423"/>
                  </a:lnTo>
                  <a:cubicBezTo>
                    <a:pt x="589791" y="8725423"/>
                    <a:pt x="0" y="8074323"/>
                    <a:pt x="0" y="7271081"/>
                  </a:cubicBezTo>
                  <a:close/>
                </a:path>
              </a:pathLst>
            </a:custGeom>
            <a:solidFill>
              <a:srgbClr val="FFFFFF"/>
            </a:solidFill>
            <a:ln w="19050" cap="sq">
              <a:solidFill>
                <a:srgbClr val="DAE2ED"/>
              </a:solidFill>
              <a:prstDash val="solid"/>
              <a:miter/>
            </a:ln>
          </p:spPr>
        </p:sp>
        <p:sp>
          <p:nvSpPr>
            <p:cNvPr name="TextBox 7" id="7"/>
            <p:cNvSpPr txBox="true"/>
            <p:nvPr/>
          </p:nvSpPr>
          <p:spPr>
            <a:xfrm>
              <a:off x="0" y="-9525"/>
              <a:ext cx="20983646" cy="8734948"/>
            </a:xfrm>
            <a:prstGeom prst="rect">
              <a:avLst/>
            </a:prstGeom>
          </p:spPr>
          <p:txBody>
            <a:bodyPr anchor="ctr" rtlCol="false" tIns="50800" lIns="50800" bIns="50800" rIns="50800"/>
            <a:lstStyle/>
            <a:p>
              <a:pPr algn="l">
                <a:lnSpc>
                  <a:spcPts val="3239"/>
                </a:lnSpc>
              </a:pPr>
              <a:r>
                <a:rPr lang="en-US" sz="2699" b="true">
                  <a:solidFill>
                    <a:srgbClr val="1E3A8A"/>
                  </a:solidFill>
                  <a:latin typeface="Canva Sans Bold"/>
                  <a:ea typeface="Canva Sans Bold"/>
                  <a:cs typeface="Canva Sans Bold"/>
                  <a:sym typeface="Canva Sans Bold"/>
                </a:rPr>
                <a:t>Công dụng chính &amp; 4 Quy ước mở rộng cần nhớ</a:t>
              </a:r>
            </a:p>
            <a:p>
              <a:pPr algn="l">
                <a:lnSpc>
                  <a:spcPts val="3239"/>
                </a:lnSpc>
              </a:pPr>
            </a:p>
            <a:p>
              <a:pPr algn="l">
                <a:lnSpc>
                  <a:spcPts val="2759"/>
                </a:lnSpc>
              </a:pPr>
              <a:r>
                <a:rPr lang="en-US" sz="2299" b="true">
                  <a:solidFill>
                    <a:srgbClr val="0F4C81"/>
                  </a:solidFill>
                  <a:latin typeface="Canva Sans Bold"/>
                  <a:ea typeface="Canva Sans Bold"/>
                  <a:cs typeface="Canva Sans Bold"/>
                  <a:sym typeface="Canva Sans Bold"/>
                </a:rPr>
                <a:t>• </a:t>
              </a:r>
              <a:r>
                <a:rPr lang="en-US" sz="2299" b="true">
                  <a:solidFill>
                    <a:srgbClr val="1E3A8A"/>
                  </a:solidFill>
                  <a:latin typeface="Canva Sans Bold"/>
                  <a:ea typeface="Canva Sans Bold"/>
                  <a:cs typeface="Canva Sans Bold"/>
                  <a:sym typeface="Canva Sans Bold"/>
                </a:rPr>
                <a:t>Đánh dấu kết thúc trọn vẹn một câu kể:</a:t>
              </a:r>
            </a:p>
            <a:p>
              <a:pPr algn="l">
                <a:lnSpc>
                  <a:spcPts val="2759"/>
                </a:lnSpc>
              </a:pPr>
              <a:r>
                <a:rPr lang="en-US" sz="2299">
                  <a:solidFill>
                    <a:srgbClr val="1E293B"/>
                  </a:solidFill>
                  <a:latin typeface="Canva Sans"/>
                  <a:ea typeface="Canva Sans"/>
                  <a:cs typeface="Canva Sans"/>
                  <a:sym typeface="Canva Sans"/>
                </a:rPr>
                <a:t>Báo hiệu người viết đã kết thúc trọn vẹn một ý thông tin trước khi chuyển sang câu tiếp theo.</a:t>
              </a:r>
            </a:p>
            <a:p>
              <a:pPr algn="l">
                <a:lnSpc>
                  <a:spcPts val="2759"/>
                </a:lnSpc>
              </a:pPr>
            </a:p>
            <a:p>
              <a:pPr algn="l">
                <a:lnSpc>
                  <a:spcPts val="2759"/>
                </a:lnSpc>
              </a:pPr>
              <a:r>
                <a:rPr lang="en-US" sz="2299" b="true">
                  <a:solidFill>
                    <a:srgbClr val="0F4C81"/>
                  </a:solidFill>
                  <a:latin typeface="Canva Sans Bold"/>
                  <a:ea typeface="Canva Sans Bold"/>
                  <a:cs typeface="Canva Sans Bold"/>
                  <a:sym typeface="Canva Sans Bold"/>
                </a:rPr>
                <a:t>• </a:t>
              </a:r>
              <a:r>
                <a:rPr lang="en-US" sz="2299" b="true">
                  <a:solidFill>
                    <a:srgbClr val="1E3A8A"/>
                  </a:solidFill>
                  <a:latin typeface="Canva Sans Bold"/>
                  <a:ea typeface="Canva Sans Bold"/>
                  <a:cs typeface="Canva Sans Bold"/>
                  <a:sym typeface="Canva Sans Bold"/>
                </a:rPr>
                <a:t>Quy ước trong từ viết tắt học vị, chức danh:</a:t>
              </a:r>
            </a:p>
            <a:p>
              <a:pPr algn="l">
                <a:lnSpc>
                  <a:spcPts val="2759"/>
                </a:lnSpc>
              </a:pPr>
              <a:r>
                <a:rPr lang="en-US" sz="2299">
                  <a:solidFill>
                    <a:srgbClr val="1E293B"/>
                  </a:solidFill>
                  <a:latin typeface="Canva Sans"/>
                  <a:ea typeface="Canva Sans"/>
                  <a:cs typeface="Canva Sans"/>
                  <a:sym typeface="Canva Sans"/>
                </a:rPr>
                <a:t>Dùng sau các từ viết tắt phổ biến: ThS. (Thạc sĩ), TS. (Tiến sĩ), PGS., GS.</a:t>
              </a:r>
            </a:p>
            <a:p>
              <a:pPr algn="l">
                <a:lnSpc>
                  <a:spcPts val="2759"/>
                </a:lnSpc>
              </a:pPr>
            </a:p>
            <a:p>
              <a:pPr algn="l">
                <a:lnSpc>
                  <a:spcPts val="2759"/>
                </a:lnSpc>
              </a:pPr>
              <a:r>
                <a:rPr lang="en-US" sz="2299" b="true">
                  <a:solidFill>
                    <a:srgbClr val="0F4C81"/>
                  </a:solidFill>
                  <a:latin typeface="Canva Sans Bold"/>
                  <a:ea typeface="Canva Sans Bold"/>
                  <a:cs typeface="Canva Sans Bold"/>
                  <a:sym typeface="Canva Sans Bold"/>
                </a:rPr>
                <a:t>• </a:t>
              </a:r>
              <a:r>
                <a:rPr lang="en-US" sz="2299" b="true">
                  <a:solidFill>
                    <a:srgbClr val="1E3A8A"/>
                  </a:solidFill>
                  <a:latin typeface="Canva Sans Bold"/>
                  <a:ea typeface="Canva Sans Bold"/>
                  <a:cs typeface="Canva Sans Bold"/>
                  <a:sym typeface="Canva Sans Bold"/>
                </a:rPr>
                <a:t>Quy ước phân cách số tiền, số lượng lớn:</a:t>
              </a:r>
            </a:p>
            <a:p>
              <a:pPr algn="l">
                <a:lnSpc>
                  <a:spcPts val="2759"/>
                </a:lnSpc>
              </a:pPr>
              <a:r>
                <a:rPr lang="en-US" sz="2299">
                  <a:solidFill>
                    <a:srgbClr val="1E293B"/>
                  </a:solidFill>
                  <a:latin typeface="Canva Sans"/>
                  <a:ea typeface="Canva Sans"/>
                  <a:cs typeface="Canva Sans"/>
                  <a:sym typeface="Canva Sans"/>
                </a:rPr>
                <a:t>Ngăn cách từng cụm 3 chữ số theo quy chuẩn kế toán Việt Nam: 1.000.000 VNĐ, 500.000 đồng.</a:t>
              </a:r>
            </a:p>
            <a:p>
              <a:pPr algn="l">
                <a:lnSpc>
                  <a:spcPts val="2759"/>
                </a:lnSpc>
              </a:pPr>
            </a:p>
            <a:p>
              <a:pPr algn="l">
                <a:lnSpc>
                  <a:spcPts val="2759"/>
                </a:lnSpc>
              </a:pPr>
              <a:r>
                <a:rPr lang="en-US" sz="2299" b="true">
                  <a:solidFill>
                    <a:srgbClr val="0F4C81"/>
                  </a:solidFill>
                  <a:latin typeface="Canva Sans Bold"/>
                  <a:ea typeface="Canva Sans Bold"/>
                  <a:cs typeface="Canva Sans Bold"/>
                  <a:sym typeface="Canva Sans Bold"/>
                </a:rPr>
                <a:t>• </a:t>
              </a:r>
              <a:r>
                <a:rPr lang="en-US" sz="2299" b="true">
                  <a:solidFill>
                    <a:srgbClr val="1E3A8A"/>
                  </a:solidFill>
                  <a:latin typeface="Canva Sans Bold"/>
                  <a:ea typeface="Canva Sans Bold"/>
                  <a:cs typeface="Canva Sans Bold"/>
                  <a:sym typeface="Canva Sans Bold"/>
                </a:rPr>
                <a:t>Quy ước ghi mốc ngày tháng năm:</a:t>
              </a:r>
            </a:p>
            <a:p>
              <a:pPr algn="l">
                <a:lnSpc>
                  <a:spcPts val="2759"/>
                </a:lnSpc>
              </a:pPr>
              <a:r>
                <a:rPr lang="en-US" sz="2299">
                  <a:solidFill>
                    <a:srgbClr val="1E293B"/>
                  </a:solidFill>
                  <a:latin typeface="Canva Sans"/>
                  <a:ea typeface="Canva Sans"/>
                  <a:cs typeface="Canva Sans"/>
                  <a:sym typeface="Canva Sans"/>
                </a:rPr>
                <a:t>Dùng phân định ngày, tháng, năm trong văn bản: 21.09.2026.</a:t>
              </a:r>
            </a:p>
            <a:p>
              <a:pPr algn="l">
                <a:lnSpc>
                  <a:spcPts val="2759"/>
                </a:lnSpc>
              </a:pPr>
            </a:p>
            <a:p>
              <a:pPr algn="l">
                <a:lnSpc>
                  <a:spcPts val="2759"/>
                </a:lnSpc>
              </a:pPr>
              <a:r>
                <a:rPr lang="en-US" sz="2299" b="true">
                  <a:solidFill>
                    <a:srgbClr val="0F4C81"/>
                  </a:solidFill>
                  <a:latin typeface="Canva Sans Bold"/>
                  <a:ea typeface="Canva Sans Bold"/>
                  <a:cs typeface="Canva Sans Bold"/>
                  <a:sym typeface="Canva Sans Bold"/>
                </a:rPr>
                <a:t>• </a:t>
              </a:r>
              <a:r>
                <a:rPr lang="en-US" sz="2299" b="true">
                  <a:solidFill>
                    <a:srgbClr val="1E3A8A"/>
                  </a:solidFill>
                  <a:latin typeface="Canva Sans Bold"/>
                  <a:ea typeface="Canva Sans Bold"/>
                  <a:cs typeface="Canva Sans Bold"/>
                  <a:sym typeface="Canva Sans Bold"/>
                </a:rPr>
                <a:t>Quy tắc khi kết hợp với dấu ngoặc đơn ():</a:t>
              </a:r>
            </a:p>
            <a:p>
              <a:pPr algn="l">
                <a:lnSpc>
                  <a:spcPts val="2759"/>
                </a:lnSpc>
              </a:pPr>
              <a:r>
                <a:rPr lang="en-US" sz="2299">
                  <a:solidFill>
                    <a:srgbClr val="1E293B"/>
                  </a:solidFill>
                  <a:latin typeface="Canva Sans"/>
                  <a:ea typeface="Canva Sans"/>
                  <a:cs typeface="Canva Sans"/>
                  <a:sym typeface="Canva Sans"/>
                </a:rPr>
                <a:t>    - Nếu trong ngoặc là chú thích ngắn: Dấu chấm nằm NGOÀI ngoặc: Bạn cần nộp bài đúng hạn (trước 22h00).</a:t>
              </a:r>
            </a:p>
            <a:p>
              <a:pPr algn="l">
                <a:lnSpc>
                  <a:spcPts val="2759"/>
                </a:lnSpc>
              </a:pPr>
              <a:r>
                <a:rPr lang="en-US" sz="2299">
                  <a:solidFill>
                    <a:srgbClr val="1E293B"/>
                  </a:solidFill>
                  <a:latin typeface="Canva Sans"/>
                  <a:ea typeface="Canva Sans"/>
                  <a:cs typeface="Canva Sans"/>
                  <a:sym typeface="Canva Sans"/>
                </a:rPr>
                <a:t>    - Nếu trong ngoặc là câu độc lập hoàn chỉnh: Dấu chấm nằm TRONG ngoặc: (Tất cả tài liệu đã được gửi qua email.)</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280160" y="1737360"/>
            <a:ext cx="13807440" cy="495267"/>
          </a:xfrm>
          <a:prstGeom prst="rect">
            <a:avLst/>
          </a:prstGeom>
        </p:spPr>
        <p:txBody>
          <a:bodyPr anchor="t" rtlCol="false" tIns="0" lIns="0" bIns="0" rIns="0">
            <a:spAutoFit/>
          </a:bodyPr>
          <a:lstStyle/>
          <a:p>
            <a:pPr algn="l">
              <a:lnSpc>
                <a:spcPts val="3959"/>
              </a:lnSpc>
            </a:pPr>
            <a:r>
              <a:rPr lang="en-US" sz="3299" b="true">
                <a:solidFill>
                  <a:srgbClr val="1E3A8A"/>
                </a:solidFill>
                <a:latin typeface="Canva Sans Bold"/>
                <a:ea typeface="Canva Sans Bold"/>
                <a:cs typeface="Canva Sans Bold"/>
                <a:sym typeface="Canva Sans Bold"/>
              </a:rPr>
              <a:t>III. Dấu chấm: 8 Ví dụ minh họa thực tế</a:t>
            </a:r>
          </a:p>
        </p:txBody>
      </p:sp>
      <p:grpSp>
        <p:nvGrpSpPr>
          <p:cNvPr name="Group 5" id="5"/>
          <p:cNvGrpSpPr/>
          <p:nvPr/>
        </p:nvGrpSpPr>
        <p:grpSpPr>
          <a:xfrm rot="0">
            <a:off x="1162200" y="2589867"/>
            <a:ext cx="15385993" cy="5662215"/>
            <a:chOff x="0" y="0"/>
            <a:chExt cx="20514658" cy="7549620"/>
          </a:xfrm>
        </p:grpSpPr>
        <p:sp>
          <p:nvSpPr>
            <p:cNvPr name="Freeform 6" id="6"/>
            <p:cNvSpPr/>
            <p:nvPr/>
          </p:nvSpPr>
          <p:spPr>
            <a:xfrm flipH="false" flipV="false" rot="0">
              <a:off x="0" y="0"/>
              <a:ext cx="20514656" cy="7549621"/>
            </a:xfrm>
            <a:custGeom>
              <a:avLst/>
              <a:gdLst/>
              <a:ahLst/>
              <a:cxnLst/>
              <a:rect r="r" b="b" t="t" l="l"/>
              <a:pathLst>
                <a:path h="7549621" w="20514656">
                  <a:moveTo>
                    <a:pt x="0" y="1258361"/>
                  </a:moveTo>
                  <a:cubicBezTo>
                    <a:pt x="0" y="563360"/>
                    <a:pt x="576609" y="0"/>
                    <a:pt x="1287954" y="0"/>
                  </a:cubicBezTo>
                  <a:lnTo>
                    <a:pt x="19226702" y="0"/>
                  </a:lnTo>
                  <a:cubicBezTo>
                    <a:pt x="19938048" y="0"/>
                    <a:pt x="20514656" y="563360"/>
                    <a:pt x="20514656" y="1258361"/>
                  </a:cubicBezTo>
                  <a:lnTo>
                    <a:pt x="20514656" y="6291259"/>
                  </a:lnTo>
                  <a:cubicBezTo>
                    <a:pt x="20514656" y="6986261"/>
                    <a:pt x="19938048" y="7549621"/>
                    <a:pt x="19226702" y="7549621"/>
                  </a:cubicBezTo>
                  <a:lnTo>
                    <a:pt x="1287954" y="7549621"/>
                  </a:lnTo>
                  <a:cubicBezTo>
                    <a:pt x="576609" y="7549621"/>
                    <a:pt x="0" y="6986260"/>
                    <a:pt x="0" y="6291259"/>
                  </a:cubicBezTo>
                  <a:close/>
                </a:path>
              </a:pathLst>
            </a:custGeom>
            <a:solidFill>
              <a:srgbClr val="FFFFFF"/>
            </a:solidFill>
            <a:ln w="19050" cap="sq">
              <a:solidFill>
                <a:srgbClr val="DAE2ED"/>
              </a:solidFill>
              <a:prstDash val="solid"/>
              <a:miter/>
            </a:ln>
          </p:spPr>
        </p:sp>
        <p:sp>
          <p:nvSpPr>
            <p:cNvPr name="TextBox 7" id="7"/>
            <p:cNvSpPr txBox="true"/>
            <p:nvPr/>
          </p:nvSpPr>
          <p:spPr>
            <a:xfrm>
              <a:off x="0" y="9525"/>
              <a:ext cx="20514658" cy="7540095"/>
            </a:xfrm>
            <a:prstGeom prst="rect">
              <a:avLst/>
            </a:prstGeom>
          </p:spPr>
          <p:txBody>
            <a:bodyPr anchor="ctr" rtlCol="false" tIns="50800" lIns="50800" bIns="50800" rIns="50800"/>
            <a:lstStyle/>
            <a:p>
              <a:pPr algn="l">
                <a:lnSpc>
                  <a:spcPts val="2879"/>
                </a:lnSpc>
              </a:pPr>
              <a:r>
                <a:rPr lang="en-US" sz="2399" b="true">
                  <a:solidFill>
                    <a:srgbClr val="1E3A8A"/>
                  </a:solidFill>
                  <a:latin typeface="Canva Sans Bold"/>
                  <a:ea typeface="Canva Sans Bold"/>
                  <a:cs typeface="Canva Sans Bold"/>
                  <a:sym typeface="Canva Sans Bold"/>
                </a:rPr>
                <a:t>Ví dụ 1 (Kết thúc câu kể):</a:t>
              </a:r>
              <a:r>
                <a:rPr lang="en-US" sz="2399">
                  <a:solidFill>
                    <a:srgbClr val="1E293B"/>
                  </a:solidFill>
                  <a:latin typeface="Canva Sans"/>
                  <a:ea typeface="Canva Sans"/>
                  <a:cs typeface="Canva Sans"/>
                  <a:sym typeface="Canva Sans"/>
                </a:rPr>
                <a:t> "Hôm nay nhóm chúng ta cùng tìm hiểu về quy tắc dùng dấu câu tiếng Việt."</a:t>
              </a:r>
            </a:p>
            <a:p>
              <a:pPr algn="l">
                <a:lnSpc>
                  <a:spcPts val="2879"/>
                </a:lnSpc>
              </a:pPr>
            </a:p>
            <a:p>
              <a:pPr algn="l">
                <a:lnSpc>
                  <a:spcPts val="2879"/>
                </a:lnSpc>
              </a:pPr>
              <a:r>
                <a:rPr lang="en-US" sz="2399" b="true">
                  <a:solidFill>
                    <a:srgbClr val="1E3A8A"/>
                  </a:solidFill>
                  <a:latin typeface="Canva Sans Bold"/>
                  <a:ea typeface="Canva Sans Bold"/>
                  <a:cs typeface="Canva Sans Bold"/>
                  <a:sym typeface="Canva Sans Bold"/>
                </a:rPr>
                <a:t>Ví dụ 2 (Dặn dò nhẹ nhàng):</a:t>
              </a:r>
              <a:r>
                <a:rPr lang="en-US" sz="2399">
                  <a:solidFill>
                    <a:srgbClr val="1E293B"/>
                  </a:solidFill>
                  <a:latin typeface="Canva Sans"/>
                  <a:ea typeface="Canva Sans"/>
                  <a:cs typeface="Canva Sans"/>
                  <a:sym typeface="Canva Sans"/>
                </a:rPr>
                <a:t> "Bạn nhớ kiểm tra lại nội dung bài tập trước khi nộp nhé."</a:t>
              </a:r>
            </a:p>
            <a:p>
              <a:pPr algn="l">
                <a:lnSpc>
                  <a:spcPts val="2879"/>
                </a:lnSpc>
              </a:pPr>
            </a:p>
            <a:p>
              <a:pPr algn="l">
                <a:lnSpc>
                  <a:spcPts val="2879"/>
                </a:lnSpc>
              </a:pPr>
              <a:r>
                <a:rPr lang="en-US" sz="2399" b="true">
                  <a:solidFill>
                    <a:srgbClr val="1E3A8A"/>
                  </a:solidFill>
                  <a:latin typeface="Canva Sans Bold"/>
                  <a:ea typeface="Canva Sans Bold"/>
                  <a:cs typeface="Canva Sans Bold"/>
                  <a:sym typeface="Canva Sans Bold"/>
                </a:rPr>
                <a:t>Ví dụ 3 (Viết tắt học vị):</a:t>
              </a:r>
              <a:r>
                <a:rPr lang="en-US" sz="2399">
                  <a:solidFill>
                    <a:srgbClr val="1E293B"/>
                  </a:solidFill>
                  <a:latin typeface="Canva Sans"/>
                  <a:ea typeface="Canva Sans"/>
                  <a:cs typeface="Canva Sans"/>
                  <a:sym typeface="Canva Sans"/>
                </a:rPr>
                <a:t> "Giảng viên hướng dẫn môn học là ThS. Nguyễn Văn A."</a:t>
              </a:r>
            </a:p>
            <a:p>
              <a:pPr algn="l">
                <a:lnSpc>
                  <a:spcPts val="2879"/>
                </a:lnSpc>
              </a:pPr>
            </a:p>
            <a:p>
              <a:pPr algn="l">
                <a:lnSpc>
                  <a:spcPts val="2879"/>
                </a:lnSpc>
              </a:pPr>
              <a:r>
                <a:rPr lang="en-US" sz="2399" b="true">
                  <a:solidFill>
                    <a:srgbClr val="1E3A8A"/>
                  </a:solidFill>
                  <a:latin typeface="Canva Sans Bold"/>
                  <a:ea typeface="Canva Sans Bold"/>
                  <a:cs typeface="Canva Sans Bold"/>
                  <a:sym typeface="Canva Sans Bold"/>
                </a:rPr>
                <a:t>Ví dụ 4 (Phân cách số tiền lớn):</a:t>
              </a:r>
              <a:r>
                <a:rPr lang="en-US" sz="2399">
                  <a:solidFill>
                    <a:srgbClr val="1E293B"/>
                  </a:solidFill>
                  <a:latin typeface="Canva Sans"/>
                  <a:ea typeface="Canva Sans"/>
                  <a:cs typeface="Canva Sans"/>
                  <a:sym typeface="Canva Sans"/>
                </a:rPr>
                <a:t> "Tổng kinh phí thực hiện đề tài là 1.500.000 đồng."</a:t>
              </a:r>
            </a:p>
            <a:p>
              <a:pPr algn="l">
                <a:lnSpc>
                  <a:spcPts val="2879"/>
                </a:lnSpc>
              </a:pPr>
            </a:p>
            <a:p>
              <a:pPr algn="l">
                <a:lnSpc>
                  <a:spcPts val="2879"/>
                </a:lnSpc>
              </a:pPr>
              <a:r>
                <a:rPr lang="en-US" sz="2399" b="true">
                  <a:solidFill>
                    <a:srgbClr val="1E3A8A"/>
                  </a:solidFill>
                  <a:latin typeface="Canva Sans Bold"/>
                  <a:ea typeface="Canva Sans Bold"/>
                  <a:cs typeface="Canva Sans Bold"/>
                  <a:sym typeface="Canva Sans Bold"/>
                </a:rPr>
                <a:t>Ví dụ 5 (Ghi mốc ngày tháng năm):</a:t>
              </a:r>
              <a:r>
                <a:rPr lang="en-US" sz="2399">
                  <a:solidFill>
                    <a:srgbClr val="1E293B"/>
                  </a:solidFill>
                  <a:latin typeface="Canva Sans"/>
                  <a:ea typeface="Canva Sans"/>
                  <a:cs typeface="Canva Sans"/>
                  <a:sym typeface="Canva Sans"/>
                </a:rPr>
                <a:t> "Thời hạn cuối nộp bài báo cáo là ngày 23.09.2026."</a:t>
              </a:r>
            </a:p>
            <a:p>
              <a:pPr algn="l">
                <a:lnSpc>
                  <a:spcPts val="2879"/>
                </a:lnSpc>
              </a:pPr>
            </a:p>
            <a:p>
              <a:pPr algn="l">
                <a:lnSpc>
                  <a:spcPts val="2879"/>
                </a:lnSpc>
              </a:pPr>
              <a:r>
                <a:rPr lang="en-US" sz="2399" b="true">
                  <a:solidFill>
                    <a:srgbClr val="1E3A8A"/>
                  </a:solidFill>
                  <a:latin typeface="Canva Sans Bold"/>
                  <a:ea typeface="Canva Sans Bold"/>
                  <a:cs typeface="Canva Sans Bold"/>
                  <a:sym typeface="Canva Sans Bold"/>
                </a:rPr>
                <a:t>Ví dụ 6 (Dấu chấm ngoài ngoặc):</a:t>
              </a:r>
              <a:r>
                <a:rPr lang="en-US" sz="2399">
                  <a:solidFill>
                    <a:srgbClr val="1E293B"/>
                  </a:solidFill>
                  <a:latin typeface="Canva Sans"/>
                  <a:ea typeface="Canva Sans"/>
                  <a:cs typeface="Canva Sans"/>
                  <a:sym typeface="Canva Sans"/>
                </a:rPr>
                <a:t> "Sinh viên cần nộp báo cáo đúng hạn (trước 22h00 tối nay)."</a:t>
              </a:r>
            </a:p>
            <a:p>
              <a:pPr algn="l">
                <a:lnSpc>
                  <a:spcPts val="2879"/>
                </a:lnSpc>
              </a:pPr>
            </a:p>
            <a:p>
              <a:pPr algn="l">
                <a:lnSpc>
                  <a:spcPts val="2879"/>
                </a:lnSpc>
              </a:pPr>
              <a:r>
                <a:rPr lang="en-US" sz="2399" b="true">
                  <a:solidFill>
                    <a:srgbClr val="1E3A8A"/>
                  </a:solidFill>
                  <a:latin typeface="Canva Sans Bold"/>
                  <a:ea typeface="Canva Sans Bold"/>
                  <a:cs typeface="Canva Sans Bold"/>
                  <a:sym typeface="Canva Sans Bold"/>
                </a:rPr>
                <a:t>Ví dụ 7 (Dấu chấm trong ngoặc):</a:t>
              </a:r>
              <a:r>
                <a:rPr lang="en-US" sz="2399">
                  <a:solidFill>
                    <a:srgbClr val="1E293B"/>
                  </a:solidFill>
                  <a:latin typeface="Canva Sans"/>
                  <a:ea typeface="Canva Sans"/>
                  <a:cs typeface="Canva Sans"/>
                  <a:sym typeface="Canva Sans"/>
                </a:rPr>
                <a:t> "(Mọi thắc mắc về đề tài xin liên hệ trực tiếp với nhóm trưởng.)"</a:t>
              </a:r>
            </a:p>
            <a:p>
              <a:pPr algn="l">
                <a:lnSpc>
                  <a:spcPts val="2879"/>
                </a:lnSpc>
              </a:pPr>
            </a:p>
            <a:p>
              <a:pPr algn="l">
                <a:lnSpc>
                  <a:spcPts val="2879"/>
                </a:lnSpc>
              </a:pPr>
              <a:r>
                <a:rPr lang="en-US" sz="2399" b="true">
                  <a:solidFill>
                    <a:srgbClr val="1E3A8A"/>
                  </a:solidFill>
                  <a:latin typeface="Canva Sans Bold"/>
                  <a:ea typeface="Canva Sans Bold"/>
                  <a:cs typeface="Canva Sans Bold"/>
                  <a:sym typeface="Canva Sans Bold"/>
                </a:rPr>
                <a:t>Ví dụ 8 (Ngắt câu độc lập):</a:t>
              </a:r>
              <a:r>
                <a:rPr lang="en-US" sz="2399">
                  <a:solidFill>
                    <a:srgbClr val="1E293B"/>
                  </a:solidFill>
                  <a:latin typeface="Canva Sans"/>
                  <a:ea typeface="Canva Sans"/>
                  <a:cs typeface="Canva Sans"/>
                  <a:sym typeface="Canva Sans"/>
                </a:rPr>
                <a:t> "Mặt trời đã lên cao. Tiếng chim hót ríu rít khắp sân trường."</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280160" y="1737360"/>
            <a:ext cx="13807440" cy="495267"/>
          </a:xfrm>
          <a:prstGeom prst="rect">
            <a:avLst/>
          </a:prstGeom>
        </p:spPr>
        <p:txBody>
          <a:bodyPr anchor="t" rtlCol="false" tIns="0" lIns="0" bIns="0" rIns="0">
            <a:spAutoFit/>
          </a:bodyPr>
          <a:lstStyle/>
          <a:p>
            <a:pPr algn="l">
              <a:lnSpc>
                <a:spcPts val="3959"/>
              </a:lnSpc>
            </a:pPr>
            <a:r>
              <a:rPr lang="en-US" sz="3299" b="true">
                <a:solidFill>
                  <a:srgbClr val="1E3A8A"/>
                </a:solidFill>
                <a:latin typeface="Canva Sans Bold"/>
                <a:ea typeface="Canva Sans Bold"/>
                <a:cs typeface="Canva Sans Bold"/>
                <a:sym typeface="Canva Sans Bold"/>
              </a:rPr>
              <a:t>IV. Dấu hỏi: Vị trí và quy tắc viết chuẩn</a:t>
            </a:r>
          </a:p>
        </p:txBody>
      </p:sp>
      <p:grpSp>
        <p:nvGrpSpPr>
          <p:cNvPr name="Group 5" id="5"/>
          <p:cNvGrpSpPr/>
          <p:nvPr/>
        </p:nvGrpSpPr>
        <p:grpSpPr>
          <a:xfrm rot="0">
            <a:off x="1179195" y="2658434"/>
            <a:ext cx="10258890" cy="5888683"/>
            <a:chOff x="0" y="0"/>
            <a:chExt cx="13678520" cy="7851577"/>
          </a:xfrm>
        </p:grpSpPr>
        <p:sp>
          <p:nvSpPr>
            <p:cNvPr name="Freeform 6" id="6"/>
            <p:cNvSpPr/>
            <p:nvPr/>
          </p:nvSpPr>
          <p:spPr>
            <a:xfrm flipH="false" flipV="false" rot="0">
              <a:off x="0" y="0"/>
              <a:ext cx="13678520" cy="7851577"/>
            </a:xfrm>
            <a:custGeom>
              <a:avLst/>
              <a:gdLst/>
              <a:ahLst/>
              <a:cxnLst/>
              <a:rect r="r" b="b" t="t" l="l"/>
              <a:pathLst>
                <a:path h="7851577" w="13678520">
                  <a:moveTo>
                    <a:pt x="0" y="1308691"/>
                  </a:moveTo>
                  <a:cubicBezTo>
                    <a:pt x="0" y="585892"/>
                    <a:pt x="612246" y="0"/>
                    <a:pt x="1367556" y="0"/>
                  </a:cubicBezTo>
                  <a:lnTo>
                    <a:pt x="12310964" y="0"/>
                  </a:lnTo>
                  <a:cubicBezTo>
                    <a:pt x="13066275" y="0"/>
                    <a:pt x="13678520" y="585892"/>
                    <a:pt x="13678520" y="1308691"/>
                  </a:cubicBezTo>
                  <a:lnTo>
                    <a:pt x="13678520" y="6542886"/>
                  </a:lnTo>
                  <a:cubicBezTo>
                    <a:pt x="13678520" y="7265685"/>
                    <a:pt x="13066275" y="7851577"/>
                    <a:pt x="12310964" y="7851577"/>
                  </a:cubicBezTo>
                  <a:lnTo>
                    <a:pt x="1367556" y="7851577"/>
                  </a:lnTo>
                  <a:cubicBezTo>
                    <a:pt x="612246" y="7851577"/>
                    <a:pt x="0" y="7265684"/>
                    <a:pt x="0" y="6542886"/>
                  </a:cubicBezTo>
                  <a:close/>
                </a:path>
              </a:pathLst>
            </a:custGeom>
            <a:solidFill>
              <a:srgbClr val="FFFFFF"/>
            </a:solidFill>
            <a:ln w="19050" cap="sq">
              <a:solidFill>
                <a:srgbClr val="DAE2ED"/>
              </a:solidFill>
              <a:prstDash val="solid"/>
              <a:miter/>
            </a:ln>
          </p:spPr>
        </p:sp>
        <p:sp>
          <p:nvSpPr>
            <p:cNvPr name="TextBox 7" id="7"/>
            <p:cNvSpPr txBox="true"/>
            <p:nvPr/>
          </p:nvSpPr>
          <p:spPr>
            <a:xfrm>
              <a:off x="0" y="0"/>
              <a:ext cx="13678520" cy="7851577"/>
            </a:xfrm>
            <a:prstGeom prst="rect">
              <a:avLst/>
            </a:prstGeom>
          </p:spPr>
          <p:txBody>
            <a:bodyPr anchor="ctr" rtlCol="false" tIns="50800" lIns="50800" bIns="50800" rIns="50800"/>
            <a:lstStyle/>
            <a:p>
              <a:pPr algn="l">
                <a:lnSpc>
                  <a:spcPts val="3359"/>
                </a:lnSpc>
              </a:pPr>
              <a:r>
                <a:rPr lang="en-US" sz="2799" b="true">
                  <a:solidFill>
                    <a:srgbClr val="1E3A8A"/>
                  </a:solidFill>
                  <a:latin typeface="Canva Sans Bold"/>
                  <a:ea typeface="Canva Sans Bold"/>
                  <a:cs typeface="Canva Sans Bold"/>
                  <a:sym typeface="Canva Sans Bold"/>
                </a:rPr>
                <a:t>Vị trí &amp; Quy tắc soạn thảo chuẩn của Dấu Hỏi</a:t>
              </a: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Vị trí của dấu hỏi trong câu:</a:t>
              </a:r>
            </a:p>
            <a:p>
              <a:pPr algn="l">
                <a:lnSpc>
                  <a:spcPts val="2999"/>
                </a:lnSpc>
              </a:pPr>
              <a:r>
                <a:rPr lang="en-US" sz="2499">
                  <a:solidFill>
                    <a:srgbClr val="1E293B"/>
                  </a:solidFill>
                  <a:latin typeface="Canva Sans"/>
                  <a:ea typeface="Canva Sans"/>
                  <a:cs typeface="Canva Sans"/>
                  <a:sym typeface="Canva Sans"/>
                </a:rPr>
                <a:t>Dấu hỏi (dấu hỏi chấm ?) luôn đứng ở cuối câu hỏi hoặc cuối một vế câu dùng để nghi vấn.</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Quy tắc khoảng trắng khi soạn thảo:</a:t>
              </a:r>
            </a:p>
            <a:p>
              <a:pPr algn="l">
                <a:lnSpc>
                  <a:spcPts val="2999"/>
                </a:lnSpc>
              </a:pPr>
              <a:r>
                <a:rPr lang="en-US" sz="2499">
                  <a:solidFill>
                    <a:srgbClr val="1E293B"/>
                  </a:solidFill>
                  <a:latin typeface="Canva Sans"/>
                  <a:ea typeface="Canva Sans"/>
                  <a:cs typeface="Canva Sans"/>
                  <a:sym typeface="Canva Sans"/>
                </a:rPr>
                <a:t>Khi viết, dấu hỏi được đặt ngay sát chữ cái cuối cùng của từ đứng trước (không khoảng trắng) và phía sau có một khoảng trắng trước khi bắt đầu câu mới.</a:t>
              </a:r>
            </a:p>
            <a:p>
              <a:pPr algn="l">
                <a:lnSpc>
                  <a:spcPts val="2999"/>
                </a:lnSpc>
              </a:pPr>
              <a:r>
                <a:rPr lang="en-US" sz="2499" b="true">
                  <a:solidFill>
                    <a:srgbClr val="166534"/>
                  </a:solidFill>
                  <a:latin typeface="Canva Sans Bold"/>
                  <a:ea typeface="Canva Sans Bold"/>
                  <a:cs typeface="Canva Sans Bold"/>
                  <a:sym typeface="Canva Sans Bold"/>
                </a:rPr>
                <a:t>    -  Đúng: "Bạn đã làm bài tập chưa?"</a:t>
              </a:r>
            </a:p>
            <a:p>
              <a:pPr algn="l">
                <a:lnSpc>
                  <a:spcPts val="2999"/>
                </a:lnSpc>
              </a:pPr>
              <a:r>
                <a:rPr lang="en-US" sz="2499">
                  <a:solidFill>
                    <a:srgbClr val="B91C1C"/>
                  </a:solidFill>
                  <a:latin typeface="Canva Sans"/>
                  <a:ea typeface="Canva Sans"/>
                  <a:cs typeface="Canva Sans"/>
                  <a:sym typeface="Canva Sans"/>
                </a:rPr>
                <a:t>    -  Sai: "Bạn đã làm bài tập chưa ?" (Lỗi gõ thừa dấu cách)</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Quy tắc viết hoa sau dấu hỏi:</a:t>
              </a:r>
            </a:p>
            <a:p>
              <a:pPr algn="l">
                <a:lnSpc>
                  <a:spcPts val="2999"/>
                </a:lnSpc>
              </a:pPr>
              <a:r>
                <a:rPr lang="en-US" sz="2499">
                  <a:solidFill>
                    <a:srgbClr val="1E293B"/>
                  </a:solidFill>
                  <a:latin typeface="Canva Sans"/>
                  <a:ea typeface="Canva Sans"/>
                  <a:cs typeface="Canva Sans"/>
                  <a:sym typeface="Canva Sans"/>
                </a:rPr>
                <a:t>Chữ cái đầu tiên của câu tiếp theo sau dấu hỏi bắt buộc phải viết hoa theo đúng chuẩn chính tả tiếng Việt.</a:t>
              </a:r>
            </a:p>
          </p:txBody>
        </p:sp>
      </p:grpSp>
      <p:grpSp>
        <p:nvGrpSpPr>
          <p:cNvPr name="Group 8" id="8"/>
          <p:cNvGrpSpPr/>
          <p:nvPr/>
        </p:nvGrpSpPr>
        <p:grpSpPr>
          <a:xfrm rot="0">
            <a:off x="11852776" y="2805725"/>
            <a:ext cx="4865370" cy="5276850"/>
            <a:chOff x="0" y="0"/>
            <a:chExt cx="6487160" cy="7035800"/>
          </a:xfrm>
        </p:grpSpPr>
        <p:sp>
          <p:nvSpPr>
            <p:cNvPr name="Freeform 9" id="9"/>
            <p:cNvSpPr/>
            <p:nvPr/>
          </p:nvSpPr>
          <p:spPr>
            <a:xfrm flipH="false" flipV="false" rot="0">
              <a:off x="0" y="0"/>
              <a:ext cx="6487160" cy="7035800"/>
            </a:xfrm>
            <a:custGeom>
              <a:avLst/>
              <a:gdLst/>
              <a:ahLst/>
              <a:cxnLst/>
              <a:rect r="r" b="b" t="t" l="l"/>
              <a:pathLst>
                <a:path h="7035800" w="6487160">
                  <a:moveTo>
                    <a:pt x="0" y="1081278"/>
                  </a:moveTo>
                  <a:cubicBezTo>
                    <a:pt x="0" y="484124"/>
                    <a:pt x="484124" y="0"/>
                    <a:pt x="1081278" y="0"/>
                  </a:cubicBezTo>
                  <a:lnTo>
                    <a:pt x="5405882" y="0"/>
                  </a:lnTo>
                  <a:cubicBezTo>
                    <a:pt x="6003036" y="0"/>
                    <a:pt x="6487160" y="484124"/>
                    <a:pt x="6487160" y="1081278"/>
                  </a:cubicBezTo>
                  <a:lnTo>
                    <a:pt x="6487160" y="5954522"/>
                  </a:lnTo>
                  <a:cubicBezTo>
                    <a:pt x="6487160" y="6551676"/>
                    <a:pt x="6003036" y="7035800"/>
                    <a:pt x="5405882" y="7035800"/>
                  </a:cubicBezTo>
                  <a:lnTo>
                    <a:pt x="1081278" y="7035800"/>
                  </a:lnTo>
                  <a:cubicBezTo>
                    <a:pt x="484124" y="7035800"/>
                    <a:pt x="0" y="6551676"/>
                    <a:pt x="0" y="5954522"/>
                  </a:cubicBezTo>
                  <a:close/>
                </a:path>
              </a:pathLst>
            </a:custGeom>
            <a:solidFill>
              <a:srgbClr val="FFFFFF"/>
            </a:solidFill>
            <a:ln w="19050" cap="sq">
              <a:solidFill>
                <a:srgbClr val="DAE2ED"/>
              </a:solidFill>
              <a:prstDash val="solid"/>
              <a:miter/>
            </a:ln>
          </p:spPr>
        </p:sp>
      </p:grpSp>
      <p:grpSp>
        <p:nvGrpSpPr>
          <p:cNvPr name="Group 10" id="10"/>
          <p:cNvGrpSpPr/>
          <p:nvPr/>
        </p:nvGrpSpPr>
        <p:grpSpPr>
          <a:xfrm rot="0">
            <a:off x="11999461" y="2952410"/>
            <a:ext cx="4572000" cy="4572000"/>
            <a:chOff x="0" y="0"/>
            <a:chExt cx="6096000" cy="6096000"/>
          </a:xfrm>
        </p:grpSpPr>
        <p:sp>
          <p:nvSpPr>
            <p:cNvPr name="Freeform 11" id="11" descr="dau_hoi.jpg"/>
            <p:cNvSpPr/>
            <p:nvPr/>
          </p:nvSpPr>
          <p:spPr>
            <a:xfrm flipH="false" flipV="false" rot="0">
              <a:off x="0" y="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3"/>
              <a:stretch>
                <a:fillRect l="0" t="0" r="0" b="0"/>
              </a:stretch>
            </a:blipFill>
          </p:spPr>
        </p:sp>
      </p:grpSp>
      <p:sp>
        <p:nvSpPr>
          <p:cNvPr name="TextBox 12" id="12"/>
          <p:cNvSpPr txBox="true"/>
          <p:nvPr/>
        </p:nvSpPr>
        <p:spPr>
          <a:xfrm rot="0">
            <a:off x="11953741" y="7615850"/>
            <a:ext cx="4663440" cy="320040"/>
          </a:xfrm>
          <a:prstGeom prst="rect">
            <a:avLst/>
          </a:prstGeom>
        </p:spPr>
        <p:txBody>
          <a:bodyPr anchor="t" rtlCol="false" tIns="0" lIns="0" bIns="0" rIns="0">
            <a:spAutoFit/>
          </a:bodyPr>
          <a:lstStyle/>
          <a:p>
            <a:pPr algn="ctr">
              <a:lnSpc>
                <a:spcPts val="2040"/>
              </a:lnSpc>
            </a:pPr>
            <a:r>
              <a:rPr lang="en-US" sz="1700" b="true">
                <a:solidFill>
                  <a:srgbClr val="1E3A8A"/>
                </a:solidFill>
                <a:latin typeface="Canva Sans Bold"/>
                <a:ea typeface="Canva Sans Bold"/>
                <a:cs typeface="Canva Sans Bold"/>
                <a:sym typeface="Canva Sans Bold"/>
              </a:rPr>
              <a:t>DẤU HỎI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280160" y="1737360"/>
            <a:ext cx="13807440" cy="495267"/>
          </a:xfrm>
          <a:prstGeom prst="rect">
            <a:avLst/>
          </a:prstGeom>
        </p:spPr>
        <p:txBody>
          <a:bodyPr anchor="t" rtlCol="false" tIns="0" lIns="0" bIns="0" rIns="0">
            <a:spAutoFit/>
          </a:bodyPr>
          <a:lstStyle/>
          <a:p>
            <a:pPr algn="l">
              <a:lnSpc>
                <a:spcPts val="3959"/>
              </a:lnSpc>
            </a:pPr>
            <a:r>
              <a:rPr lang="en-US" sz="3299" b="true">
                <a:solidFill>
                  <a:srgbClr val="1E3A8A"/>
                </a:solidFill>
                <a:latin typeface="Canva Sans Bold"/>
                <a:ea typeface="Canva Sans Bold"/>
                <a:cs typeface="Canva Sans Bold"/>
                <a:sym typeface="Canva Sans Bold"/>
              </a:rPr>
              <a:t>IV. Dấu hỏi: Vai trò và tác dụng thực tế</a:t>
            </a:r>
          </a:p>
        </p:txBody>
      </p:sp>
      <p:grpSp>
        <p:nvGrpSpPr>
          <p:cNvPr name="Group 5" id="5"/>
          <p:cNvGrpSpPr/>
          <p:nvPr/>
        </p:nvGrpSpPr>
        <p:grpSpPr>
          <a:xfrm rot="0">
            <a:off x="1179195" y="2550795"/>
            <a:ext cx="14808151" cy="5276850"/>
            <a:chOff x="0" y="0"/>
            <a:chExt cx="19744202" cy="7035800"/>
          </a:xfrm>
        </p:grpSpPr>
        <p:sp>
          <p:nvSpPr>
            <p:cNvPr name="Freeform 6" id="6"/>
            <p:cNvSpPr/>
            <p:nvPr/>
          </p:nvSpPr>
          <p:spPr>
            <a:xfrm flipH="false" flipV="false" rot="0">
              <a:off x="0" y="0"/>
              <a:ext cx="19744201" cy="7035800"/>
            </a:xfrm>
            <a:custGeom>
              <a:avLst/>
              <a:gdLst/>
              <a:ahLst/>
              <a:cxnLst/>
              <a:rect r="r" b="b" t="t" l="l"/>
              <a:pathLst>
                <a:path h="7035800" w="19744201">
                  <a:moveTo>
                    <a:pt x="0" y="1172718"/>
                  </a:moveTo>
                  <a:cubicBezTo>
                    <a:pt x="0" y="525018"/>
                    <a:pt x="554953" y="0"/>
                    <a:pt x="1239584" y="0"/>
                  </a:cubicBezTo>
                  <a:lnTo>
                    <a:pt x="18504618" y="0"/>
                  </a:lnTo>
                  <a:cubicBezTo>
                    <a:pt x="19189249" y="0"/>
                    <a:pt x="19744201" y="525018"/>
                    <a:pt x="19744201" y="1172718"/>
                  </a:cubicBezTo>
                  <a:lnTo>
                    <a:pt x="19744201" y="5863082"/>
                  </a:lnTo>
                  <a:cubicBezTo>
                    <a:pt x="19744201" y="6510782"/>
                    <a:pt x="19189249" y="7035800"/>
                    <a:pt x="18504618" y="7035800"/>
                  </a:cubicBezTo>
                  <a:lnTo>
                    <a:pt x="1239584" y="7035800"/>
                  </a:lnTo>
                  <a:cubicBezTo>
                    <a:pt x="554953" y="7035800"/>
                    <a:pt x="0" y="6510782"/>
                    <a:pt x="0" y="5863082"/>
                  </a:cubicBezTo>
                  <a:close/>
                </a:path>
              </a:pathLst>
            </a:custGeom>
            <a:solidFill>
              <a:srgbClr val="FFFFFF"/>
            </a:solidFill>
            <a:ln w="19050" cap="sq">
              <a:solidFill>
                <a:srgbClr val="DAE2ED"/>
              </a:solidFill>
              <a:prstDash val="solid"/>
              <a:miter/>
            </a:ln>
          </p:spPr>
        </p:sp>
        <p:sp>
          <p:nvSpPr>
            <p:cNvPr name="TextBox 7" id="7"/>
            <p:cNvSpPr txBox="true"/>
            <p:nvPr/>
          </p:nvSpPr>
          <p:spPr>
            <a:xfrm>
              <a:off x="0" y="-9525"/>
              <a:ext cx="19744202" cy="7045325"/>
            </a:xfrm>
            <a:prstGeom prst="rect">
              <a:avLst/>
            </a:prstGeom>
          </p:spPr>
          <p:txBody>
            <a:bodyPr anchor="ctr" rtlCol="false" tIns="50800" lIns="50800" bIns="50800" rIns="50800"/>
            <a:lstStyle/>
            <a:p>
              <a:pPr algn="l">
                <a:lnSpc>
                  <a:spcPts val="3239"/>
                </a:lnSpc>
              </a:pPr>
              <a:r>
                <a:rPr lang="en-US" sz="2699" b="true">
                  <a:solidFill>
                    <a:srgbClr val="1E3A8A"/>
                  </a:solidFill>
                  <a:latin typeface="Canva Sans Bold"/>
                  <a:ea typeface="Canva Sans Bold"/>
                  <a:cs typeface="Canva Sans Bold"/>
                  <a:sym typeface="Canva Sans Bold"/>
                </a:rPr>
                <a:t>Vai trò và tác dụng đa dạng của Dấu Hỏi</a:t>
              </a:r>
            </a:p>
            <a:p>
              <a:pPr algn="l">
                <a:lnSpc>
                  <a:spcPts val="323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Báo hiệu câu hỏi (nghi vấn):</a:t>
              </a:r>
            </a:p>
            <a:p>
              <a:pPr algn="l">
                <a:lnSpc>
                  <a:spcPts val="2999"/>
                </a:lnSpc>
              </a:pPr>
              <a:r>
                <a:rPr lang="en-US" sz="2499">
                  <a:solidFill>
                    <a:srgbClr val="1E293B"/>
                  </a:solidFill>
                  <a:latin typeface="Canva Sans"/>
                  <a:ea typeface="Canva Sans"/>
                  <a:cs typeface="Canva Sans"/>
                  <a:sym typeface="Canva Sans"/>
                </a:rPr>
                <a:t>Giúp người đọc nhận biết câu đó dùng để hỏi, tìm kiếm thông tin hoặc yêu cầu giải đáp.</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Tạo ngữ điệu khi nói và đọc:</a:t>
              </a:r>
            </a:p>
            <a:p>
              <a:pPr algn="l">
                <a:lnSpc>
                  <a:spcPts val="2999"/>
                </a:lnSpc>
              </a:pPr>
              <a:r>
                <a:rPr lang="en-US" sz="2499">
                  <a:solidFill>
                    <a:srgbClr val="1E293B"/>
                  </a:solidFill>
                  <a:latin typeface="Canva Sans"/>
                  <a:ea typeface="Canva Sans"/>
                  <a:cs typeface="Canva Sans"/>
                  <a:sym typeface="Canva Sans"/>
                </a:rPr>
                <a:t>Trong văn nói, dấu hỏi biểu thị việc lên giọng ở cuối câu để người nghe dễ dàng nhận biết câu hỏi.</a:t>
              </a:r>
            </a:p>
            <a:p>
              <a:pPr algn="l">
                <a:lnSpc>
                  <a:spcPts val="2999"/>
                </a:lnSpc>
              </a:pPr>
            </a:p>
            <a:p>
              <a:pPr algn="l">
                <a:lnSpc>
                  <a:spcPts val="2999"/>
                </a:lnSpc>
              </a:pPr>
              <a:r>
                <a:rPr lang="en-US" sz="2499" b="true">
                  <a:solidFill>
                    <a:srgbClr val="0F4C81"/>
                  </a:solidFill>
                  <a:latin typeface="Canva Sans Bold"/>
                  <a:ea typeface="Canva Sans Bold"/>
                  <a:cs typeface="Canva Sans Bold"/>
                  <a:sym typeface="Canva Sans Bold"/>
                </a:rPr>
                <a:t>• </a:t>
              </a:r>
              <a:r>
                <a:rPr lang="en-US" sz="2499" b="true">
                  <a:solidFill>
                    <a:srgbClr val="1E3A8A"/>
                  </a:solidFill>
                  <a:latin typeface="Canva Sans Bold"/>
                  <a:ea typeface="Canva Sans Bold"/>
                  <a:cs typeface="Canva Sans Bold"/>
                  <a:sym typeface="Canva Sans Bold"/>
                </a:rPr>
                <a:t>Thể hiện các mục đích giao tiếp khác (câu hỏi tu từ):</a:t>
              </a:r>
            </a:p>
            <a:p>
              <a:pPr algn="l">
                <a:lnSpc>
                  <a:spcPts val="2999"/>
                </a:lnSpc>
              </a:pPr>
              <a:r>
                <a:rPr lang="en-US" sz="2499">
                  <a:solidFill>
                    <a:srgbClr val="1E293B"/>
                  </a:solidFill>
                  <a:latin typeface="Canva Sans"/>
                  <a:ea typeface="Canva Sans"/>
                  <a:cs typeface="Canva Sans"/>
                  <a:sym typeface="Canva Sans"/>
                </a:rPr>
                <a:t>    - Bày tỏ sự băn khoăn, nghi ngờ: Tự hỏi chính mình hoặc hoài nghi về một sự việc.</a:t>
              </a:r>
            </a:p>
            <a:p>
              <a:pPr algn="l">
                <a:lnSpc>
                  <a:spcPts val="2999"/>
                </a:lnSpc>
              </a:pPr>
              <a:r>
                <a:rPr lang="en-US" sz="2499">
                  <a:solidFill>
                    <a:srgbClr val="1E293B"/>
                  </a:solidFill>
                  <a:latin typeface="Canva Sans"/>
                  <a:ea typeface="Canva Sans"/>
                  <a:cs typeface="Canva Sans"/>
                  <a:sym typeface="Canva Sans"/>
                </a:rPr>
                <a:t>    - Cầu khiến, nhờ vả, bộc lộ cảm xúc: Mượn hình thức câu hỏi để bộc lộ sự ngạc nhiên, mỉa mai, nhờ giúp đỡ hoặc khẳng định/phủ định một điều gì đó mà không cần người khác trả lời.</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jpe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280160" y="1727835"/>
            <a:ext cx="13807440" cy="649605"/>
          </a:xfrm>
          <a:prstGeom prst="rect">
            <a:avLst/>
          </a:prstGeom>
        </p:spPr>
        <p:txBody>
          <a:bodyPr anchor="t" rtlCol="false" tIns="0" lIns="0" bIns="0" rIns="0">
            <a:spAutoFit/>
          </a:bodyPr>
          <a:lstStyle/>
          <a:p>
            <a:pPr algn="l">
              <a:lnSpc>
                <a:spcPts val="3120"/>
              </a:lnSpc>
            </a:pPr>
            <a:r>
              <a:rPr lang="en-US" sz="2600" b="true">
                <a:solidFill>
                  <a:srgbClr val="1E3A8A"/>
                </a:solidFill>
                <a:latin typeface="Canva Sans Bold"/>
                <a:ea typeface="Canva Sans Bold"/>
                <a:cs typeface="Canva Sans Bold"/>
                <a:sym typeface="Canva Sans Bold"/>
              </a:rPr>
              <a:t>IV. Dấu hỏi: 8 Ví dụ minh họa thực tế</a:t>
            </a:r>
          </a:p>
        </p:txBody>
      </p:sp>
      <p:grpSp>
        <p:nvGrpSpPr>
          <p:cNvPr name="Group 5" id="5"/>
          <p:cNvGrpSpPr/>
          <p:nvPr/>
        </p:nvGrpSpPr>
        <p:grpSpPr>
          <a:xfrm rot="0">
            <a:off x="771307" y="2497320"/>
            <a:ext cx="16080105" cy="5808526"/>
            <a:chOff x="0" y="0"/>
            <a:chExt cx="21440140" cy="7744701"/>
          </a:xfrm>
        </p:grpSpPr>
        <p:sp>
          <p:nvSpPr>
            <p:cNvPr name="Freeform 6" id="6"/>
            <p:cNvSpPr/>
            <p:nvPr/>
          </p:nvSpPr>
          <p:spPr>
            <a:xfrm flipH="false" flipV="false" rot="0">
              <a:off x="0" y="0"/>
              <a:ext cx="21440139" cy="7744701"/>
            </a:xfrm>
            <a:custGeom>
              <a:avLst/>
              <a:gdLst/>
              <a:ahLst/>
              <a:cxnLst/>
              <a:rect r="r" b="b" t="t" l="l"/>
              <a:pathLst>
                <a:path h="7744701" w="21440139">
                  <a:moveTo>
                    <a:pt x="0" y="1290877"/>
                  </a:moveTo>
                  <a:cubicBezTo>
                    <a:pt x="0" y="577917"/>
                    <a:pt x="602621" y="0"/>
                    <a:pt x="1346058" y="0"/>
                  </a:cubicBezTo>
                  <a:lnTo>
                    <a:pt x="20094080" y="0"/>
                  </a:lnTo>
                  <a:cubicBezTo>
                    <a:pt x="20837519" y="0"/>
                    <a:pt x="21440139" y="577917"/>
                    <a:pt x="21440139" y="1290877"/>
                  </a:cubicBezTo>
                  <a:lnTo>
                    <a:pt x="21440139" y="6453824"/>
                  </a:lnTo>
                  <a:cubicBezTo>
                    <a:pt x="21440139" y="7166784"/>
                    <a:pt x="20837519" y="7744701"/>
                    <a:pt x="20094080" y="7744701"/>
                  </a:cubicBezTo>
                  <a:lnTo>
                    <a:pt x="1346058" y="7744701"/>
                  </a:lnTo>
                  <a:cubicBezTo>
                    <a:pt x="602621" y="7744701"/>
                    <a:pt x="0" y="7166783"/>
                    <a:pt x="0" y="6453824"/>
                  </a:cubicBezTo>
                  <a:close/>
                </a:path>
              </a:pathLst>
            </a:custGeom>
            <a:solidFill>
              <a:srgbClr val="FFFFFF"/>
            </a:solidFill>
            <a:ln w="19050" cap="sq">
              <a:solidFill>
                <a:srgbClr val="DAE2ED"/>
              </a:solidFill>
              <a:prstDash val="solid"/>
              <a:miter/>
            </a:ln>
          </p:spPr>
        </p:sp>
        <p:sp>
          <p:nvSpPr>
            <p:cNvPr name="TextBox 7" id="7"/>
            <p:cNvSpPr txBox="true"/>
            <p:nvPr/>
          </p:nvSpPr>
          <p:spPr>
            <a:xfrm>
              <a:off x="0" y="0"/>
              <a:ext cx="21440140" cy="7744701"/>
            </a:xfrm>
            <a:prstGeom prst="rect">
              <a:avLst/>
            </a:prstGeom>
          </p:spPr>
          <p:txBody>
            <a:bodyPr anchor="ctr" rtlCol="false" tIns="50800" lIns="50800" bIns="50800" rIns="50800"/>
            <a:lstStyle/>
            <a:p>
              <a:pPr algn="l">
                <a:lnSpc>
                  <a:spcPts val="2999"/>
                </a:lnSpc>
              </a:pPr>
              <a:r>
                <a:rPr lang="en-US" sz="2499" b="true">
                  <a:solidFill>
                    <a:srgbClr val="1E3A8A"/>
                  </a:solidFill>
                  <a:latin typeface="Canva Sans Bold"/>
                  <a:ea typeface="Canva Sans Bold"/>
                  <a:cs typeface="Canva Sans Bold"/>
                  <a:sym typeface="Canva Sans Bold"/>
                </a:rPr>
                <a:t>Ví dụ 1 (Hỏi thông tin thời gian):</a:t>
              </a:r>
              <a:r>
                <a:rPr lang="en-US" sz="2499">
                  <a:solidFill>
                    <a:srgbClr val="1E293B"/>
                  </a:solidFill>
                  <a:latin typeface="Canva Sans"/>
                  <a:ea typeface="Canva Sans"/>
                  <a:cs typeface="Canva Sans"/>
                  <a:sym typeface="Canva Sans"/>
                </a:rPr>
                <a:t> "Mấy giờ rồi bạn ơi?"</a:t>
              </a:r>
            </a:p>
            <a:p>
              <a:pPr algn="l">
                <a:lnSpc>
                  <a:spcPts val="2999"/>
                </a:lnSpc>
              </a:pPr>
            </a:p>
            <a:p>
              <a:pPr algn="l">
                <a:lnSpc>
                  <a:spcPts val="2999"/>
                </a:lnSpc>
              </a:pPr>
              <a:r>
                <a:rPr lang="en-US" sz="2499" b="true">
                  <a:solidFill>
                    <a:srgbClr val="1E3A8A"/>
                  </a:solidFill>
                  <a:latin typeface="Canva Sans Bold"/>
                  <a:ea typeface="Canva Sans Bold"/>
                  <a:cs typeface="Canva Sans Bold"/>
                  <a:sym typeface="Canva Sans Bold"/>
                </a:rPr>
                <a:t>Ví dụ 2 (Câu hỏi lựa chọn):</a:t>
              </a:r>
              <a:r>
                <a:rPr lang="en-US" sz="2499">
                  <a:solidFill>
                    <a:srgbClr val="1E293B"/>
                  </a:solidFill>
                  <a:latin typeface="Canva Sans"/>
                  <a:ea typeface="Canva Sans"/>
                  <a:cs typeface="Canva Sans"/>
                  <a:sym typeface="Canva Sans"/>
                </a:rPr>
                <a:t> "Hôm nay chúng ta ăn cơm hay ăn phở?"</a:t>
              </a:r>
            </a:p>
            <a:p>
              <a:pPr algn="l">
                <a:lnSpc>
                  <a:spcPts val="2999"/>
                </a:lnSpc>
              </a:pPr>
            </a:p>
            <a:p>
              <a:pPr algn="l">
                <a:lnSpc>
                  <a:spcPts val="2999"/>
                </a:lnSpc>
              </a:pPr>
              <a:r>
                <a:rPr lang="en-US" sz="2499" b="true">
                  <a:solidFill>
                    <a:srgbClr val="1E3A8A"/>
                  </a:solidFill>
                  <a:latin typeface="Canva Sans Bold"/>
                  <a:ea typeface="Canva Sans Bold"/>
                  <a:cs typeface="Canva Sans Bold"/>
                  <a:sym typeface="Canva Sans Bold"/>
                </a:rPr>
                <a:t>Ví dụ 3 (Băn khoăn, tự hỏi mình):</a:t>
              </a:r>
              <a:r>
                <a:rPr lang="en-US" sz="2499">
                  <a:solidFill>
                    <a:srgbClr val="1E293B"/>
                  </a:solidFill>
                  <a:latin typeface="Canva Sans"/>
                  <a:ea typeface="Canva Sans"/>
                  <a:cs typeface="Canva Sans"/>
                  <a:sym typeface="Canva Sans"/>
                </a:rPr>
                <a:t> "Không biết liệu mình làm như thế này đã đúng chưa?"</a:t>
              </a:r>
            </a:p>
            <a:p>
              <a:pPr algn="l">
                <a:lnSpc>
                  <a:spcPts val="2999"/>
                </a:lnSpc>
              </a:pPr>
            </a:p>
            <a:p>
              <a:pPr algn="l">
                <a:lnSpc>
                  <a:spcPts val="2999"/>
                </a:lnSpc>
              </a:pPr>
              <a:r>
                <a:rPr lang="en-US" sz="2499" b="true">
                  <a:solidFill>
                    <a:srgbClr val="1E3A8A"/>
                  </a:solidFill>
                  <a:latin typeface="Canva Sans Bold"/>
                  <a:ea typeface="Canva Sans Bold"/>
                  <a:cs typeface="Canva Sans Bold"/>
                  <a:sym typeface="Canva Sans Bold"/>
                </a:rPr>
                <a:t>Ví dụ 4 (Cầu khiến, nhờ vả lịch sự):</a:t>
              </a:r>
              <a:r>
                <a:rPr lang="en-US" sz="2499">
                  <a:solidFill>
                    <a:srgbClr val="1E293B"/>
                  </a:solidFill>
                  <a:latin typeface="Canva Sans"/>
                  <a:ea typeface="Canva Sans"/>
                  <a:cs typeface="Canva Sans"/>
                  <a:sym typeface="Canva Sans"/>
                </a:rPr>
                <a:t> "Bạn có thể lấy giúp mình quyển sách trên kệ được không?"</a:t>
              </a:r>
            </a:p>
            <a:p>
              <a:pPr algn="l">
                <a:lnSpc>
                  <a:spcPts val="2999"/>
                </a:lnSpc>
              </a:pPr>
            </a:p>
            <a:p>
              <a:pPr algn="l">
                <a:lnSpc>
                  <a:spcPts val="2999"/>
                </a:lnSpc>
              </a:pPr>
              <a:r>
                <a:rPr lang="en-US" sz="2499" b="true">
                  <a:solidFill>
                    <a:srgbClr val="1E3A8A"/>
                  </a:solidFill>
                  <a:latin typeface="Canva Sans Bold"/>
                  <a:ea typeface="Canva Sans Bold"/>
                  <a:cs typeface="Canva Sans Bold"/>
                  <a:sym typeface="Canva Sans Bold"/>
                </a:rPr>
                <a:t>Ví dụ 5 (Cảm xúc ngạc nhiên, trầm trồ):</a:t>
              </a:r>
              <a:r>
                <a:rPr lang="en-US" sz="2499">
                  <a:solidFill>
                    <a:srgbClr val="1E293B"/>
                  </a:solidFill>
                  <a:latin typeface="Canva Sans"/>
                  <a:ea typeface="Canva Sans"/>
                  <a:cs typeface="Canva Sans"/>
                  <a:sym typeface="Canva Sans"/>
                </a:rPr>
                <a:t> "Sao cảnh vật quê hương lại đẹp đến thế này?"</a:t>
              </a:r>
            </a:p>
            <a:p>
              <a:pPr algn="l">
                <a:lnSpc>
                  <a:spcPts val="2999"/>
                </a:lnSpc>
              </a:pPr>
            </a:p>
            <a:p>
              <a:pPr algn="l">
                <a:lnSpc>
                  <a:spcPts val="2999"/>
                </a:lnSpc>
              </a:pPr>
              <a:r>
                <a:rPr lang="en-US" sz="2499" b="true">
                  <a:solidFill>
                    <a:srgbClr val="1E3A8A"/>
                  </a:solidFill>
                  <a:latin typeface="Canva Sans Bold"/>
                  <a:ea typeface="Canva Sans Bold"/>
                  <a:cs typeface="Canva Sans Bold"/>
                  <a:sym typeface="Canva Sans Bold"/>
                </a:rPr>
                <a:t>Ví dụ 6 (Câu hỏi tu từ mang ý khẳng định):</a:t>
              </a:r>
              <a:r>
                <a:rPr lang="en-US" sz="2499">
                  <a:solidFill>
                    <a:srgbClr val="1E293B"/>
                  </a:solidFill>
                  <a:latin typeface="Canva Sans"/>
                  <a:ea typeface="Canva Sans"/>
                  <a:cs typeface="Canva Sans"/>
                  <a:sym typeface="Canva Sans"/>
                </a:rPr>
                <a:t> "Có ai lại không mong muốn nhóm mình đạt kết quả xuất sắc?"</a:t>
              </a:r>
            </a:p>
            <a:p>
              <a:pPr algn="l">
                <a:lnSpc>
                  <a:spcPts val="2999"/>
                </a:lnSpc>
              </a:pPr>
            </a:p>
            <a:p>
              <a:pPr algn="l">
                <a:lnSpc>
                  <a:spcPts val="2999"/>
                </a:lnSpc>
              </a:pPr>
              <a:r>
                <a:rPr lang="en-US" sz="2499" b="true">
                  <a:solidFill>
                    <a:srgbClr val="1E3A8A"/>
                  </a:solidFill>
                  <a:latin typeface="Canva Sans Bold"/>
                  <a:ea typeface="Canva Sans Bold"/>
                  <a:cs typeface="Canva Sans Bold"/>
                  <a:sym typeface="Canva Sans Bold"/>
                </a:rPr>
                <a:t>Ví dụ 7 (Biểu thị thông tin chưa xác minh):</a:t>
              </a:r>
              <a:r>
                <a:rPr lang="en-US" sz="2499">
                  <a:solidFill>
                    <a:srgbClr val="1E293B"/>
                  </a:solidFill>
                  <a:latin typeface="Canva Sans"/>
                  <a:ea typeface="Canva Sans"/>
                  <a:cs typeface="Canva Sans"/>
                  <a:sym typeface="Canva Sans"/>
                </a:rPr>
                <a:t> "Nhà văn sinh năm 1902 (?) và mất năm 1963 tại Hà Nội."</a:t>
              </a:r>
            </a:p>
            <a:p>
              <a:pPr algn="l">
                <a:lnSpc>
                  <a:spcPts val="2999"/>
                </a:lnSpc>
              </a:pPr>
            </a:p>
            <a:p>
              <a:pPr algn="l">
                <a:lnSpc>
                  <a:spcPts val="2999"/>
                </a:lnSpc>
              </a:pPr>
              <a:r>
                <a:rPr lang="en-US" sz="2499" b="true">
                  <a:solidFill>
                    <a:srgbClr val="1E3A8A"/>
                  </a:solidFill>
                  <a:latin typeface="Canva Sans Bold"/>
                  <a:ea typeface="Canva Sans Bold"/>
                  <a:cs typeface="Canva Sans Bold"/>
                  <a:sym typeface="Canva Sans Bold"/>
                </a:rPr>
                <a:t>Ví dụ 8 (Hỏi lễ phép với thầy cô):</a:t>
              </a:r>
              <a:r>
                <a:rPr lang="en-US" sz="2499">
                  <a:solidFill>
                    <a:srgbClr val="1E293B"/>
                  </a:solidFill>
                  <a:latin typeface="Canva Sans"/>
                  <a:ea typeface="Canva Sans"/>
                  <a:cs typeface="Canva Sans"/>
                  <a:sym typeface="Canva Sans"/>
                </a:rPr>
                <a:t> "Thưa thầy, nhóm em có thể xin thêm tài liệu tham khảo được không ạ?"</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DAHGpOJ6jpg</dc:identifier>
  <dcterms:modified xsi:type="dcterms:W3CDTF">2011-08-01T06:04:30Z</dcterms:modified>
  <cp:revision>1</cp:revision>
  <dc:title>Slide_baocao</dc:title>
</cp:coreProperties>
</file>